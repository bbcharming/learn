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5"/>
  </p:notesMasterIdLst>
  <p:sldIdLst>
    <p:sldId id="257" r:id="rId2"/>
    <p:sldId id="263"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7" r:id="rId21"/>
    <p:sldId id="278" r:id="rId22"/>
    <p:sldId id="279" r:id="rId23"/>
    <p:sldId id="27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579" autoAdjust="0"/>
  </p:normalViewPr>
  <p:slideViewPr>
    <p:cSldViewPr>
      <p:cViewPr varScale="1">
        <p:scale>
          <a:sx n="70" d="100"/>
          <a:sy n="70" d="100"/>
        </p:scale>
        <p:origin x="-13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2FA273-A85E-4337-AF87-3D80DB86451D}" type="datetimeFigureOut">
              <a:rPr lang="en-US" smtClean="0"/>
              <a:t>1/26/2021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95F5ED-C10C-4201-B7BA-0BC9AFEDF580}" type="slidenum">
              <a:rPr lang="en-US" smtClean="0"/>
              <a:t>‹#›</a:t>
            </a:fld>
            <a:endParaRPr lang="en-US"/>
          </a:p>
        </p:txBody>
      </p:sp>
    </p:spTree>
    <p:extLst>
      <p:ext uri="{BB962C8B-B14F-4D97-AF65-F5344CB8AC3E}">
        <p14:creationId xmlns:p14="http://schemas.microsoft.com/office/powerpoint/2010/main" val="3293795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D95F5ED-C10C-4201-B7BA-0BC9AFEDF580}" type="slidenum">
              <a:rPr lang="en-US" smtClean="0"/>
              <a:t>15</a:t>
            </a:fld>
            <a:endParaRPr lang="en-US"/>
          </a:p>
        </p:txBody>
      </p:sp>
    </p:spTree>
    <p:extLst>
      <p:ext uri="{BB962C8B-B14F-4D97-AF65-F5344CB8AC3E}">
        <p14:creationId xmlns:p14="http://schemas.microsoft.com/office/powerpoint/2010/main" val="3944349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E759033A-4829-4559-B273-BCB851AF3ABE}" type="datetimeFigureOut">
              <a:rPr lang="en-US" smtClean="0"/>
              <a:pPr/>
              <a:t>1/26/2021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1EF9D8EC-865D-4779-BA94-17C64260492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759033A-4829-4559-B273-BCB851AF3ABE}"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759033A-4829-4559-B273-BCB851AF3ABE}"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9D8EC-865D-4779-BA94-17C64260492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759033A-4829-4559-B273-BCB851AF3ABE}"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E759033A-4829-4559-B273-BCB851AF3ABE}"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759033A-4829-4559-B273-BCB851AF3ABE}" type="datetimeFigureOut">
              <a:rPr lang="en-US" smtClean="0"/>
              <a:pPr/>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9033A-4829-4559-B273-BCB851AF3ABE}" type="datetimeFigureOut">
              <a:rPr lang="en-US" smtClean="0"/>
              <a:pPr/>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759033A-4829-4559-B273-BCB851AF3ABE}"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759033A-4829-4559-B273-BCB851AF3ABE}"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1EF9D8EC-865D-4779-BA94-17C642604927}"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759033A-4829-4559-B273-BCB851AF3ABE}"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759033A-4829-4559-B273-BCB851AF3ABE}"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F9D8EC-865D-4779-BA94-17C64260492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759033A-4829-4559-B273-BCB851AF3ABE}" type="datetimeFigureOut">
              <a:rPr lang="en-US" smtClean="0"/>
              <a:pPr/>
              <a:t>1/26/2021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EF9D8EC-865D-4779-BA94-17C642604927}"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LECTURE 7: Long Distance Communication</a:t>
            </a:r>
            <a:endParaRPr lang="en-US" dirty="0"/>
          </a:p>
        </p:txBody>
      </p:sp>
      <p:sp>
        <p:nvSpPr>
          <p:cNvPr id="3" name="Content Placeholder 2"/>
          <p:cNvSpPr>
            <a:spLocks noGrp="1"/>
          </p:cNvSpPr>
          <p:nvPr>
            <p:ph idx="1"/>
          </p:nvPr>
        </p:nvSpPr>
        <p:spPr/>
        <p:txBody>
          <a:bodyPr/>
          <a:lstStyle/>
          <a:p>
            <a:pPr>
              <a:buFont typeface="Arial" pitchFamily="34" charset="0"/>
              <a:buChar char="•"/>
            </a:pPr>
            <a:r>
              <a:rPr lang="en-US" dirty="0" smtClean="0"/>
              <a:t>Means Sending data signals over long distance</a:t>
            </a:r>
          </a:p>
          <a:p>
            <a:pPr>
              <a:buFont typeface="Arial" pitchFamily="34" charset="0"/>
              <a:buChar char="•"/>
            </a:pPr>
            <a:r>
              <a:rPr lang="en-ZW" dirty="0" smtClean="0"/>
              <a:t>encoding </a:t>
            </a:r>
            <a:r>
              <a:rPr lang="en-ZW" dirty="0"/>
              <a:t>techniques employed when using the RS 232 cannot work all the times. </a:t>
            </a:r>
            <a:endParaRPr lang="en-ZW" dirty="0" smtClean="0"/>
          </a:p>
          <a:p>
            <a:pPr>
              <a:buFontTx/>
              <a:buChar char="-"/>
            </a:pPr>
            <a:r>
              <a:rPr lang="en-ZW" dirty="0" smtClean="0"/>
              <a:t>need </a:t>
            </a:r>
            <a:r>
              <a:rPr lang="en-ZW" dirty="0"/>
              <a:t>to use the telephone </a:t>
            </a:r>
            <a:r>
              <a:rPr lang="en-ZW" dirty="0" smtClean="0"/>
              <a:t>network</a:t>
            </a:r>
          </a:p>
          <a:p>
            <a:pPr>
              <a:buFontTx/>
              <a:buChar char="-"/>
            </a:pPr>
            <a:r>
              <a:rPr lang="en-ZW" dirty="0" smtClean="0"/>
              <a:t>Telephone network require </a:t>
            </a:r>
            <a:r>
              <a:rPr lang="en-ZW" dirty="0"/>
              <a:t>the use of different encoding </a:t>
            </a:r>
            <a:r>
              <a:rPr lang="en-ZW" dirty="0" smtClean="0"/>
              <a:t>strategies</a:t>
            </a:r>
          </a:p>
          <a:p>
            <a:pPr>
              <a:buFontTx/>
              <a:buChar char="-"/>
            </a:pPr>
            <a:r>
              <a:rPr lang="en-ZW" dirty="0" smtClean="0"/>
              <a:t>Electric current becomes weaker over long distances</a:t>
            </a:r>
          </a:p>
          <a:p>
            <a:pPr>
              <a:buFontTx/>
              <a:buChar char="-"/>
            </a:pPr>
            <a:r>
              <a:rPr lang="en-ZW" dirty="0" smtClean="0"/>
              <a:t>Signal loss </a:t>
            </a:r>
            <a:r>
              <a:rPr lang="en-ZW" dirty="0" smtClean="0"/>
              <a:t>prevents </a:t>
            </a:r>
            <a:r>
              <a:rPr lang="en-ZW" dirty="0" smtClean="0"/>
              <a:t>accurate decoding</a:t>
            </a:r>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RS-232 and signal loss</a:t>
            </a:r>
            <a:endParaRPr lang="en-US" dirty="0"/>
          </a:p>
        </p:txBody>
      </p:sp>
      <p:sp>
        <p:nvSpPr>
          <p:cNvPr id="2" name="Content Placeholder 1"/>
          <p:cNvSpPr>
            <a:spLocks noGrp="1"/>
          </p:cNvSpPr>
          <p:nvPr>
            <p:ph idx="1"/>
          </p:nvPr>
        </p:nvSpPr>
        <p:spPr/>
        <p:txBody>
          <a:bodyPr>
            <a:normAutofit/>
          </a:bodyPr>
          <a:lstStyle/>
          <a:p>
            <a:pPr>
              <a:buNone/>
            </a:pPr>
            <a:r>
              <a:rPr lang="en-US" dirty="0" smtClean="0"/>
              <a:t>_ signal loss worse when RS 232 cables are used over long distances</a:t>
            </a:r>
          </a:p>
          <a:p>
            <a:pPr>
              <a:buFontTx/>
              <a:buChar char="-"/>
            </a:pPr>
            <a:r>
              <a:rPr lang="en-US" dirty="0" smtClean="0"/>
              <a:t>RS 232 virtually not used for transmitting signals over long distances</a:t>
            </a:r>
          </a:p>
          <a:p>
            <a:pPr>
              <a:buFontTx/>
              <a:buChar char="-"/>
            </a:pPr>
            <a:r>
              <a:rPr lang="en-US" dirty="0" smtClean="0"/>
              <a:t>Long distance communication systems use continuous oscillating electromagnetic wave called a carrier</a:t>
            </a:r>
          </a:p>
          <a:p>
            <a:pPr>
              <a:buFont typeface="Arial" pitchFamily="34" charset="0"/>
              <a:buChar char="•"/>
            </a:pPr>
            <a:r>
              <a:rPr lang="en-US" dirty="0" smtClean="0"/>
              <a:t>Motivation for using carrier signals:</a:t>
            </a:r>
          </a:p>
          <a:p>
            <a:pPr>
              <a:buNone/>
            </a:pPr>
            <a:r>
              <a:rPr lang="en-US" dirty="0" smtClean="0"/>
              <a:t>- Select a frequency that will propagate well and independent of the rate at which data is being sent out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ZW" dirty="0"/>
              <a:t>Electric current becomes weaker when it propagates on the wire over a long distance. </a:t>
            </a:r>
            <a:endParaRPr lang="en-ZW" dirty="0" smtClean="0"/>
          </a:p>
          <a:p>
            <a:r>
              <a:rPr lang="en-ZW" dirty="0" smtClean="0"/>
              <a:t> </a:t>
            </a:r>
            <a:r>
              <a:rPr lang="en-ZW" dirty="0"/>
              <a:t>This results in signal loss and prevents accurate decoding of data signals at the receiver. </a:t>
            </a:r>
            <a:endParaRPr lang="en-ZW" dirty="0" smtClean="0"/>
          </a:p>
          <a:p>
            <a:r>
              <a:rPr lang="en-ZW" dirty="0" smtClean="0"/>
              <a:t>Most </a:t>
            </a:r>
            <a:r>
              <a:rPr lang="en-ZW" dirty="0"/>
              <a:t>long distance communication systems use a continuous oscillating electromagnetic wave known as a carrier.  </a:t>
            </a:r>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a:t>
            </a:r>
            <a:r>
              <a:rPr lang="en-US" dirty="0" smtClean="0"/>
              <a:t>n for carrier signal</a:t>
            </a:r>
            <a:endParaRPr lang="en-US" dirty="0"/>
          </a:p>
        </p:txBody>
      </p:sp>
      <p:sp>
        <p:nvSpPr>
          <p:cNvPr id="3" name="Content Placeholder 2"/>
          <p:cNvSpPr>
            <a:spLocks noGrp="1"/>
          </p:cNvSpPr>
          <p:nvPr>
            <p:ph idx="1"/>
          </p:nvPr>
        </p:nvSpPr>
        <p:spPr/>
        <p:txBody>
          <a:bodyPr>
            <a:normAutofit/>
          </a:bodyPr>
          <a:lstStyle/>
          <a:p>
            <a:r>
              <a:rPr lang="en-ZW" dirty="0" smtClean="0"/>
              <a:t>The motivation for the use of a carrier signal arises from the desire to select a frequency </a:t>
            </a:r>
            <a:r>
              <a:rPr lang="en-ZW" dirty="0"/>
              <a:t>that will propagate well independent of the rate at which data is being sent out (Comer, 2009</a:t>
            </a:r>
            <a:r>
              <a:rPr lang="en-ZW" dirty="0" smtClean="0"/>
              <a:t>).</a:t>
            </a:r>
          </a:p>
          <a:p>
            <a:r>
              <a:rPr lang="en-ZW" dirty="0"/>
              <a:t>The term modulation is used to describe the process of accepting a signal and converting it to an appropriate format for so as to be transmitted over the appropriate medium.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Components of long distance communication</a:t>
            </a:r>
            <a:endParaRPr lang="en-US" dirty="0"/>
          </a:p>
        </p:txBody>
      </p:sp>
      <p:sp>
        <p:nvSpPr>
          <p:cNvPr id="3" name="Content Placeholder 2"/>
          <p:cNvSpPr>
            <a:spLocks noGrp="1"/>
          </p:cNvSpPr>
          <p:nvPr>
            <p:ph idx="1"/>
          </p:nvPr>
        </p:nvSpPr>
        <p:spPr/>
        <p:txBody>
          <a:bodyPr/>
          <a:lstStyle/>
          <a:p>
            <a:pPr>
              <a:buFont typeface="Arial" pitchFamily="34" charset="0"/>
              <a:buChar char="•"/>
            </a:pPr>
            <a:r>
              <a:rPr lang="en-ZW" dirty="0" smtClean="0"/>
              <a:t>The term demodulation is used to describe the reverse process.</a:t>
            </a:r>
            <a:endParaRPr lang="en-US" dirty="0" smtClean="0"/>
          </a:p>
          <a:p>
            <a:pPr>
              <a:buNone/>
            </a:pPr>
            <a:endParaRPr lang="en-US" dirty="0" smtClean="0"/>
          </a:p>
          <a:p>
            <a:pPr>
              <a:buNone/>
            </a:pPr>
            <a:endParaRPr lang="en-US" dirty="0"/>
          </a:p>
          <a:p>
            <a:pPr>
              <a:buNone/>
            </a:pPr>
            <a:r>
              <a:rPr lang="en-US" dirty="0" smtClean="0"/>
              <a:t>			</a:t>
            </a:r>
            <a:endParaRPr lang="en-US" dirty="0"/>
          </a:p>
        </p:txBody>
      </p:sp>
      <p:pic>
        <p:nvPicPr>
          <p:cNvPr id="4" name="Picture 3"/>
          <p:cNvPicPr/>
          <p:nvPr/>
        </p:nvPicPr>
        <p:blipFill>
          <a:blip r:embed="rId2" cstate="print"/>
          <a:srcRect l="21795" t="27635" r="25160" b="53561"/>
          <a:stretch>
            <a:fillRect/>
          </a:stretch>
        </p:blipFill>
        <p:spPr bwMode="auto">
          <a:xfrm>
            <a:off x="762000" y="2895600"/>
            <a:ext cx="7315200"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modulator</a:t>
            </a:r>
            <a:endParaRPr lang="en-US" dirty="0"/>
          </a:p>
        </p:txBody>
      </p:sp>
      <p:sp>
        <p:nvSpPr>
          <p:cNvPr id="3" name="Content Placeholder 2"/>
          <p:cNvSpPr>
            <a:spLocks noGrp="1"/>
          </p:cNvSpPr>
          <p:nvPr>
            <p:ph idx="1"/>
          </p:nvPr>
        </p:nvSpPr>
        <p:spPr/>
        <p:txBody>
          <a:bodyPr/>
          <a:lstStyle/>
          <a:p>
            <a:pPr>
              <a:buNone/>
            </a:pPr>
            <a:r>
              <a:rPr lang="en-ZW" dirty="0"/>
              <a:t>A modulator is a non-linear device used to convert low frequencies to radio frequencies (high) so that </a:t>
            </a:r>
            <a:r>
              <a:rPr lang="en-ZW" dirty="0" smtClean="0"/>
              <a:t>they </a:t>
            </a:r>
            <a:r>
              <a:rPr lang="en-ZW" dirty="0"/>
              <a:t>can be radiated.</a:t>
            </a:r>
            <a:endParaRPr lang="en-US" dirty="0"/>
          </a:p>
          <a:p>
            <a:pPr>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b="1" dirty="0" err="1" smtClean="0"/>
              <a:t>Analog</a:t>
            </a:r>
            <a:r>
              <a:rPr lang="en-ZW" b="1" dirty="0" smtClean="0"/>
              <a:t> Modulation techniques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ZW" sz="3100" dirty="0" smtClean="0"/>
              <a:t>Three </a:t>
            </a:r>
            <a:r>
              <a:rPr lang="en-ZW" sz="3100" dirty="0"/>
              <a:t>modulation techniques:</a:t>
            </a:r>
            <a:endParaRPr lang="en-US" sz="3100" dirty="0"/>
          </a:p>
          <a:p>
            <a:pPr lvl="0"/>
            <a:r>
              <a:rPr lang="en-ZW" sz="3100" dirty="0"/>
              <a:t>Amplitude modulation (AM)</a:t>
            </a:r>
            <a:endParaRPr lang="en-US" sz="3100" dirty="0"/>
          </a:p>
          <a:p>
            <a:pPr lvl="0"/>
            <a:r>
              <a:rPr lang="en-ZW" sz="3100" dirty="0"/>
              <a:t>Frequency modulation (FM)</a:t>
            </a:r>
            <a:endParaRPr lang="en-US" sz="3100" dirty="0"/>
          </a:p>
          <a:p>
            <a:pPr lvl="0"/>
            <a:r>
              <a:rPr lang="en-ZW" sz="3100" dirty="0"/>
              <a:t>Phase Modulation (PM)</a:t>
            </a:r>
            <a:endParaRPr lang="en-US" sz="3100" dirty="0"/>
          </a:p>
          <a:p>
            <a:pPr>
              <a:buNone/>
            </a:pPr>
            <a:r>
              <a:rPr lang="en-ZW" sz="3100" dirty="0"/>
              <a:t>AM and FM </a:t>
            </a:r>
            <a:r>
              <a:rPr lang="en-ZW" sz="3100" dirty="0" smtClean="0"/>
              <a:t>techniques: </a:t>
            </a:r>
            <a:r>
              <a:rPr lang="en-ZW" sz="3100" dirty="0"/>
              <a:t>most </a:t>
            </a:r>
            <a:r>
              <a:rPr lang="en-ZW" sz="3100" dirty="0" smtClean="0"/>
              <a:t>common been </a:t>
            </a:r>
            <a:r>
              <a:rPr lang="en-ZW" sz="3100" dirty="0"/>
              <a:t>used for a long time for radio and television broadcasts.</a:t>
            </a:r>
            <a:endParaRPr lang="en-US" sz="3100" dirty="0"/>
          </a:p>
          <a:p>
            <a:pPr>
              <a:buFont typeface="Arial" pitchFamily="34" charset="0"/>
              <a:buChar char="•"/>
            </a:pPr>
            <a:r>
              <a:rPr lang="en-ZW" sz="3100" dirty="0" smtClean="0"/>
              <a:t> </a:t>
            </a:r>
            <a:r>
              <a:rPr lang="en-ZW" sz="3100" dirty="0"/>
              <a:t>AM </a:t>
            </a:r>
            <a:r>
              <a:rPr lang="en-ZW" sz="3100" dirty="0" smtClean="0"/>
              <a:t>transmission</a:t>
            </a:r>
          </a:p>
          <a:p>
            <a:pPr>
              <a:buNone/>
            </a:pPr>
            <a:r>
              <a:rPr lang="en-ZW" sz="3100" dirty="0" smtClean="0"/>
              <a:t> - </a:t>
            </a:r>
            <a:r>
              <a:rPr lang="en-ZW" sz="3100" dirty="0"/>
              <a:t>the carrier signal is modulated so that its amplitude varies with the changing amplitudes of the modulating </a:t>
            </a:r>
            <a:r>
              <a:rPr lang="en-ZW" sz="3100" dirty="0" smtClean="0"/>
              <a:t>signal.</a:t>
            </a:r>
          </a:p>
          <a:p>
            <a:pPr>
              <a:buNone/>
            </a:pPr>
            <a:r>
              <a:rPr lang="en-ZW" sz="3100" dirty="0" smtClean="0"/>
              <a:t>- The </a:t>
            </a:r>
            <a:r>
              <a:rPr lang="en-ZW" sz="3100" dirty="0"/>
              <a:t>frequency and phase of the carrier signal remain unchanged. There are three signals involved:</a:t>
            </a:r>
            <a:endParaRPr lang="en-US" sz="3100" dirty="0"/>
          </a:p>
          <a:p>
            <a:pPr lvl="0"/>
            <a:r>
              <a:rPr lang="en-ZW" sz="3100" dirty="0"/>
              <a:t>Modulating signal</a:t>
            </a:r>
            <a:endParaRPr lang="en-US" sz="3100" dirty="0"/>
          </a:p>
          <a:p>
            <a:pPr lvl="0"/>
            <a:r>
              <a:rPr lang="en-ZW" sz="3100" dirty="0"/>
              <a:t>Carrier frequency</a:t>
            </a:r>
            <a:endParaRPr lang="en-US" sz="3100" dirty="0"/>
          </a:p>
          <a:p>
            <a:pPr lvl="0"/>
            <a:r>
              <a:rPr lang="en-ZW" sz="3100" dirty="0"/>
              <a:t>AM signal</a:t>
            </a:r>
            <a:endParaRPr lang="en-US" sz="3100" dirty="0"/>
          </a:p>
          <a:p>
            <a:pPr>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Amplitude Modulation</a:t>
            </a:r>
            <a:endParaRPr lang="en-US" dirty="0"/>
          </a:p>
        </p:txBody>
      </p:sp>
      <p:sp>
        <p:nvSpPr>
          <p:cNvPr id="2" name="Content Placeholder 1"/>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img" descr="http://electronicspost.com/wp-content/uploads/2015/11/amplitude-modulation1.png"/>
          <p:cNvPicPr/>
          <p:nvPr/>
        </p:nvPicPr>
        <p:blipFill>
          <a:blip r:embed="rId2" cstate="print"/>
          <a:srcRect/>
          <a:stretch>
            <a:fillRect/>
          </a:stretch>
        </p:blipFill>
        <p:spPr bwMode="auto">
          <a:xfrm>
            <a:off x="990600" y="2057400"/>
            <a:ext cx="6477000"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AM bandwidth</a:t>
            </a:r>
            <a:endParaRPr lang="en-US" dirty="0"/>
          </a:p>
        </p:txBody>
      </p:sp>
      <p:sp>
        <p:nvSpPr>
          <p:cNvPr id="2" name="Content Placeholder 1"/>
          <p:cNvSpPr>
            <a:spLocks noGrp="1"/>
          </p:cNvSpPr>
          <p:nvPr>
            <p:ph idx="1"/>
          </p:nvPr>
        </p:nvSpPr>
        <p:spPr/>
        <p:txBody>
          <a:bodyPr>
            <a:normAutofit/>
          </a:bodyPr>
          <a:lstStyle/>
          <a:p>
            <a:pPr>
              <a:buNone/>
            </a:pPr>
            <a:r>
              <a:rPr lang="en-ZW" dirty="0" smtClean="0"/>
              <a:t>The modulated signal is the sum of the modulating signal and the carrier signal.</a:t>
            </a:r>
            <a:endParaRPr lang="en-US" dirty="0" smtClean="0"/>
          </a:p>
          <a:p>
            <a:pPr>
              <a:buNone/>
            </a:pPr>
            <a:r>
              <a:rPr lang="en-GB" b="1" dirty="0" smtClean="0"/>
              <a:t>AM bandwidth</a:t>
            </a:r>
            <a:endParaRPr lang="en-US" b="1" dirty="0" smtClean="0"/>
          </a:p>
          <a:p>
            <a:r>
              <a:rPr lang="en-ZW" dirty="0" smtClean="0"/>
              <a:t>The bandwidth of the AM:</a:t>
            </a:r>
          </a:p>
          <a:p>
            <a:pPr>
              <a:buFontTx/>
              <a:buChar char="-"/>
            </a:pPr>
            <a:r>
              <a:rPr lang="en-ZW" dirty="0" smtClean="0"/>
              <a:t>Is signal is twice the bandwidth of the modulating signal and it covers a range centred on the carrier frequency. </a:t>
            </a:r>
          </a:p>
          <a:p>
            <a:pPr>
              <a:buFontTx/>
              <a:buChar char="-"/>
            </a:pPr>
            <a:r>
              <a:rPr lang="en-ZW" dirty="0" smtClean="0"/>
              <a:t>Total bandwidth required for AM can be calculated from the bandwidth of the audio.</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a:buNone/>
            </a:pPr>
            <a:endParaRPr lang="en-US" dirty="0" smtClean="0"/>
          </a:p>
          <a:p>
            <a:pPr>
              <a:buNone/>
            </a:pPr>
            <a:r>
              <a:rPr lang="en-ZW" dirty="0" err="1" smtClean="0"/>
              <a:t>Bw</a:t>
            </a:r>
            <a:r>
              <a:rPr lang="en-ZW" baseline="-25000" dirty="0" err="1" smtClean="0"/>
              <a:t>t</a:t>
            </a:r>
            <a:r>
              <a:rPr lang="en-ZW" dirty="0" smtClean="0"/>
              <a:t> = 2 x </a:t>
            </a:r>
            <a:r>
              <a:rPr lang="en-ZW" dirty="0" err="1" smtClean="0"/>
              <a:t>BW</a:t>
            </a:r>
            <a:r>
              <a:rPr lang="en-ZW" baseline="-25000" dirty="0" err="1" smtClean="0"/>
              <a:t>m</a:t>
            </a:r>
            <a:r>
              <a:rPr lang="en-ZW" dirty="0" smtClean="0"/>
              <a:t> </a:t>
            </a:r>
          </a:p>
          <a:p>
            <a:pPr>
              <a:buNone/>
            </a:pPr>
            <a:r>
              <a:rPr lang="en-ZW" dirty="0" smtClean="0"/>
              <a:t> where </a:t>
            </a:r>
            <a:r>
              <a:rPr lang="en-ZW" dirty="0" err="1" smtClean="0"/>
              <a:t>BW</a:t>
            </a:r>
            <a:r>
              <a:rPr lang="en-ZW" baseline="-25000" dirty="0" err="1" smtClean="0"/>
              <a:t>m</a:t>
            </a:r>
            <a:r>
              <a:rPr lang="en-ZW" dirty="0" smtClean="0"/>
              <a:t> is the bandwidth of the modulating signal (audio), </a:t>
            </a:r>
          </a:p>
          <a:p>
            <a:pPr>
              <a:buNone/>
            </a:pPr>
            <a:r>
              <a:rPr lang="en-ZW" dirty="0" smtClean="0"/>
              <a:t> </a:t>
            </a:r>
            <a:r>
              <a:rPr lang="en-ZW" dirty="0" err="1" smtClean="0"/>
              <a:t>Bw</a:t>
            </a:r>
            <a:r>
              <a:rPr lang="en-ZW" baseline="-25000" dirty="0" err="1" smtClean="0"/>
              <a:t>t</a:t>
            </a:r>
            <a:r>
              <a:rPr lang="en-ZW" baseline="-25000" dirty="0" smtClean="0"/>
              <a:t> </a:t>
            </a:r>
            <a:r>
              <a:rPr lang="en-ZW" dirty="0" smtClean="0"/>
              <a:t> is the total bandwidth (radio).</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Calculating modulation depth</a:t>
            </a:r>
            <a:endParaRPr lang="en-US" dirty="0"/>
          </a:p>
        </p:txBody>
      </p:sp>
      <p:sp>
        <p:nvSpPr>
          <p:cNvPr id="2" name="Content Placeholder 1"/>
          <p:cNvSpPr>
            <a:spLocks noGrp="1"/>
          </p:cNvSpPr>
          <p:nvPr>
            <p:ph idx="1"/>
          </p:nvPr>
        </p:nvSpPr>
        <p:spPr/>
        <p:txBody>
          <a:bodyPr/>
          <a:lstStyle/>
          <a:p>
            <a:pPr>
              <a:buNone/>
            </a:pPr>
            <a:endParaRPr lang="en-US" dirty="0" smtClean="0"/>
          </a:p>
          <a:p>
            <a:pPr>
              <a:buNone/>
            </a:pPr>
            <a:endParaRPr lang="en-US" dirty="0"/>
          </a:p>
        </p:txBody>
      </p:sp>
      <p:pic>
        <p:nvPicPr>
          <p:cNvPr id="4" name="Picture 3"/>
          <p:cNvPicPr/>
          <p:nvPr/>
        </p:nvPicPr>
        <p:blipFill>
          <a:blip r:embed="rId2" cstate="print"/>
          <a:srcRect l="24865" t="33765" r="25619" b="49815"/>
          <a:stretch>
            <a:fillRect/>
          </a:stretch>
        </p:blipFill>
        <p:spPr bwMode="auto">
          <a:xfrm>
            <a:off x="457200" y="2133600"/>
            <a:ext cx="8305800" cy="3733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2" name="Content Placeholder 1"/>
          <p:cNvSpPr>
            <a:spLocks noGrp="1"/>
          </p:cNvSpPr>
          <p:nvPr>
            <p:ph idx="1"/>
          </p:nvPr>
        </p:nvSpPr>
        <p:spPr/>
        <p:txBody>
          <a:bodyPr/>
          <a:lstStyle/>
          <a:p>
            <a:pPr>
              <a:buFont typeface="Arial" pitchFamily="34" charset="0"/>
              <a:buChar char="•"/>
            </a:pPr>
            <a:r>
              <a:rPr lang="en-ZW" dirty="0" smtClean="0"/>
              <a:t>Bandwidth of an audio signal (speech and music) is usually 5 kHz,</a:t>
            </a:r>
          </a:p>
          <a:p>
            <a:pPr>
              <a:buNone/>
            </a:pPr>
            <a:r>
              <a:rPr lang="en-ZW" dirty="0" smtClean="0"/>
              <a:t>- this means that an AM radio station needs a minimum bandwidth of 10 kHz for each AM station. </a:t>
            </a:r>
          </a:p>
          <a:p>
            <a:pPr>
              <a:buFont typeface="Arial" pitchFamily="34" charset="0"/>
              <a:buChar char="•"/>
            </a:pPr>
            <a:r>
              <a:rPr lang="en-ZW" dirty="0" smtClean="0"/>
              <a:t>The Federal Communications Commission (FCC) allows 10 kHz for each AM station.</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AM station</a:t>
            </a:r>
            <a:endParaRPr lang="en-US" dirty="0"/>
          </a:p>
        </p:txBody>
      </p:sp>
      <p:sp>
        <p:nvSpPr>
          <p:cNvPr id="2" name="Content Placeholder 1"/>
          <p:cNvSpPr>
            <a:spLocks noGrp="1"/>
          </p:cNvSpPr>
          <p:nvPr>
            <p:ph idx="1"/>
          </p:nvPr>
        </p:nvSpPr>
        <p:spPr/>
        <p:txBody>
          <a:bodyPr/>
          <a:lstStyle/>
          <a:p>
            <a:pPr>
              <a:buFont typeface="Arial" pitchFamily="34" charset="0"/>
              <a:buChar char="•"/>
            </a:pPr>
            <a:r>
              <a:rPr lang="en-ZW" dirty="0" smtClean="0"/>
              <a:t>AM stations are allowed carrier frequencies between 530 Hz and 1700 kHz</a:t>
            </a:r>
          </a:p>
          <a:p>
            <a:pPr>
              <a:buFont typeface="Arial" pitchFamily="34" charset="0"/>
              <a:buChar char="•"/>
            </a:pPr>
            <a:r>
              <a:rPr lang="en-ZW" dirty="0" smtClean="0"/>
              <a:t>Each station’s carrier frequency (</a:t>
            </a:r>
            <a:r>
              <a:rPr lang="en-ZW" dirty="0" err="1" smtClean="0"/>
              <a:t>fc</a:t>
            </a:r>
            <a:r>
              <a:rPr lang="en-ZW" dirty="0" smtClean="0"/>
              <a:t>) must be separated from those on either side by at least 10 kHz to interference (see figure below)</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AM band allocation</a:t>
            </a:r>
            <a:endParaRPr lang="en-US" dirty="0"/>
          </a:p>
        </p:txBody>
      </p:sp>
      <p:sp>
        <p:nvSpPr>
          <p:cNvPr id="2" name="Content Placeholder 1"/>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img" descr="https://image.slidesharecdn.com/ch05-3dc-12525/95/analog-to-analog-modulation-in-data-communication-dc10-5-728.jpg?cb=1179662842"/>
          <p:cNvPicPr/>
          <p:nvPr/>
        </p:nvPicPr>
        <p:blipFill>
          <a:blip r:embed="rId2" cstate="print"/>
          <a:srcRect t="32000" r="1576" b="7459"/>
          <a:stretch>
            <a:fillRect/>
          </a:stretch>
        </p:blipFill>
        <p:spPr bwMode="auto">
          <a:xfrm>
            <a:off x="304800" y="1981200"/>
            <a:ext cx="7620000" cy="434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  </a:t>
            </a:r>
            <a:br>
              <a:rPr lang="en-US" dirty="0" smtClean="0"/>
            </a:br>
            <a:r>
              <a:rPr lang="en-US" dirty="0"/>
              <a:t/>
            </a:r>
            <a:br>
              <a:rPr lang="en-US" dirty="0"/>
            </a:br>
            <a:r>
              <a:rPr lang="en-US" dirty="0" smtClean="0"/>
              <a:t/>
            </a:r>
            <a:br>
              <a:rPr lang="en-US" dirty="0" smtClean="0"/>
            </a:br>
            <a:r>
              <a:rPr lang="en-US" dirty="0"/>
              <a:t/>
            </a:r>
            <a:br>
              <a:rPr lang="en-US" dirty="0"/>
            </a:br>
            <a:r>
              <a:rPr lang="en-US" dirty="0" smtClean="0"/>
              <a:t/>
            </a:r>
            <a:br>
              <a:rPr lang="en-US" dirty="0" smtClean="0"/>
            </a:br>
            <a:r>
              <a:rPr lang="en-US" dirty="0"/>
              <a:t/>
            </a:r>
            <a:br>
              <a:rPr lang="en-US" dirty="0"/>
            </a:br>
            <a:r>
              <a:rPr lang="en-US" dirty="0" smtClean="0"/>
              <a:t>Advantages of AM</a:t>
            </a:r>
            <a:endParaRPr lang="en-US" dirty="0"/>
          </a:p>
        </p:txBody>
      </p:sp>
      <p:sp>
        <p:nvSpPr>
          <p:cNvPr id="2" name="Content Placeholder 1"/>
          <p:cNvSpPr>
            <a:spLocks noGrp="1"/>
          </p:cNvSpPr>
          <p:nvPr>
            <p:ph idx="1"/>
          </p:nvPr>
        </p:nvSpPr>
        <p:spPr/>
        <p:txBody>
          <a:bodyPr/>
          <a:lstStyle/>
          <a:p>
            <a:pPr lvl="0">
              <a:buFont typeface="Arial" pitchFamily="34" charset="0"/>
              <a:buChar char="•"/>
            </a:pPr>
            <a:r>
              <a:rPr lang="en-ZW" dirty="0" smtClean="0"/>
              <a:t>Simple </a:t>
            </a:r>
            <a:r>
              <a:rPr lang="en-ZW" dirty="0" smtClean="0"/>
              <a:t>to implement</a:t>
            </a:r>
            <a:endParaRPr lang="en-US" dirty="0" smtClean="0"/>
          </a:p>
          <a:p>
            <a:pPr lvl="0">
              <a:buFont typeface="Arial" pitchFamily="34" charset="0"/>
              <a:buChar char="•"/>
            </a:pPr>
            <a:r>
              <a:rPr lang="en-ZW" dirty="0" smtClean="0"/>
              <a:t>Can be modulated using a simple circuits that uses very few components</a:t>
            </a:r>
            <a:endParaRPr lang="en-US" dirty="0" smtClean="0"/>
          </a:p>
          <a:p>
            <a:pPr>
              <a:buNone/>
            </a:pPr>
            <a:endParaRPr lang="en-US" dirty="0" smtClean="0"/>
          </a:p>
          <a:p>
            <a:pPr>
              <a:buNone/>
            </a:pPr>
            <a:r>
              <a:rPr lang="en-US" dirty="0" smtClean="0"/>
              <a:t>			</a:t>
            </a:r>
            <a:endParaRPr lang="en-US" dirty="0"/>
          </a:p>
        </p:txBody>
      </p:sp>
      <p:pic>
        <p:nvPicPr>
          <p:cNvPr id="4" name="img" descr="https://image.slidesharecdn.com/amplitudemodulation-140609005244-phpapp02/95/amplitude-modulation-19-638.jpg?cb=1402275235"/>
          <p:cNvPicPr/>
          <p:nvPr/>
        </p:nvPicPr>
        <p:blipFill>
          <a:blip r:embed="rId3" cstate="print"/>
          <a:srcRect l="1479" t="15200" r="38947" b="39991"/>
          <a:stretch>
            <a:fillRect/>
          </a:stretch>
        </p:blipFill>
        <p:spPr bwMode="auto">
          <a:xfrm>
            <a:off x="1447800" y="3758692"/>
            <a:ext cx="5334000"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ZW" dirty="0" smtClean="0"/>
              <a:t>The capacitor removes the radio frequency element (see the input and output signals).</a:t>
            </a:r>
            <a:endParaRPr lang="en-US" dirty="0" smtClean="0"/>
          </a:p>
          <a:p>
            <a:pPr>
              <a:buNone/>
            </a:pPr>
            <a:r>
              <a:rPr lang="en-ZW" b="1" dirty="0" smtClean="0"/>
              <a:t>Disadvantages</a:t>
            </a:r>
            <a:endParaRPr lang="en-US" dirty="0" smtClean="0"/>
          </a:p>
          <a:p>
            <a:pPr lvl="0"/>
            <a:r>
              <a:rPr lang="en-ZW" dirty="0" smtClean="0"/>
              <a:t>AM is not efficient in terms of power usage as well as in terms of bandwidth. It requires a bandwidth equal to twice that of the highest radio frequency</a:t>
            </a:r>
            <a:endParaRPr lang="en-US" dirty="0" smtClean="0"/>
          </a:p>
          <a:p>
            <a:pPr lvl="0"/>
            <a:r>
              <a:rPr lang="en-ZW" dirty="0" smtClean="0"/>
              <a:t>AM is prone to high levels of noise because most noise is amplitude best and AM detectors are very sensitive to noise.</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br>
              <a:rPr lang="en-US" dirty="0" smtClean="0"/>
            </a:br>
            <a:r>
              <a:rPr lang="en-US" dirty="0" smtClean="0"/>
              <a:t/>
            </a:r>
            <a:br>
              <a:rPr lang="en-US" dirty="0" smtClean="0"/>
            </a:br>
            <a:r>
              <a:rPr lang="en-US" dirty="0" smtClean="0"/>
              <a:t/>
            </a:r>
            <a:br>
              <a:rPr lang="en-US" dirty="0" smtClean="0"/>
            </a:br>
            <a:r>
              <a:rPr lang="en-ZW" b="1" dirty="0" smtClean="0"/>
              <a:t>Frequency Modulation</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ZW" dirty="0" smtClean="0"/>
              <a:t>The frequency of the carrier signal is modulated to follow the changing voltage level (amplitude) of the modulating signal. </a:t>
            </a:r>
          </a:p>
          <a:p>
            <a:r>
              <a:rPr lang="en-ZW" dirty="0" smtClean="0"/>
              <a:t>The peak amplitude and the phase of the carrier signal remain constant at a particular period </a:t>
            </a:r>
          </a:p>
          <a:p>
            <a:r>
              <a:rPr lang="en-ZW" dirty="0" smtClean="0"/>
              <a:t>but as the amplitude of the information signal changes, the frequency of the carrier changes correspondingly (diagram).</a:t>
            </a:r>
            <a:endParaRPr lang="en-US" dirty="0" smtClean="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GB" b="1" dirty="0" smtClean="0"/>
              <a:t>FM bandwidth</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GB" dirty="0" smtClean="0"/>
              <a:t>FM bandwidth is equal to 10 times the bandwidth of the modulating signal.</a:t>
            </a:r>
          </a:p>
          <a:p>
            <a:r>
              <a:rPr lang="en-GB" dirty="0" smtClean="0"/>
              <a:t> It covers a range centred on the carrier frequency and the total bandwidth required can be determined from the bandwidth of the audio signal  </a:t>
            </a:r>
            <a:r>
              <a:rPr lang="en-GB" dirty="0" err="1" smtClean="0"/>
              <a:t>BW</a:t>
            </a:r>
            <a:r>
              <a:rPr lang="en-GB" baseline="-25000" dirty="0" err="1" smtClean="0"/>
              <a:t>t</a:t>
            </a:r>
            <a:r>
              <a:rPr lang="en-GB" dirty="0" smtClean="0"/>
              <a:t> = 10 x </a:t>
            </a:r>
            <a:r>
              <a:rPr lang="en-GB" dirty="0" err="1" smtClean="0"/>
              <a:t>BW</a:t>
            </a:r>
            <a:r>
              <a:rPr lang="en-GB" baseline="-25000" dirty="0" err="1" smtClean="0"/>
              <a:t>m</a:t>
            </a:r>
            <a:endParaRPr lang="en-US" b="1" dirty="0" smtClean="0"/>
          </a:p>
          <a:p>
            <a:r>
              <a:rPr lang="en-GB" dirty="0" smtClean="0"/>
              <a:t>The bandwidth of the audio signal (speech and music) broadcast in stereo is almost 15 kHz, so the FM radio station needs a minimum of 150 kHz . The FCC allows 200 kHz for each FM station to provide room for guard bands. The FM radio stations are allowed carrier frequencies between 88 and 108 MHz but the stations must be separated from each other by at least 200 kHz to avoid overlapping (see figure 36 below). </a:t>
            </a:r>
            <a:endParaRPr lang="en-US" b="1" dirty="0" smtClean="0"/>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FM Bandwidth</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pPr>
              <a:buNone/>
            </a:pPr>
            <a:endParaRPr lang="en-US" dirty="0" smtClean="0"/>
          </a:p>
          <a:p>
            <a:pPr>
              <a:buNone/>
            </a:pPr>
            <a:r>
              <a:rPr lang="en-US" dirty="0" smtClean="0"/>
              <a:t>			</a:t>
            </a:r>
            <a:endParaRPr lang="en-US" dirty="0"/>
          </a:p>
        </p:txBody>
      </p:sp>
      <p:pic>
        <p:nvPicPr>
          <p:cNvPr id="4" name="img" descr="https://image.slidesharecdn.com/ch05-3dc-12525/95/analog-to-analog-modulation-in-data-communication-dc10-8-728.jpg?cb=1179662842"/>
          <p:cNvPicPr/>
          <p:nvPr/>
        </p:nvPicPr>
        <p:blipFill>
          <a:blip r:embed="rId2" cstate="print"/>
          <a:srcRect t="38936" b="6925"/>
          <a:stretch>
            <a:fillRect/>
          </a:stretch>
        </p:blipFill>
        <p:spPr bwMode="auto">
          <a:xfrm>
            <a:off x="990600" y="2133600"/>
            <a:ext cx="7315200" cy="34290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FM advantages</a:t>
            </a:r>
            <a:endParaRPr lang="en-US" dirty="0"/>
          </a:p>
        </p:txBody>
      </p:sp>
      <p:sp>
        <p:nvSpPr>
          <p:cNvPr id="3" name="Content Placeholder 2"/>
          <p:cNvSpPr>
            <a:spLocks noGrp="1"/>
          </p:cNvSpPr>
          <p:nvPr>
            <p:ph idx="1"/>
          </p:nvPr>
        </p:nvSpPr>
        <p:spPr/>
        <p:txBody>
          <a:bodyPr/>
          <a:lstStyle/>
          <a:p>
            <a:pPr>
              <a:buNone/>
            </a:pPr>
            <a:r>
              <a:rPr lang="en-ZW" b="1" dirty="0" smtClean="0"/>
              <a:t>Advantages of FM</a:t>
            </a:r>
            <a:endParaRPr lang="en-US" dirty="0" smtClean="0"/>
          </a:p>
          <a:p>
            <a:pPr lvl="0"/>
            <a:r>
              <a:rPr lang="en-ZW" dirty="0" smtClean="0"/>
              <a:t>Resilient to noise- noise is amplitude based. FM uses limiters where only frequency variation appear</a:t>
            </a:r>
            <a:endParaRPr lang="en-US" dirty="0" smtClean="0"/>
          </a:p>
          <a:p>
            <a:pPr lvl="0"/>
            <a:r>
              <a:rPr lang="en-ZW" dirty="0" smtClean="0"/>
              <a:t>Resilient to signal strength variations, that is does not suffer audio amplitude variations as the signal varies. This makes FM ideal for in mobile applications where signal variations constantly vary</a:t>
            </a:r>
            <a:endParaRPr lang="en-US" dirty="0" smtClean="0"/>
          </a:p>
          <a:p>
            <a:pPr lvl="0"/>
            <a:r>
              <a:rPr lang="en-ZW" dirty="0" smtClean="0"/>
              <a:t>Does not require linear amplifiers in the transmitter as only frequency changes are required</a:t>
            </a:r>
            <a:endParaRPr lang="en-US" dirty="0" smtClean="0"/>
          </a:p>
          <a:p>
            <a:pPr lvl="0"/>
            <a:r>
              <a:rPr lang="en-ZW" dirty="0" smtClean="0"/>
              <a:t>Enables greater efficiency than many other techniques</a:t>
            </a:r>
            <a:endParaRPr lang="en-US" dirty="0" smtClean="0"/>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Disadvantages</a:t>
            </a:r>
            <a:endParaRPr lang="en-US" dirty="0"/>
          </a:p>
        </p:txBody>
      </p:sp>
      <p:sp>
        <p:nvSpPr>
          <p:cNvPr id="3" name="Content Placeholder 2"/>
          <p:cNvSpPr>
            <a:spLocks noGrp="1"/>
          </p:cNvSpPr>
          <p:nvPr>
            <p:ph idx="1"/>
          </p:nvPr>
        </p:nvSpPr>
        <p:spPr/>
        <p:txBody>
          <a:bodyPr/>
          <a:lstStyle/>
          <a:p>
            <a:pPr>
              <a:buNone/>
            </a:pPr>
            <a:r>
              <a:rPr lang="en-ZW" b="1" dirty="0" smtClean="0"/>
              <a:t>Disadvantages of FM</a:t>
            </a:r>
            <a:endParaRPr lang="en-US" dirty="0" smtClean="0"/>
          </a:p>
          <a:p>
            <a:pPr lvl="0"/>
            <a:r>
              <a:rPr lang="en-ZW" dirty="0" smtClean="0"/>
              <a:t>Requires more complicated demodulator and therefore slightly more expensive than AM</a:t>
            </a:r>
            <a:endParaRPr lang="en-US" dirty="0" smtClean="0"/>
          </a:p>
          <a:p>
            <a:pPr lvl="0"/>
            <a:r>
              <a:rPr lang="en-ZW" dirty="0" smtClean="0"/>
              <a:t>It has a lower data spectral efficiency than other techniques such as phase modulation and </a:t>
            </a:r>
            <a:r>
              <a:rPr lang="en-ZW" dirty="0" err="1" smtClean="0"/>
              <a:t>quadrature</a:t>
            </a:r>
            <a:r>
              <a:rPr lang="en-ZW" dirty="0" smtClean="0"/>
              <a:t> amplitude modulation.</a:t>
            </a:r>
            <a:endParaRPr lang="en-US" dirty="0" smtClean="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ZW" b="1" dirty="0" smtClean="0"/>
              <a:t>Phase Modulation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pPr>
              <a:buNone/>
            </a:pPr>
            <a:endParaRPr lang="en-US" dirty="0" smtClean="0"/>
          </a:p>
          <a:p>
            <a:r>
              <a:rPr lang="en-ZW" dirty="0" smtClean="0"/>
              <a:t>In phase modulation (PM), the phase of the carrier signal is modulated to follow the changing voltage level of the modulating signal (information signal). The peak amplitude and the frequency of the carrier signal remain constant.</a:t>
            </a:r>
            <a:endParaRPr lang="en-US" dirty="0" smtClean="0"/>
          </a:p>
          <a:p>
            <a:r>
              <a:rPr lang="en-ZW" dirty="0" smtClean="0"/>
              <a:t>Phase modulation is not used in </a:t>
            </a:r>
            <a:r>
              <a:rPr lang="en-ZW" dirty="0" err="1" smtClean="0"/>
              <a:t>analog</a:t>
            </a:r>
            <a:r>
              <a:rPr lang="en-ZW" dirty="0" smtClean="0"/>
              <a:t> transmissions because of the complexity of the circuit used and the difficulty of telling whether there has been a change shift by +180</a:t>
            </a:r>
            <a:r>
              <a:rPr lang="en-ZW" baseline="30000" dirty="0" smtClean="0"/>
              <a:t>0</a:t>
            </a:r>
            <a:r>
              <a:rPr lang="en-ZW" dirty="0" smtClean="0"/>
              <a:t> or - 180</a:t>
            </a:r>
            <a:r>
              <a:rPr lang="en-ZW" baseline="30000" dirty="0" smtClean="0"/>
              <a:t>0</a:t>
            </a:r>
            <a:endParaRPr lang="en-US" dirty="0" smtClean="0"/>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Frequency Modulation</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a:p>
            <a:pPr>
              <a:buNone/>
            </a:pPr>
            <a:r>
              <a:rPr lang="en-US" dirty="0" smtClean="0"/>
              <a:t>				</a:t>
            </a:r>
            <a:endParaRPr lang="en-US" dirty="0"/>
          </a:p>
        </p:txBody>
      </p:sp>
      <p:pic>
        <p:nvPicPr>
          <p:cNvPr id="4" name="img" descr="http://pediaa.com/wp-content/uploads/2015/09/Difference-Between-Analog-and-Digital-Modulation-Frequency_Modulation.jpg"/>
          <p:cNvPicPr/>
          <p:nvPr/>
        </p:nvPicPr>
        <p:blipFill>
          <a:blip r:embed="rId2" cstate="print"/>
          <a:srcRect/>
          <a:stretch>
            <a:fillRect/>
          </a:stretch>
        </p:blipFill>
        <p:spPr bwMode="auto">
          <a:xfrm>
            <a:off x="1066800" y="1981200"/>
            <a:ext cx="6248400" cy="3886200"/>
          </a:xfrm>
          <a:prstGeom prst="rect">
            <a:avLst/>
          </a:prstGeom>
          <a:noFill/>
          <a:ln w="9525">
            <a:no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661</TotalTime>
  <Words>1025</Words>
  <Application>Microsoft Office PowerPoint</Application>
  <PresentationFormat>On-screen Show (4:3)</PresentationFormat>
  <Paragraphs>112</Paragraphs>
  <Slides>23</Slides>
  <Notes>1</Notes>
  <HiddenSlides>1</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Flow</vt:lpstr>
      <vt:lpstr>LECTURE 7: Long Distance Communication</vt:lpstr>
      <vt:lpstr>RS-232 and signal loss</vt:lpstr>
      <vt:lpstr>PowerPoint Presentation</vt:lpstr>
      <vt:lpstr>Motivation for carrier signal</vt:lpstr>
      <vt:lpstr>Components of long distance communication</vt:lpstr>
      <vt:lpstr>modulator</vt:lpstr>
      <vt:lpstr>Analog Modulation techniques </vt:lpstr>
      <vt:lpstr>Amplitude Modulation</vt:lpstr>
      <vt:lpstr>AM bandwidth</vt:lpstr>
      <vt:lpstr>PowerPoint Presentation</vt:lpstr>
      <vt:lpstr>Calculating modulation depth</vt:lpstr>
      <vt:lpstr>PowerPoint Presentation</vt:lpstr>
      <vt:lpstr>AM station</vt:lpstr>
      <vt:lpstr>AM band allocation</vt:lpstr>
      <vt:lpstr>        Advantages of AM</vt:lpstr>
      <vt:lpstr>PowerPoint Presentation</vt:lpstr>
      <vt:lpstr>     Frequency Modulation </vt:lpstr>
      <vt:lpstr>  FM bandwidth </vt:lpstr>
      <vt:lpstr>   FM Bandwidth</vt:lpstr>
      <vt:lpstr>FM advantages</vt:lpstr>
      <vt:lpstr>  Disadvantages</vt:lpstr>
      <vt:lpstr>  Phase Modulation </vt:lpstr>
      <vt:lpstr>  Frequency Modulation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langstone.shumba</dc:creator>
  <cp:lastModifiedBy>Langtone Shumba</cp:lastModifiedBy>
  <cp:revision>12</cp:revision>
  <dcterms:created xsi:type="dcterms:W3CDTF">2017-09-19T13:25:10Z</dcterms:created>
  <dcterms:modified xsi:type="dcterms:W3CDTF">2021-01-26T12:48:12Z</dcterms:modified>
</cp:coreProperties>
</file>