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8" r:id="rId12"/>
    <p:sldId id="269" r:id="rId13"/>
    <p:sldId id="267" r:id="rId14"/>
    <p:sldId id="270" r:id="rId15"/>
    <p:sldId id="271" r:id="rId16"/>
    <p:sldId id="272" r:id="rId17"/>
    <p:sldId id="273" r:id="rId18"/>
    <p:sldId id="275" r:id="rId19"/>
    <p:sldId id="276" r:id="rId20"/>
    <p:sldId id="274" r:id="rId21"/>
    <p:sldId id="277" r:id="rId22"/>
    <p:sldId id="278" r:id="rId23"/>
    <p:sldId id="279" r:id="rId24"/>
    <p:sldId id="281" r:id="rId25"/>
    <p:sldId id="282" r:id="rId26"/>
    <p:sldId id="283" r:id="rId27"/>
    <p:sldId id="284" r:id="rId2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3971F-FCD8-4B15-817E-83EEC5898090}" type="datetimeFigureOut">
              <a:rPr lang="en-US" smtClean="0"/>
              <a:pPr/>
              <a:t>9/6/2017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5BA9D-4828-47F7-98CC-28E82B659C5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3971F-FCD8-4B15-817E-83EEC5898090}" type="datetimeFigureOut">
              <a:rPr lang="en-US" smtClean="0"/>
              <a:pPr/>
              <a:t>9/6/2017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5BA9D-4828-47F7-98CC-28E82B659C5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3971F-FCD8-4B15-817E-83EEC5898090}" type="datetimeFigureOut">
              <a:rPr lang="en-US" smtClean="0"/>
              <a:pPr/>
              <a:t>9/6/2017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5BA9D-4828-47F7-98CC-28E82B659C5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3971F-FCD8-4B15-817E-83EEC5898090}" type="datetimeFigureOut">
              <a:rPr lang="en-US" smtClean="0"/>
              <a:pPr/>
              <a:t>9/6/2017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5BA9D-4828-47F7-98CC-28E82B659C5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3971F-FCD8-4B15-817E-83EEC5898090}" type="datetimeFigureOut">
              <a:rPr lang="en-US" smtClean="0"/>
              <a:pPr/>
              <a:t>9/6/2017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5BA9D-4828-47F7-98CC-28E82B659C5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3971F-FCD8-4B15-817E-83EEC5898090}" type="datetimeFigureOut">
              <a:rPr lang="en-US" smtClean="0"/>
              <a:pPr/>
              <a:t>9/6/2017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5BA9D-4828-47F7-98CC-28E82B659C5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3971F-FCD8-4B15-817E-83EEC5898090}" type="datetimeFigureOut">
              <a:rPr lang="en-US" smtClean="0"/>
              <a:pPr/>
              <a:t>9/6/2017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5BA9D-4828-47F7-98CC-28E82B659C5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3971F-FCD8-4B15-817E-83EEC5898090}" type="datetimeFigureOut">
              <a:rPr lang="en-US" smtClean="0"/>
              <a:pPr/>
              <a:t>9/6/2017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5BA9D-4828-47F7-98CC-28E82B659C5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3971F-FCD8-4B15-817E-83EEC5898090}" type="datetimeFigureOut">
              <a:rPr lang="en-US" smtClean="0"/>
              <a:pPr/>
              <a:t>9/6/2017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5BA9D-4828-47F7-98CC-28E82B659C5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3971F-FCD8-4B15-817E-83EEC5898090}" type="datetimeFigureOut">
              <a:rPr lang="en-US" smtClean="0"/>
              <a:pPr/>
              <a:t>9/6/2017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5BA9D-4828-47F7-98CC-28E82B659C5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3971F-FCD8-4B15-817E-83EEC5898090}" type="datetimeFigureOut">
              <a:rPr lang="en-US" smtClean="0"/>
              <a:pPr/>
              <a:t>9/6/2017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5BA9D-4828-47F7-98CC-28E82B659C5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03971F-FCD8-4B15-817E-83EEC5898090}" type="datetimeFigureOut">
              <a:rPr lang="en-US" smtClean="0"/>
              <a:pPr/>
              <a:t>9/6/2017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F5BA9D-4828-47F7-98CC-28E82B659C57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hyperlink" Target="https://www.boundless.com/physics/textbooks/boundless-physics-textbook/geometric-optics-24/reflection-refraction-and-dispersion-169/the-law-of-reflection-and-its-consequences-607-3032/images/a-mirror-reflection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Normal_mode" TargetMode="External"/><Relationship Id="rId2" Type="http://schemas.openxmlformats.org/officeDocument/2006/relationships/hyperlink" Target="https://en.wikipedia.org/wiki/Multi-mode_optical_fiber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n.wikipedia.org/wiki/Modal_dispersion" TargetMode="Externa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mtClean="0"/>
              <a:t>Lecture </a:t>
            </a:r>
            <a:r>
              <a:rPr lang="en-US" smtClean="0"/>
              <a:t>3 </a:t>
            </a:r>
            <a:r>
              <a:rPr lang="en-US" dirty="0" smtClean="0"/>
              <a:t>OPTIC </a:t>
            </a:r>
            <a:r>
              <a:rPr lang="en-US" dirty="0"/>
              <a:t>FIBER TRANSMISSION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ZW" b="1" dirty="0"/>
              <a:t>Introduction</a:t>
            </a:r>
            <a:endParaRPr lang="en-US" b="1" dirty="0"/>
          </a:p>
          <a:p>
            <a:r>
              <a:rPr lang="en-ZW" dirty="0"/>
              <a:t>To understand how light travels in an optic fibre cable it is necessary to understand the principles of reflection and refraction and some of the laws associated with these terminologies.</a:t>
            </a:r>
            <a:endParaRPr lang="en-US" dirty="0"/>
          </a:p>
          <a:p>
            <a:r>
              <a:rPr lang="en-ZW" dirty="0"/>
              <a:t>Consider the figure below that reminds us about reflection.</a:t>
            </a:r>
            <a:endParaRPr lang="en-US" dirty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/>
              <a:t>	</a:t>
            </a:r>
          </a:p>
        </p:txBody>
      </p:sp>
      <p:pic>
        <p:nvPicPr>
          <p:cNvPr id="4" name="Picture 3" descr="http://electriciantraining.tpub.com/14182/img/14182_25_1.jp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95400" y="1524000"/>
            <a:ext cx="6858000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Explanation of figure 5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dirty="0"/>
              <a:t>Figure 5 shows a light wave from a source (torch) which is projected to a reflecting surface. The light from the torch is the </a:t>
            </a:r>
            <a:r>
              <a:rPr lang="en-US" dirty="0">
                <a:solidFill>
                  <a:srgbClr val="FF0000"/>
                </a:solidFill>
              </a:rPr>
              <a:t>incident wave </a:t>
            </a:r>
            <a:r>
              <a:rPr lang="en-US" dirty="0"/>
              <a:t>and strikes the reflecting surface at an angle of </a:t>
            </a:r>
            <a:r>
              <a:rPr lang="en-US" dirty="0">
                <a:solidFill>
                  <a:srgbClr val="FF0000"/>
                </a:solidFill>
              </a:rPr>
              <a:t>incidence</a:t>
            </a:r>
            <a:r>
              <a:rPr lang="en-US" dirty="0"/>
              <a:t>. And the reflected wave forms the angle of reflection. In the above case the angle of incidence </a:t>
            </a:r>
            <a:r>
              <a:rPr lang="en-US" dirty="0">
                <a:solidFill>
                  <a:srgbClr val="FF0000"/>
                </a:solidFill>
              </a:rPr>
              <a:t>is equal to the angle of reflection</a:t>
            </a:r>
            <a:r>
              <a:rPr lang="en-US" dirty="0"/>
              <a:t>. The law of reflection states that the angle of reflection equals the angle of incidence. This law is further explained in figure 6 below.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Law of reflection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/>
              <a:t>	</a:t>
            </a:r>
          </a:p>
        </p:txBody>
      </p:sp>
      <p:pic>
        <p:nvPicPr>
          <p:cNvPr id="4" name="Picture 3" descr="https://figures.boundless-cdn.com/13722/large/figure-2026-02-06.jpeg">
            <a:hlinkClick r:id="rId2"/>
          </p:cNvPr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0" y="1371600"/>
            <a:ext cx="5334000" cy="3733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Refraction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W" dirty="0"/>
              <a:t>Refraction of light happens when the angle of reflection is less than some critical angle of. (</a:t>
            </a:r>
            <a:r>
              <a:rPr lang="en-ZW" dirty="0" smtClean="0"/>
              <a:t>see </a:t>
            </a:r>
            <a:r>
              <a:rPr lang="en-ZW" dirty="0"/>
              <a:t>figure 8 below). </a:t>
            </a:r>
            <a:endParaRPr lang="en-ZW" dirty="0" smtClean="0"/>
          </a:p>
          <a:p>
            <a:pPr>
              <a:buNone/>
            </a:pPr>
            <a:endParaRPr lang="en-ZW" dirty="0"/>
          </a:p>
          <a:p>
            <a:pPr>
              <a:buNone/>
            </a:pPr>
            <a:endParaRPr lang="en-ZW" dirty="0" smtClean="0"/>
          </a:p>
          <a:p>
            <a:pPr>
              <a:buNone/>
            </a:pPr>
            <a:r>
              <a:rPr lang="en-ZW" dirty="0"/>
              <a:t>	</a:t>
            </a:r>
            <a:r>
              <a:rPr lang="en-ZW" dirty="0" smtClean="0"/>
              <a:t>		</a:t>
            </a:r>
            <a:endParaRPr lang="en-US" dirty="0"/>
          </a:p>
        </p:txBody>
      </p:sp>
      <p:pic>
        <p:nvPicPr>
          <p:cNvPr id="4" name="Picture 3" descr="https://qph.ec.quoracdn.net/main-qimg-7dd80bf2b100b15e1b656cdb9a20d0b7-c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38400" y="3048000"/>
            <a:ext cx="4495800" cy="381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/>
              <a:t>	</a:t>
            </a:r>
            <a:r>
              <a:rPr lang="en-US" dirty="0" smtClean="0"/>
              <a:t>			</a:t>
            </a:r>
            <a:endParaRPr lang="en-US" dirty="0"/>
          </a:p>
        </p:txBody>
      </p:sp>
      <p:pic>
        <p:nvPicPr>
          <p:cNvPr id="4" name="Picture 3" descr="https://qph.ec.quoracdn.net/main-qimg-7dd80bf2b100b15e1b656cdb9a20d0b7-c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1981200"/>
            <a:ext cx="6553200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Critical angle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ZW" b="1" dirty="0"/>
              <a:t>Critical angle</a:t>
            </a:r>
            <a:endParaRPr lang="en-US" dirty="0"/>
          </a:p>
          <a:p>
            <a:r>
              <a:rPr lang="en-US" dirty="0"/>
              <a:t>In fiber optics, the critical angle is described with respect to the parallel axis running down the middle of the </a:t>
            </a:r>
            <a:r>
              <a:rPr lang="en-US" dirty="0" err="1"/>
              <a:t>fibre</a:t>
            </a:r>
            <a:r>
              <a:rPr lang="en-US" dirty="0"/>
              <a:t> and is 90 degrees. 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ZW" b="1" dirty="0" smtClean="0"/>
              <a:t>Components of an optic fibre</a:t>
            </a:r>
            <a:r>
              <a:rPr lang="en-US" b="1" dirty="0" smtClean="0"/>
              <a:t/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ZW" dirty="0" smtClean="0"/>
              <a:t>The </a:t>
            </a:r>
            <a:r>
              <a:rPr lang="en-ZW" dirty="0"/>
              <a:t>optic fibre is made up of three components:</a:t>
            </a:r>
            <a:endParaRPr lang="en-US" dirty="0"/>
          </a:p>
          <a:p>
            <a:pPr lvl="0"/>
            <a:r>
              <a:rPr lang="en-ZW" dirty="0"/>
              <a:t>Light source</a:t>
            </a:r>
            <a:endParaRPr lang="en-US" dirty="0"/>
          </a:p>
          <a:p>
            <a:pPr lvl="0"/>
            <a:r>
              <a:rPr lang="en-ZW" dirty="0"/>
              <a:t>Transmission system</a:t>
            </a:r>
            <a:endParaRPr lang="en-US" dirty="0"/>
          </a:p>
          <a:p>
            <a:pPr lvl="0"/>
            <a:r>
              <a:rPr lang="en-ZW" dirty="0"/>
              <a:t>Light detector</a:t>
            </a:r>
            <a:endParaRPr lang="en-US" dirty="0"/>
          </a:p>
          <a:p>
            <a:r>
              <a:rPr lang="en-ZW" dirty="0"/>
              <a:t>The detector generates an electric pulse when hit by light. A binary 1 means a pulse of light and a binary 0 means a pulse of light is missing.  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ZW" dirty="0" smtClean="0"/>
              <a:t>The optic fibre is made up of three sections:</a:t>
            </a:r>
            <a:endParaRPr lang="en-US" dirty="0" smtClean="0"/>
          </a:p>
          <a:p>
            <a:pPr lvl="0"/>
            <a:r>
              <a:rPr lang="en-US" dirty="0" smtClean="0"/>
              <a:t>Core</a:t>
            </a:r>
          </a:p>
          <a:p>
            <a:pPr lvl="0"/>
            <a:r>
              <a:rPr lang="en-US" dirty="0" smtClean="0"/>
              <a:t> Cladding, </a:t>
            </a:r>
          </a:p>
          <a:p>
            <a:pPr lvl="0"/>
            <a:r>
              <a:rPr lang="en-US" dirty="0" smtClean="0"/>
              <a:t>Coating(also called the jacket)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core carries the light signals </a:t>
            </a:r>
            <a:endParaRPr lang="en-US" dirty="0" smtClean="0"/>
          </a:p>
          <a:p>
            <a:r>
              <a:rPr lang="en-US" dirty="0" smtClean="0"/>
              <a:t>Cladding </a:t>
            </a:r>
            <a:r>
              <a:rPr lang="en-US" dirty="0"/>
              <a:t>keeps the light in the core.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coating or jacket protects the cladding.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optical </a:t>
            </a:r>
            <a:r>
              <a:rPr lang="en-US" dirty="0" err="1"/>
              <a:t>fibre</a:t>
            </a:r>
            <a:r>
              <a:rPr lang="en-US" dirty="0"/>
              <a:t> operates on the principle of total internal reflection.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light rays are reflected and guided down the length of the optical </a:t>
            </a:r>
            <a:r>
              <a:rPr lang="en-US" dirty="0" err="1"/>
              <a:t>fibre</a:t>
            </a:r>
            <a:r>
              <a:rPr lang="en-US" dirty="0" smtClean="0"/>
              <a:t>.)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The acceptance angle of the fiber determines which light rays will be guided down the fiber. (see figure 8 below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/>
              <a:t>	</a:t>
            </a:r>
          </a:p>
        </p:txBody>
      </p:sp>
      <p:pic>
        <p:nvPicPr>
          <p:cNvPr id="4" name="Picture 3" descr="Total internal reflection in an optical fiber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1524000"/>
            <a:ext cx="6324599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The source of light is </a:t>
            </a:r>
            <a:r>
              <a:rPr lang="en-US" dirty="0" smtClean="0"/>
              <a:t>either:</a:t>
            </a:r>
          </a:p>
          <a:p>
            <a:r>
              <a:rPr lang="en-US" dirty="0" smtClean="0"/>
              <a:t> </a:t>
            </a:r>
            <a:r>
              <a:rPr lang="en-US" dirty="0"/>
              <a:t>light emitting diodes (LEDs) or laser.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core serves as a wide guide</a:t>
            </a:r>
            <a:r>
              <a:rPr lang="en-US" dirty="0" smtClean="0"/>
              <a:t>.</a:t>
            </a:r>
          </a:p>
          <a:p>
            <a:r>
              <a:rPr lang="en-US" dirty="0" smtClean="0"/>
              <a:t> </a:t>
            </a:r>
            <a:r>
              <a:rPr lang="en-US" dirty="0"/>
              <a:t>Assume the refractive index of the core is n</a:t>
            </a:r>
            <a:r>
              <a:rPr lang="en-US" baseline="-25000" dirty="0"/>
              <a:t>1</a:t>
            </a:r>
            <a:r>
              <a:rPr lang="en-US" dirty="0"/>
              <a:t> and that of the cladding is n</a:t>
            </a:r>
            <a:r>
              <a:rPr lang="en-US" baseline="-25000" dirty="0"/>
              <a:t>2</a:t>
            </a:r>
            <a:r>
              <a:rPr lang="en-US" dirty="0" smtClean="0"/>
              <a:t>,</a:t>
            </a:r>
          </a:p>
          <a:p>
            <a:r>
              <a:rPr lang="en-US" dirty="0" smtClean="0"/>
              <a:t>Then  </a:t>
            </a:r>
            <a:r>
              <a:rPr lang="en-US" dirty="0"/>
              <a:t>n</a:t>
            </a:r>
            <a:r>
              <a:rPr lang="en-US" baseline="-25000" dirty="0"/>
              <a:t>1</a:t>
            </a:r>
            <a:r>
              <a:rPr lang="en-US" dirty="0"/>
              <a:t> &gt; n</a:t>
            </a:r>
            <a:r>
              <a:rPr lang="en-US" baseline="-25000" dirty="0"/>
              <a:t>2.</a:t>
            </a:r>
            <a:r>
              <a:rPr lang="en-US" dirty="0"/>
              <a:t> 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ZW" b="1" dirty="0" smtClean="0"/>
              <a:t>Optic Fibre Transmission modes</a:t>
            </a:r>
            <a:r>
              <a:rPr lang="en-US" b="1" dirty="0" smtClean="0"/>
              <a:t/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ZW" dirty="0" smtClean="0"/>
              <a:t>There </a:t>
            </a:r>
            <a:r>
              <a:rPr lang="en-ZW" dirty="0"/>
              <a:t>are three popular transmission modes:</a:t>
            </a:r>
            <a:endParaRPr lang="en-US" dirty="0"/>
          </a:p>
          <a:p>
            <a:pPr lvl="0"/>
            <a:r>
              <a:rPr lang="en-ZW" dirty="0"/>
              <a:t>Step index multimode</a:t>
            </a:r>
            <a:endParaRPr lang="en-US" dirty="0"/>
          </a:p>
          <a:p>
            <a:pPr lvl="0"/>
            <a:r>
              <a:rPr lang="en-ZW" dirty="0"/>
              <a:t>Graded step index multimode</a:t>
            </a:r>
            <a:endParaRPr lang="en-US" dirty="0"/>
          </a:p>
          <a:p>
            <a:pPr lvl="0"/>
            <a:r>
              <a:rPr lang="en-ZW" dirty="0"/>
              <a:t>Single step index mode</a:t>
            </a:r>
            <a:endParaRPr lang="en-US" dirty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smtClean="0"/>
              <a:t>Multimode 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ZW" dirty="0" smtClean="0"/>
              <a:t>The </a:t>
            </a:r>
            <a:r>
              <a:rPr lang="en-ZW" dirty="0"/>
              <a:t>multimode step </a:t>
            </a:r>
            <a:r>
              <a:rPr lang="en-ZW" dirty="0" smtClean="0"/>
              <a:t>index:</a:t>
            </a:r>
          </a:p>
          <a:p>
            <a:pPr>
              <a:buFontTx/>
              <a:buChar char="-"/>
            </a:pPr>
            <a:r>
              <a:rPr lang="en-ZW" dirty="0" smtClean="0"/>
              <a:t>has </a:t>
            </a:r>
            <a:r>
              <a:rPr lang="en-ZW" dirty="0"/>
              <a:t>a little bit bigger diameter with common diameters in the 50-100 micro metre range for the light carry components. </a:t>
            </a:r>
            <a:endParaRPr lang="en-ZW" dirty="0" smtClean="0"/>
          </a:p>
          <a:p>
            <a:pPr>
              <a:buFontTx/>
              <a:buChar char="-"/>
            </a:pPr>
            <a:r>
              <a:rPr lang="en-ZW" dirty="0" smtClean="0"/>
              <a:t>In </a:t>
            </a:r>
            <a:r>
              <a:rPr lang="en-ZW" dirty="0"/>
              <a:t>the United States, the most common diameter is 62.5ϻm. </a:t>
            </a:r>
            <a:endParaRPr lang="en-ZW" dirty="0" smtClean="0"/>
          </a:p>
          <a:p>
            <a:pPr>
              <a:buFontTx/>
              <a:buChar char="-"/>
            </a:pPr>
            <a:r>
              <a:rPr lang="en-US" dirty="0" smtClean="0"/>
              <a:t>Multi-mode </a:t>
            </a:r>
            <a:r>
              <a:rPr lang="en-US" dirty="0"/>
              <a:t>links have data rates of 10 </a:t>
            </a:r>
            <a:r>
              <a:rPr lang="en-US" dirty="0" err="1"/>
              <a:t>Mbit</a:t>
            </a:r>
            <a:r>
              <a:rPr lang="en-US" dirty="0"/>
              <a:t>/s to 10 </a:t>
            </a:r>
            <a:r>
              <a:rPr lang="en-US" dirty="0" err="1"/>
              <a:t>Gbit</a:t>
            </a:r>
            <a:r>
              <a:rPr lang="en-US" dirty="0"/>
              <a:t>/s over link lengths of up to 600 meters (2000 feet).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dirty="0" smtClean="0"/>
              <a:t>Multi-mode fiber has a fairly </a:t>
            </a:r>
            <a:r>
              <a:rPr lang="en-US" u="sng" dirty="0" smtClean="0">
                <a:hlinkClick r:id="rId2"/>
              </a:rPr>
              <a:t>large core diameter</a:t>
            </a:r>
            <a:r>
              <a:rPr lang="en-US" dirty="0" smtClean="0"/>
              <a:t>  - enables multiple light </a:t>
            </a:r>
            <a:r>
              <a:rPr lang="en-US" u="sng" dirty="0" smtClean="0">
                <a:hlinkClick r:id="rId3" tooltip="Normal mode"/>
              </a:rPr>
              <a:t>modes</a:t>
            </a:r>
            <a:r>
              <a:rPr lang="en-US" dirty="0" smtClean="0"/>
              <a:t> to be propagated </a:t>
            </a:r>
          </a:p>
          <a:p>
            <a:pPr>
              <a:buNone/>
            </a:pPr>
            <a:r>
              <a:rPr lang="en-US" dirty="0" smtClean="0"/>
              <a:t> - limits the maximum length of a transmission link due to </a:t>
            </a:r>
            <a:r>
              <a:rPr lang="en-US" u="sng" dirty="0" smtClean="0">
                <a:hlinkClick r:id="rId4" tooltip="Modal dispersion"/>
              </a:rPr>
              <a:t>modal dispersion</a:t>
            </a:r>
            <a:r>
              <a:rPr lang="en-US" dirty="0" smtClean="0"/>
              <a:t>. </a:t>
            </a:r>
          </a:p>
          <a:p>
            <a:pPr>
              <a:buNone/>
            </a:pPr>
            <a:r>
              <a:rPr lang="en-US" dirty="0" smtClean="0"/>
              <a:t>- long cables greater than 914.4 </a:t>
            </a:r>
            <a:r>
              <a:rPr lang="en-US" dirty="0" err="1" smtClean="0"/>
              <a:t>metres</a:t>
            </a:r>
            <a:r>
              <a:rPr lang="en-US" dirty="0" smtClean="0"/>
              <a:t> has multiple paths of light can cause signal distortion at the receiving end resulting in an unclear and incomplete data transmission.</a:t>
            </a: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W" dirty="0"/>
              <a:t>Multimode step indexes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ZW" dirty="0"/>
              <a:t>The multimode step index is used when performance is not important</a:t>
            </a:r>
            <a:endParaRPr lang="en-US" dirty="0"/>
          </a:p>
        </p:txBody>
      </p:sp>
      <p:pic>
        <p:nvPicPr>
          <p:cNvPr id="4" name="Picture 3" descr="http://www.arcelect.com/fiber_1_picture_for_web_fiber_jpg_8-26-97.jp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66800" y="2514600"/>
            <a:ext cx="7696200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Another example of multi-mode step index</a:t>
            </a:r>
            <a:endParaRPr lang="en-US" dirty="0"/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 cstate="print"/>
          <a:srcRect l="25704" t="32500" r="28509" b="46172"/>
          <a:stretch>
            <a:fillRect/>
          </a:stretch>
        </p:blipFill>
        <p:spPr bwMode="auto">
          <a:xfrm>
            <a:off x="457200" y="1828800"/>
            <a:ext cx="8077200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Multi-mode graded step index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 smtClean="0"/>
              <a:t>	</a:t>
            </a:r>
          </a:p>
          <a:p>
            <a:pPr>
              <a:buNone/>
            </a:pPr>
            <a:r>
              <a:rPr lang="en-US" dirty="0"/>
              <a:t>	</a:t>
            </a:r>
            <a:r>
              <a:rPr lang="en-US" dirty="0" smtClean="0"/>
              <a:t>		</a:t>
            </a:r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2" cstate="print"/>
          <a:srcRect l="24806" t="53230" r="25692" b="25566"/>
          <a:stretch>
            <a:fillRect/>
          </a:stretch>
        </p:blipFill>
        <p:spPr bwMode="auto">
          <a:xfrm>
            <a:off x="762000" y="2133600"/>
            <a:ext cx="7924800" cy="281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Multi-mode graded step index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has </a:t>
            </a:r>
            <a:r>
              <a:rPr lang="en-GB" dirty="0"/>
              <a:t>a non uniform core. </a:t>
            </a:r>
            <a:endParaRPr lang="en-GB" dirty="0" smtClean="0"/>
          </a:p>
          <a:p>
            <a:r>
              <a:rPr lang="en-GB" dirty="0" smtClean="0"/>
              <a:t>The </a:t>
            </a:r>
            <a:r>
              <a:rPr lang="en-GB" dirty="0"/>
              <a:t>index is highest at the centre of the core </a:t>
            </a:r>
          </a:p>
          <a:p>
            <a:r>
              <a:rPr lang="en-GB" dirty="0" smtClean="0"/>
              <a:t>It </a:t>
            </a:r>
            <a:r>
              <a:rPr lang="en-GB" dirty="0"/>
              <a:t>gradually decreases until it matches that of the cladding. </a:t>
            </a:r>
            <a:endParaRPr lang="en-GB" dirty="0" smtClean="0"/>
          </a:p>
          <a:p>
            <a:r>
              <a:rPr lang="en-GB" dirty="0" smtClean="0"/>
              <a:t>there </a:t>
            </a:r>
            <a:r>
              <a:rPr lang="en-GB" dirty="0"/>
              <a:t>are no sharp transitions (zigzagging) between the core and the cladding</a:t>
            </a:r>
            <a:r>
              <a:rPr lang="en-GB" dirty="0" smtClean="0"/>
              <a:t>.</a:t>
            </a:r>
          </a:p>
          <a:p>
            <a:r>
              <a:rPr lang="en-GB" dirty="0" smtClean="0"/>
              <a:t> </a:t>
            </a:r>
            <a:r>
              <a:rPr lang="en-GB" dirty="0"/>
              <a:t>This reduces modal dispersion. </a:t>
            </a:r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Most common graded index fibres have a core diameter of 50 or 62.5 microns and a cladding diameter of 125 microns. </a:t>
            </a:r>
          </a:p>
          <a:p>
            <a:r>
              <a:rPr lang="en-GB" dirty="0"/>
              <a:t>This type of  optic fibre is popular in applications requiring a high bandwidth </a:t>
            </a:r>
            <a:r>
              <a:rPr lang="en-GB" dirty="0" smtClean="0"/>
              <a:t>especially:</a:t>
            </a:r>
          </a:p>
          <a:p>
            <a:r>
              <a:rPr lang="en-GB" dirty="0" smtClean="0"/>
              <a:t> </a:t>
            </a:r>
            <a:r>
              <a:rPr lang="en-GB" dirty="0"/>
              <a:t>telecommunications, local area networks, computers and video applications.</a:t>
            </a:r>
            <a:endParaRPr lang="en-US" b="1" dirty="0"/>
          </a:p>
          <a:p>
            <a:endParaRPr lang="en-US" b="1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 smtClean="0"/>
              <a:t>Single-mode fibre</a:t>
            </a:r>
            <a:r>
              <a:rPr lang="en-US" b="1" dirty="0" smtClean="0"/>
              <a:t/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T</a:t>
            </a:r>
            <a:r>
              <a:rPr lang="en-GB" dirty="0" smtClean="0"/>
              <a:t>he </a:t>
            </a:r>
            <a:r>
              <a:rPr lang="en-GB" dirty="0"/>
              <a:t>core’s diameter is reduced until the fibre propagates only one mode efficiently. </a:t>
            </a:r>
            <a:endParaRPr lang="en-GB" dirty="0" smtClean="0"/>
          </a:p>
          <a:p>
            <a:r>
              <a:rPr lang="en-GB" dirty="0" smtClean="0"/>
              <a:t>Single </a:t>
            </a:r>
            <a:r>
              <a:rPr lang="en-GB" dirty="0"/>
              <a:t>mode has a very small diameter of only 5-12 microns</a:t>
            </a:r>
            <a:r>
              <a:rPr lang="en-GB" dirty="0" smtClean="0"/>
              <a:t>.</a:t>
            </a:r>
          </a:p>
          <a:p>
            <a:r>
              <a:rPr lang="en-GB" dirty="0" smtClean="0"/>
              <a:t> </a:t>
            </a:r>
            <a:r>
              <a:rPr lang="en-GB" dirty="0"/>
              <a:t>Light travels parallel to the axis creating very little pulse dispersion</a:t>
            </a:r>
            <a:r>
              <a:rPr lang="en-GB" dirty="0" smtClean="0"/>
              <a:t>.</a:t>
            </a:r>
          </a:p>
          <a:p>
            <a:r>
              <a:rPr lang="en-GB" dirty="0" smtClean="0"/>
              <a:t> </a:t>
            </a:r>
            <a:r>
              <a:rPr lang="en-GB" dirty="0"/>
              <a:t>Telephone and cable television networks install millions of kilometres of this fibre every year.</a:t>
            </a:r>
            <a:endParaRPr lang="en-US" b="1" dirty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Single mode optic fiber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/>
              <a:t>	</a:t>
            </a:r>
            <a:r>
              <a:rPr lang="en-US" dirty="0" smtClean="0"/>
              <a:t>	</a:t>
            </a:r>
            <a:endParaRPr lang="en-US" dirty="0"/>
          </a:p>
        </p:txBody>
      </p:sp>
      <p:pic>
        <p:nvPicPr>
          <p:cNvPr id="4" name="Picture 3" descr="http://www.arcelect.com/fiber_3_picture_for_web_fiber_jpg_8-26-97.jp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2286000"/>
            <a:ext cx="6705600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GB" dirty="0"/>
              <a:t>The cladding is about 10 times thicker than the core for example if the core is 8 or 9 microns, the cladding must be at least 80 microns.</a:t>
            </a:r>
            <a:endParaRPr lang="en-US" b="1" dirty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sz="3600" b="1" dirty="0" smtClean="0"/>
              <a:t>Advantages and disadvantages of optic fibre transmission</a:t>
            </a:r>
            <a:r>
              <a:rPr lang="en-US" sz="3600" b="1" dirty="0" smtClean="0"/>
              <a:t/>
            </a:r>
            <a:br>
              <a:rPr lang="en-US" sz="3600" b="1" dirty="0" smtClean="0"/>
            </a:b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/>
            <a:r>
              <a:rPr lang="en-GB" dirty="0" smtClean="0"/>
              <a:t>Isolation </a:t>
            </a:r>
            <a:r>
              <a:rPr lang="en-GB" dirty="0"/>
              <a:t>from noise (noise immunity)</a:t>
            </a:r>
            <a:endParaRPr lang="en-US" b="1" dirty="0"/>
          </a:p>
          <a:p>
            <a:pPr lvl="0"/>
            <a:r>
              <a:rPr lang="en-GB" dirty="0"/>
              <a:t>High data bandwidth</a:t>
            </a:r>
            <a:endParaRPr lang="en-US" b="1" dirty="0"/>
          </a:p>
          <a:p>
            <a:pPr lvl="0"/>
            <a:r>
              <a:rPr lang="en-GB" dirty="0"/>
              <a:t>Minimum signal attenuation compared to wire transmission</a:t>
            </a:r>
            <a:endParaRPr lang="en-US" b="1" dirty="0"/>
          </a:p>
          <a:p>
            <a:pPr lvl="0"/>
            <a:r>
              <a:rPr lang="en-GB" dirty="0"/>
              <a:t>Light weight compared to wires</a:t>
            </a:r>
            <a:endParaRPr lang="en-US" b="1" dirty="0"/>
          </a:p>
          <a:p>
            <a:pPr lvl="0"/>
            <a:r>
              <a:rPr lang="en-GB" dirty="0"/>
              <a:t>Signals can be transmitted at broad bandwidth over a long distance</a:t>
            </a:r>
            <a:endParaRPr lang="en-US" b="1" dirty="0"/>
          </a:p>
          <a:p>
            <a:pPr lvl="0"/>
            <a:r>
              <a:rPr lang="en-GB" dirty="0"/>
              <a:t>Secure means of communication and is immune to most environmental conditions.</a:t>
            </a:r>
            <a:endParaRPr lang="en-US" b="1" dirty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 smtClean="0"/>
              <a:t>Disadvantages</a:t>
            </a:r>
            <a:r>
              <a:rPr lang="en-US" b="1" dirty="0" smtClean="0"/>
              <a:t/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en-GB" dirty="0" smtClean="0"/>
              <a:t>High </a:t>
            </a:r>
            <a:r>
              <a:rPr lang="en-GB" dirty="0"/>
              <a:t>installation costs</a:t>
            </a:r>
            <a:endParaRPr lang="en-US" b="1" dirty="0"/>
          </a:p>
          <a:p>
            <a:pPr lvl="0"/>
            <a:r>
              <a:rPr lang="en-GB" dirty="0"/>
              <a:t>Susceptibility to physical damages and difficult to repair</a:t>
            </a:r>
            <a:endParaRPr lang="en-US" b="1" dirty="0"/>
          </a:p>
          <a:p>
            <a:pPr lvl="0"/>
            <a:r>
              <a:rPr lang="en-GB" dirty="0"/>
              <a:t>Special test equipment is often required</a:t>
            </a:r>
            <a:endParaRPr lang="en-US" b="1" dirty="0"/>
          </a:p>
          <a:p>
            <a:r>
              <a:rPr lang="en-US" dirty="0"/>
              <a:t>Wild life damage to optic </a:t>
            </a:r>
            <a:r>
              <a:rPr lang="en-US" dirty="0" err="1"/>
              <a:t>fibre</a:t>
            </a:r>
            <a:r>
              <a:rPr lang="en-US" dirty="0"/>
              <a:t> cables, for example birds use material of the optic </a:t>
            </a:r>
            <a:r>
              <a:rPr lang="en-US" dirty="0" err="1"/>
              <a:t>fibre</a:t>
            </a:r>
            <a:r>
              <a:rPr lang="en-US" dirty="0"/>
              <a:t> jacket as nesting material</a:t>
            </a:r>
            <a:r>
              <a:rPr lang="en-US" dirty="0" smtClean="0"/>
              <a:t>.</a:t>
            </a:r>
          </a:p>
          <a:p>
            <a:r>
              <a:rPr lang="en-US" dirty="0" smtClean="0"/>
              <a:t> </a:t>
            </a:r>
            <a:r>
              <a:rPr lang="en-US" dirty="0"/>
              <a:t>Beavers use the exposed </a:t>
            </a:r>
            <a:r>
              <a:rPr lang="en-US" dirty="0" err="1"/>
              <a:t>fibre</a:t>
            </a:r>
            <a:r>
              <a:rPr lang="en-US" dirty="0"/>
              <a:t> to sharpen their teeth. 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Disadvantages (continued)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rPr lang="en-GB" dirty="0"/>
              <a:t>When laid under water sharks damage the fibre by chomping on it and ants use the jacket material as part of their diet.</a:t>
            </a:r>
            <a:endParaRPr lang="en-US" b="1" dirty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882</Words>
  <Application>Microsoft Office PowerPoint</Application>
  <PresentationFormat>On-screen Show (4:3)</PresentationFormat>
  <Paragraphs>114</Paragraphs>
  <Slides>27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8" baseType="lpstr">
      <vt:lpstr>Office Theme</vt:lpstr>
      <vt:lpstr>Lecture 3 OPTIC FIBER TRANSMISSION</vt:lpstr>
      <vt:lpstr>Slide 2</vt:lpstr>
      <vt:lpstr>Explanation of figure 5</vt:lpstr>
      <vt:lpstr>Law of reflection</vt:lpstr>
      <vt:lpstr>Refraction</vt:lpstr>
      <vt:lpstr>Slide 6</vt:lpstr>
      <vt:lpstr>Critical angle</vt:lpstr>
      <vt:lpstr>Components of an optic fibre </vt:lpstr>
      <vt:lpstr>Slide 9</vt:lpstr>
      <vt:lpstr>Slide 10</vt:lpstr>
      <vt:lpstr>Slide 11</vt:lpstr>
      <vt:lpstr>Slide 12</vt:lpstr>
      <vt:lpstr>Slide 13</vt:lpstr>
      <vt:lpstr>Optic Fibre Transmission modes </vt:lpstr>
      <vt:lpstr>Multimode </vt:lpstr>
      <vt:lpstr>Slide 16</vt:lpstr>
      <vt:lpstr>Multimode step indexes</vt:lpstr>
      <vt:lpstr>Another example of multi-mode step index</vt:lpstr>
      <vt:lpstr>Multi-mode graded step index</vt:lpstr>
      <vt:lpstr>Multi-mode graded step index</vt:lpstr>
      <vt:lpstr>Slide 21</vt:lpstr>
      <vt:lpstr>Single-mode fibre </vt:lpstr>
      <vt:lpstr>Single mode optic fiber</vt:lpstr>
      <vt:lpstr>Slide 24</vt:lpstr>
      <vt:lpstr>Advantages and disadvantages of optic fibre transmission </vt:lpstr>
      <vt:lpstr>Disadvantages </vt:lpstr>
      <vt:lpstr>Disadvantages (continued)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2 OPTIC FIBER TRANSMISSION</dc:title>
  <dc:creator>langstone.shumba</dc:creator>
  <cp:lastModifiedBy>langstone.shumba</cp:lastModifiedBy>
  <cp:revision>3</cp:revision>
  <dcterms:created xsi:type="dcterms:W3CDTF">2017-08-30T13:20:46Z</dcterms:created>
  <dcterms:modified xsi:type="dcterms:W3CDTF">2017-09-06T08:30:25Z</dcterms:modified>
</cp:coreProperties>
</file>