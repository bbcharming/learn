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4" r:id="rId14"/>
    <p:sldId id="270" r:id="rId15"/>
    <p:sldId id="271" r:id="rId16"/>
    <p:sldId id="272" r:id="rId17"/>
    <p:sldId id="273" r:id="rId18"/>
    <p:sldId id="269" r:id="rId19"/>
    <p:sldId id="275" r:id="rId20"/>
    <p:sldId id="276" r:id="rId21"/>
    <p:sldId id="277"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BD0DA3-5366-44F5-BE16-52DCED77F717}" type="datetimeFigureOut">
              <a:rPr lang="en-US" smtClean="0"/>
              <a:pPr/>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BD0DA3-5366-44F5-BE16-52DCED77F717}" type="datetimeFigureOut">
              <a:rPr lang="en-US" smtClean="0"/>
              <a:pPr/>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BD0DA3-5366-44F5-BE16-52DCED77F717}" type="datetimeFigureOut">
              <a:rPr lang="en-US" smtClean="0"/>
              <a:pPr/>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8BD0DA3-5366-44F5-BE16-52DCED77F717}" type="datetimeFigureOut">
              <a:rPr lang="en-US" smtClean="0"/>
              <a:pPr/>
              <a:t>7/13/2021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8BD0DA3-5366-44F5-BE16-52DCED77F717}" type="datetimeFigureOut">
              <a:rPr lang="en-US" smtClean="0"/>
              <a:pPr/>
              <a:t>7/13/2021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BD0DA3-5366-44F5-BE16-52DCED77F717}" type="datetimeFigureOut">
              <a:rPr lang="en-US" smtClean="0"/>
              <a:pPr/>
              <a:t>7/13/2021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BD0DA3-5366-44F5-BE16-52DCED77F717}" type="datetimeFigureOut">
              <a:rPr lang="en-US" smtClean="0"/>
              <a:pPr/>
              <a:t>7/13/2021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BD0DA3-5366-44F5-BE16-52DCED77F717}" type="datetimeFigureOut">
              <a:rPr lang="en-US" smtClean="0"/>
              <a:pPr/>
              <a:t>7/13/2021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BD0DA3-5366-44F5-BE16-52DCED77F717}" type="datetimeFigureOut">
              <a:rPr lang="en-US" smtClean="0"/>
              <a:pPr/>
              <a:t>7/13/2021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BD0DA3-5366-44F5-BE16-52DCED77F717}" type="datetimeFigureOut">
              <a:rPr lang="en-US" smtClean="0"/>
              <a:pPr/>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BD0DA3-5366-44F5-BE16-52DCED77F717}" type="datetimeFigureOut">
              <a:rPr lang="en-US" smtClean="0"/>
              <a:pPr/>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095D29-1064-44BA-A2E8-3AE972E951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D0DA3-5366-44F5-BE16-52DCED77F717}" type="datetimeFigureOut">
              <a:rPr lang="en-US" smtClean="0"/>
              <a:pPr/>
              <a:t>7/13/2021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95D29-1064-44BA-A2E8-3AE972E951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pPr algn="l"/>
            <a:r>
              <a:rPr lang="en-US" dirty="0" smtClean="0"/>
              <a:t/>
            </a:r>
            <a:br>
              <a:rPr lang="en-US" dirty="0" smtClean="0"/>
            </a:br>
            <a:r>
              <a:rPr lang="en-US" dirty="0" smtClean="0"/>
              <a:t>Lecture 14 </a:t>
            </a:r>
            <a:r>
              <a:rPr lang="en-US" sz="3600" dirty="0"/>
              <a:t>ETHERNET, CARRIER SENSE MULTIPLE ACCESS WITH COLLISION DETECTION (CSMA/CD) </a:t>
            </a:r>
          </a:p>
        </p:txBody>
      </p:sp>
      <p:sp>
        <p:nvSpPr>
          <p:cNvPr id="3" name="Content Placeholder 2"/>
          <p:cNvSpPr>
            <a:spLocks noGrp="1"/>
          </p:cNvSpPr>
          <p:nvPr>
            <p:ph idx="1"/>
          </p:nvPr>
        </p:nvSpPr>
        <p:spPr/>
        <p:txBody>
          <a:bodyPr>
            <a:normAutofit fontScale="77500" lnSpcReduction="20000"/>
          </a:bodyPr>
          <a:lstStyle/>
          <a:p>
            <a:pPr>
              <a:buNone/>
            </a:pPr>
            <a:r>
              <a:rPr lang="en-US" dirty="0" smtClean="0"/>
              <a:t>                       </a:t>
            </a:r>
          </a:p>
          <a:p>
            <a:pPr>
              <a:buNone/>
            </a:pPr>
            <a:endParaRPr lang="en-US" sz="4700" dirty="0" smtClean="0">
              <a:latin typeface="Times New Roman" pitchFamily="18" charset="0"/>
              <a:cs typeface="Times New Roman" pitchFamily="18" charset="0"/>
            </a:endParaRPr>
          </a:p>
          <a:p>
            <a:r>
              <a:rPr lang="en-ZW" sz="5100" dirty="0">
                <a:latin typeface="Times New Roman" pitchFamily="18" charset="0"/>
                <a:cs typeface="Times New Roman" pitchFamily="18" charset="0"/>
              </a:rPr>
              <a:t>Ethernet is a physical and data link layer technology used for local area networks ( LANs). This transmission medium was first widely used in the 1980s. It supported a maximum theoretical data of 10 mega bits per second (10 M bps) then. </a:t>
            </a:r>
            <a:endParaRPr lang="en-US" sz="51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ZW" sz="4000" dirty="0">
                <a:latin typeface="Times New Roman" pitchFamily="18" charset="0"/>
                <a:cs typeface="Times New Roman" pitchFamily="18" charset="0"/>
              </a:rPr>
              <a:t>Fast Ethernet standards increased this maximum data rate to 100 Mbps. At present, the Gigabit Ethernet technology further extends peak performances to 1000 Mbps. High level network protocols like Internet Protocol(IP) use Ethernet as their transmission medium. Data travels over the Ethernet inside protocol units called frames.</a:t>
            </a:r>
            <a:endParaRPr lang="en-US" sz="40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Carrier Sense Multiple Access (CSMA)</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ZW" dirty="0" smtClean="0"/>
              <a:t>CSMA </a:t>
            </a:r>
            <a:r>
              <a:rPr lang="en-ZW" dirty="0"/>
              <a:t>is a probabilistic media access control (MAC) protocol in which a node verifies the absence of other traffic before transmitting its own data on a shared transmission medium, such as electrical bus or band of electromagnetic waves.</a:t>
            </a:r>
            <a:endParaRPr lang="en-US" dirty="0"/>
          </a:p>
          <a:p>
            <a:r>
              <a:rPr lang="en-ZW" dirty="0"/>
              <a:t>Carrier sense means that a transmitter uses feedback from a receiver to determine whether another transmission is in progress, or not before initiating a transmission. It tries to detect the presence of a carrier wave from another station before attempting to transmit.</a:t>
            </a: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ZW" dirty="0" smtClean="0">
                <a:latin typeface="Times New Roman" pitchFamily="18" charset="0"/>
                <a:cs typeface="Times New Roman" pitchFamily="18" charset="0"/>
              </a:rPr>
              <a:t>If a carrier is sensed, the station waits for transmission in progress to finish before initiating its own transmission.</a:t>
            </a:r>
            <a:endParaRPr lang="en-US" dirty="0" smtClean="0">
              <a:latin typeface="Times New Roman" pitchFamily="18" charset="0"/>
              <a:cs typeface="Times New Roman" pitchFamily="18" charset="0"/>
            </a:endParaRPr>
          </a:p>
          <a:p>
            <a:r>
              <a:rPr lang="en-ZW" dirty="0" smtClean="0">
                <a:latin typeface="Times New Roman" pitchFamily="18" charset="0"/>
                <a:cs typeface="Times New Roman" pitchFamily="18" charset="0"/>
              </a:rPr>
              <a:t>Multiple access means multiple stations send and receive on the same medium (shared medium). Transmission by one station (node) is generally received by all other stations (nodes) connected to the medium. Consider he diagram below:</a:t>
            </a:r>
            <a:endParaRPr lang="en-US"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Bus Topology</a:t>
            </a:r>
            <a:endParaRPr lang="en-US" dirty="0"/>
          </a:p>
        </p:txBody>
      </p:sp>
      <p:pic>
        <p:nvPicPr>
          <p:cNvPr id="4" name="Content Placeholder 3"/>
          <p:cNvPicPr>
            <a:picLocks noGrp="1"/>
          </p:cNvPicPr>
          <p:nvPr>
            <p:ph idx="1"/>
          </p:nvPr>
        </p:nvPicPr>
        <p:blipFill>
          <a:blip r:embed="rId2" cstate="print"/>
          <a:srcRect l="23409" t="25656" r="29121" b="43149"/>
          <a:stretch>
            <a:fillRect/>
          </a:stretch>
        </p:blipFill>
        <p:spPr bwMode="auto">
          <a:xfrm>
            <a:off x="304800" y="1752599"/>
            <a:ext cx="8610599" cy="434340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ZW" sz="3800" dirty="0">
                <a:latin typeface="Times New Roman" pitchFamily="18" charset="0"/>
                <a:cs typeface="Times New Roman" pitchFamily="18" charset="0"/>
              </a:rPr>
              <a:t>A,B, C  and D are nodes (stations) in a bus network. All communications is through the bus cable</a:t>
            </a:r>
            <a:r>
              <a:rPr lang="en-ZW" sz="3800" dirty="0" smtClean="0">
                <a:latin typeface="Times New Roman" pitchFamily="18" charset="0"/>
                <a:cs typeface="Times New Roman" pitchFamily="18" charset="0"/>
              </a:rPr>
              <a:t>.</a:t>
            </a:r>
          </a:p>
          <a:p>
            <a:pPr>
              <a:buNone/>
            </a:pPr>
            <a:r>
              <a:rPr lang="en-ZW" sz="3800" dirty="0" smtClean="0">
                <a:latin typeface="Times New Roman" pitchFamily="18" charset="0"/>
                <a:cs typeface="Times New Roman" pitchFamily="18" charset="0"/>
              </a:rPr>
              <a:t> </a:t>
            </a:r>
            <a:r>
              <a:rPr lang="en-ZW" sz="3800" dirty="0">
                <a:latin typeface="Times New Roman" pitchFamily="18" charset="0"/>
                <a:cs typeface="Times New Roman" pitchFamily="18" charset="0"/>
              </a:rPr>
              <a:t>For any station to transmit it must first sense that the cable is free of any transmission. </a:t>
            </a:r>
            <a:endParaRPr lang="en-ZW" sz="3800" dirty="0" smtClean="0">
              <a:latin typeface="Times New Roman" pitchFamily="18" charset="0"/>
              <a:cs typeface="Times New Roman" pitchFamily="18" charset="0"/>
            </a:endParaRPr>
          </a:p>
          <a:p>
            <a:pPr>
              <a:buNone/>
            </a:pPr>
            <a:r>
              <a:rPr lang="en-ZW" sz="3800" dirty="0" smtClean="0">
                <a:latin typeface="Times New Roman" pitchFamily="18" charset="0"/>
                <a:cs typeface="Times New Roman" pitchFamily="18" charset="0"/>
              </a:rPr>
              <a:t>If </a:t>
            </a:r>
            <a:r>
              <a:rPr lang="en-ZW" sz="3800" dirty="0">
                <a:latin typeface="Times New Roman" pitchFamily="18" charset="0"/>
                <a:cs typeface="Times New Roman" pitchFamily="18" charset="0"/>
              </a:rPr>
              <a:t>there is traffic in the cable, the station does not transmit but will wait for a random time before it tries again. </a:t>
            </a:r>
            <a:endParaRPr lang="en-ZW" sz="3800" dirty="0" smtClean="0">
              <a:latin typeface="Times New Roman" pitchFamily="18" charset="0"/>
              <a:cs typeface="Times New Roman" pitchFamily="18" charset="0"/>
            </a:endParaRPr>
          </a:p>
          <a:p>
            <a:pPr>
              <a:buNone/>
            </a:pPr>
            <a:r>
              <a:rPr lang="en-ZW" sz="3800" dirty="0" smtClean="0">
                <a:latin typeface="Times New Roman" pitchFamily="18" charset="0"/>
                <a:cs typeface="Times New Roman" pitchFamily="18" charset="0"/>
              </a:rPr>
              <a:t> </a:t>
            </a:r>
            <a:r>
              <a:rPr lang="en-ZW" sz="3800" dirty="0">
                <a:latin typeface="Times New Roman" pitchFamily="18" charset="0"/>
                <a:cs typeface="Times New Roman" pitchFamily="18" charset="0"/>
              </a:rPr>
              <a:t>If two stations (nodes) sense that the cable is free of data traffic and both transmit at the same time, there will be data collision. Data collision means that the data is scrabbled and cannot be restored to its meaningful form.</a:t>
            </a:r>
            <a:endParaRPr lang="en-US" sz="38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Carrier Sense Multiple Access with Collision Detection (CSMA/CD) </a:t>
            </a:r>
            <a:endParaRPr lang="en-US" dirty="0"/>
          </a:p>
        </p:txBody>
      </p:sp>
      <p:sp>
        <p:nvSpPr>
          <p:cNvPr id="3" name="Content Placeholder 2"/>
          <p:cNvSpPr>
            <a:spLocks noGrp="1"/>
          </p:cNvSpPr>
          <p:nvPr>
            <p:ph idx="1"/>
          </p:nvPr>
        </p:nvSpPr>
        <p:spPr/>
        <p:txBody>
          <a:bodyPr>
            <a:normAutofit fontScale="92500"/>
          </a:bodyPr>
          <a:lstStyle/>
          <a:p>
            <a:pPr>
              <a:buNone/>
            </a:pPr>
            <a:r>
              <a:rPr lang="en-US" dirty="0"/>
              <a:t>Carrier Sense Multiple Access with Collision Detection (CSMA/CD) is the LAN access method used in Ethernet. </a:t>
            </a:r>
            <a:endParaRPr lang="en-US" dirty="0" smtClean="0"/>
          </a:p>
          <a:p>
            <a:pPr>
              <a:buNone/>
            </a:pPr>
            <a:r>
              <a:rPr lang="en-US" dirty="0" smtClean="0"/>
              <a:t>When </a:t>
            </a:r>
            <a:r>
              <a:rPr lang="en-US" dirty="0"/>
              <a:t>a device wants to gain access to the network, it checks to see if the network is free. If the network is not free, the device waits a random amount of time before retrying</a:t>
            </a:r>
            <a:r>
              <a:rPr lang="en-US" dirty="0" smtClean="0"/>
              <a:t>.</a:t>
            </a:r>
          </a:p>
          <a:p>
            <a:pPr>
              <a:buNone/>
            </a:pPr>
            <a:r>
              <a:rPr lang="en-US" dirty="0" smtClean="0"/>
              <a:t> </a:t>
            </a:r>
            <a:r>
              <a:rPr lang="en-US" dirty="0"/>
              <a:t>If the network is free and two devices access the line at exactly the same time, their signals collide. </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When the collision is detected, they both back off and wait a random amount of time before retrying.</a:t>
            </a:r>
          </a:p>
          <a:p>
            <a:r>
              <a:rPr lang="en-US" dirty="0"/>
              <a:t>Both stations transmit a jamming signal to warn other active stations that there has been data collision.  The jamming signal is 48 bits. In response to the jamming signal each transmitting station stops transmitting and uses a binary exponential back off algorithm to wait before attempting to transmit again.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US" dirty="0"/>
              <a:t>Each station waits for s random amount of time before starting the whole process again, beginning with sensing process.</a:t>
            </a:r>
          </a:p>
          <a:p>
            <a:r>
              <a:rPr lang="en-US" dirty="0"/>
              <a:t>If a station’s subsequent attempt results in another collision, its random wait time will be doubled. </a:t>
            </a:r>
          </a:p>
          <a:p>
            <a:r>
              <a:rPr lang="en-US" dirty="0"/>
              <a:t>The process may be repeated up to 16 times, after which the station, if still unsuccessful, reports a transmission error to the higher protocol layers.</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dirty="0"/>
              <a:t>Simplified operation of the CSMA/CD protocol</a:t>
            </a:r>
            <a:endParaRPr lang="en-US" dirty="0"/>
          </a:p>
        </p:txBody>
      </p:sp>
      <p:pic>
        <p:nvPicPr>
          <p:cNvPr id="4" name="img" descr="https://www.researchgate.net/profile/Seifedine_Kadry/publication/258936526/figure/fig1/AS:296997044146176@1447821021279/Figure-2-Binary-exponential-back-off-algorithm-used-in-CSMACD.png"/>
          <p:cNvPicPr>
            <a:picLocks noGrp="1"/>
          </p:cNvPicPr>
          <p:nvPr>
            <p:ph idx="1"/>
          </p:nvPr>
        </p:nvPicPr>
        <p:blipFill>
          <a:blip r:embed="rId2" cstate="print"/>
          <a:srcRect/>
          <a:stretch>
            <a:fillRect/>
          </a:stretch>
        </p:blipFill>
        <p:spPr bwMode="auto">
          <a:xfrm>
            <a:off x="762000" y="1447800"/>
            <a:ext cx="6858000" cy="5029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 of collisions</a:t>
            </a:r>
            <a:endParaRPr lang="en-US" dirty="0"/>
          </a:p>
        </p:txBody>
      </p:sp>
      <p:sp>
        <p:nvSpPr>
          <p:cNvPr id="3" name="Content Placeholder 2"/>
          <p:cNvSpPr>
            <a:spLocks noGrp="1"/>
          </p:cNvSpPr>
          <p:nvPr>
            <p:ph idx="1"/>
          </p:nvPr>
        </p:nvSpPr>
        <p:spPr/>
        <p:txBody>
          <a:bodyPr>
            <a:normAutofit lnSpcReduction="10000"/>
          </a:bodyPr>
          <a:lstStyle/>
          <a:p>
            <a:pPr>
              <a:buNone/>
            </a:pPr>
            <a:r>
              <a:rPr lang="en-ZW" sz="4400" dirty="0">
                <a:latin typeface="Times New Roman" pitchFamily="18" charset="0"/>
                <a:cs typeface="Times New Roman" pitchFamily="18" charset="0"/>
              </a:rPr>
              <a:t>The probability of a collision occurring is proportional to:</a:t>
            </a:r>
            <a:endParaRPr lang="en-US" sz="4400" dirty="0">
              <a:latin typeface="Times New Roman" pitchFamily="18" charset="0"/>
              <a:cs typeface="Times New Roman" pitchFamily="18" charset="0"/>
            </a:endParaRPr>
          </a:p>
          <a:p>
            <a:pPr lvl="0"/>
            <a:r>
              <a:rPr lang="en-ZW" sz="4400" dirty="0">
                <a:latin typeface="Times New Roman" pitchFamily="18" charset="0"/>
                <a:cs typeface="Times New Roman" pitchFamily="18" charset="0"/>
              </a:rPr>
              <a:t>Number of stations</a:t>
            </a:r>
            <a:endParaRPr lang="en-US" sz="4400" dirty="0">
              <a:latin typeface="Times New Roman" pitchFamily="18" charset="0"/>
              <a:cs typeface="Times New Roman" pitchFamily="18" charset="0"/>
            </a:endParaRPr>
          </a:p>
          <a:p>
            <a:pPr lvl="0"/>
            <a:r>
              <a:rPr lang="en-ZW" sz="4400" dirty="0">
                <a:latin typeface="Times New Roman" pitchFamily="18" charset="0"/>
                <a:cs typeface="Times New Roman" pitchFamily="18" charset="0"/>
              </a:rPr>
              <a:t>Frequency of transmissions</a:t>
            </a:r>
            <a:endParaRPr lang="en-US" sz="4400" dirty="0">
              <a:latin typeface="Times New Roman" pitchFamily="18" charset="0"/>
              <a:cs typeface="Times New Roman" pitchFamily="18" charset="0"/>
            </a:endParaRPr>
          </a:p>
          <a:p>
            <a:pPr lvl="0"/>
            <a:r>
              <a:rPr lang="en-ZW" sz="4400" dirty="0">
                <a:latin typeface="Times New Roman" pitchFamily="18" charset="0"/>
                <a:cs typeface="Times New Roman" pitchFamily="18" charset="0"/>
              </a:rPr>
              <a:t>Size of frames</a:t>
            </a:r>
            <a:endParaRPr lang="en-US" sz="4400" dirty="0">
              <a:latin typeface="Times New Roman" pitchFamily="18" charset="0"/>
              <a:cs typeface="Times New Roman" pitchFamily="18" charset="0"/>
            </a:endParaRPr>
          </a:p>
          <a:p>
            <a:pPr lvl="0"/>
            <a:r>
              <a:rPr lang="en-ZW" sz="4400" dirty="0">
                <a:latin typeface="Times New Roman" pitchFamily="18" charset="0"/>
                <a:cs typeface="Times New Roman" pitchFamily="18" charset="0"/>
              </a:rPr>
              <a:t>Length of the LAN</a:t>
            </a:r>
            <a:endParaRPr lang="en-US" sz="44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ZW" dirty="0" smtClean="0">
                <a:latin typeface="Times New Roman" pitchFamily="18" charset="0"/>
                <a:cs typeface="Times New Roman" pitchFamily="18" charset="0"/>
              </a:rPr>
              <a:t>Ethernet </a:t>
            </a:r>
            <a:r>
              <a:rPr lang="en-ZW" dirty="0">
                <a:latin typeface="Times New Roman" pitchFamily="18" charset="0"/>
                <a:cs typeface="Times New Roman" pitchFamily="18" charset="0"/>
              </a:rPr>
              <a:t>and the IEEE 802.3 </a:t>
            </a:r>
            <a:r>
              <a:rPr lang="en-ZW" dirty="0" smtClean="0">
                <a:latin typeface="Times New Roman" pitchFamily="18" charset="0"/>
                <a:cs typeface="Times New Roman" pitchFamily="18" charset="0"/>
              </a:rPr>
              <a:t>standards states that</a:t>
            </a:r>
          </a:p>
          <a:p>
            <a:pPr>
              <a:buNone/>
            </a:pPr>
            <a:r>
              <a:rPr lang="en-ZW" dirty="0" smtClean="0">
                <a:latin typeface="Times New Roman" pitchFamily="18" charset="0"/>
                <a:cs typeface="Times New Roman" pitchFamily="18" charset="0"/>
              </a:rPr>
              <a:t> </a:t>
            </a:r>
            <a:r>
              <a:rPr lang="en-ZW" dirty="0">
                <a:latin typeface="Times New Roman" pitchFamily="18" charset="0"/>
                <a:cs typeface="Times New Roman" pitchFamily="18" charset="0"/>
              </a:rPr>
              <a:t>to be able to detect </a:t>
            </a:r>
            <a:r>
              <a:rPr lang="en-ZW" dirty="0" smtClean="0">
                <a:latin typeface="Times New Roman" pitchFamily="18" charset="0"/>
                <a:cs typeface="Times New Roman" pitchFamily="18" charset="0"/>
              </a:rPr>
              <a:t>collisions</a:t>
            </a:r>
          </a:p>
          <a:p>
            <a:r>
              <a:rPr lang="en-ZW" dirty="0" smtClean="0">
                <a:latin typeface="Times New Roman" pitchFamily="18" charset="0"/>
                <a:cs typeface="Times New Roman" pitchFamily="18" charset="0"/>
              </a:rPr>
              <a:t> </a:t>
            </a:r>
            <a:r>
              <a:rPr lang="en-ZW" dirty="0">
                <a:latin typeface="Times New Roman" pitchFamily="18" charset="0"/>
                <a:cs typeface="Times New Roman" pitchFamily="18" charset="0"/>
              </a:rPr>
              <a:t>a transmitting station should monitor the network for a period of time called the slot time. </a:t>
            </a:r>
            <a:endParaRPr lang="en-ZW" dirty="0" smtClean="0">
              <a:latin typeface="Times New Roman" pitchFamily="18" charset="0"/>
              <a:cs typeface="Times New Roman" pitchFamily="18" charset="0"/>
            </a:endParaRPr>
          </a:p>
          <a:p>
            <a:r>
              <a:rPr lang="en-ZW" dirty="0" smtClean="0">
                <a:latin typeface="Times New Roman" pitchFamily="18" charset="0"/>
                <a:cs typeface="Times New Roman" pitchFamily="18" charset="0"/>
              </a:rPr>
              <a:t>A </a:t>
            </a:r>
            <a:r>
              <a:rPr lang="en-ZW" dirty="0">
                <a:latin typeface="Times New Roman" pitchFamily="18" charset="0"/>
                <a:cs typeface="Times New Roman" pitchFamily="18" charset="0"/>
              </a:rPr>
              <a:t>slot time, is the duration which a collision may occur and it is the maximum time duration for a signal to reach the other far end of the network and for a collision to propagate back. The slot time is defined to be 51.2 microseconds (512 bit times in a 10 M bps LAN). </a:t>
            </a:r>
            <a:endParaRPr lang="en-US"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ZW" sz="4000" dirty="0" smtClean="0">
                <a:latin typeface="Times New Roman" pitchFamily="18" charset="0"/>
                <a:cs typeface="Times New Roman" pitchFamily="18" charset="0"/>
              </a:rPr>
              <a:t>This time also imposes a maximum length of the size of the network. </a:t>
            </a:r>
          </a:p>
          <a:p>
            <a:pPr>
              <a:buNone/>
            </a:pPr>
            <a:r>
              <a:rPr lang="en-ZW" sz="4000" dirty="0" smtClean="0">
                <a:latin typeface="Times New Roman" pitchFamily="18" charset="0"/>
                <a:cs typeface="Times New Roman" pitchFamily="18" charset="0"/>
              </a:rPr>
              <a:t>It also imposes a minimum (64 bytes excluding the preamble and SYN) on the size of the frames transmitted by each station.</a:t>
            </a:r>
            <a:endParaRPr lang="en-US" sz="4000"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Ethernet and IEEE 802.3 frame formats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smtClean="0"/>
              <a:t>The </a:t>
            </a:r>
            <a:r>
              <a:rPr lang="en-US" dirty="0"/>
              <a:t>Ethernet and IEEE frame formats are not the same but both protocols use the same transmission medium and access method</a:t>
            </a:r>
            <a:r>
              <a:rPr lang="en-US" dirty="0" smtClean="0"/>
              <a:t>.</a:t>
            </a:r>
          </a:p>
          <a:p>
            <a:r>
              <a:rPr lang="en-US" dirty="0" smtClean="0"/>
              <a:t> </a:t>
            </a:r>
            <a:r>
              <a:rPr lang="en-US" dirty="0"/>
              <a:t>LAN stations </a:t>
            </a:r>
            <a:r>
              <a:rPr lang="en-US" dirty="0" smtClean="0"/>
              <a:t>running on </a:t>
            </a:r>
            <a:r>
              <a:rPr lang="en-US" dirty="0"/>
              <a:t>these protocols could share a common bus but cannot communicate with each other.</a:t>
            </a:r>
          </a:p>
          <a:p>
            <a:pPr>
              <a:buNone/>
            </a:pPr>
            <a:r>
              <a:rPr lang="en-ZW" b="1" dirty="0"/>
              <a:t> </a:t>
            </a:r>
            <a:endParaRPr lang="en-US" dirty="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latin typeface="Times New Roman" pitchFamily="18" charset="0"/>
                <a:cs typeface="Times New Roman" pitchFamily="18" charset="0"/>
              </a:rPr>
              <a:t/>
            </a:r>
            <a:br>
              <a:rPr lang="en-ZW" b="1" dirty="0" smtClean="0">
                <a:latin typeface="Times New Roman" pitchFamily="18" charset="0"/>
                <a:cs typeface="Times New Roman" pitchFamily="18" charset="0"/>
              </a:rPr>
            </a:br>
            <a:r>
              <a:rPr lang="en-ZW" b="1" dirty="0" smtClean="0">
                <a:latin typeface="Times New Roman" pitchFamily="18" charset="0"/>
                <a:cs typeface="Times New Roman" pitchFamily="18" charset="0"/>
              </a:rPr>
              <a:t>Ethernet </a:t>
            </a:r>
            <a:r>
              <a:rPr lang="en-ZW" b="1" dirty="0">
                <a:latin typeface="Times New Roman" pitchFamily="18" charset="0"/>
                <a:cs typeface="Times New Roman" pitchFamily="18" charset="0"/>
              </a:rPr>
              <a:t>frame format</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4" name="img" descr="http://ecomputernotes.com/images/thumb475-Format-of-the-two-types-of-Ethernet-frames-842f6bc64d953d271091ef16968e0d08.jpg"/>
          <p:cNvPicPr>
            <a:picLocks noGrp="1"/>
          </p:cNvPicPr>
          <p:nvPr>
            <p:ph idx="1"/>
          </p:nvPr>
        </p:nvPicPr>
        <p:blipFill>
          <a:blip r:embed="rId2" cstate="print"/>
          <a:srcRect t="45511" b="8978"/>
          <a:stretch>
            <a:fillRect/>
          </a:stretch>
        </p:blipFill>
        <p:spPr bwMode="auto">
          <a:xfrm>
            <a:off x="152400" y="1447800"/>
            <a:ext cx="8763000" cy="3505199"/>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
            </a:r>
            <a:br>
              <a:rPr lang="en-ZW" b="1" dirty="0" smtClean="0"/>
            </a:br>
            <a:r>
              <a:rPr lang="en-ZW" b="1" dirty="0" smtClean="0"/>
              <a:t>IEEE </a:t>
            </a:r>
            <a:r>
              <a:rPr lang="en-ZW" b="1" dirty="0"/>
              <a:t>frame format 802.3 CSMA/CD</a:t>
            </a:r>
            <a:r>
              <a:rPr lang="en-US" dirty="0"/>
              <a:t/>
            </a:r>
            <a:br>
              <a:rPr lang="en-US" dirty="0"/>
            </a:br>
            <a:endParaRPr lang="en-US" dirty="0"/>
          </a:p>
        </p:txBody>
      </p:sp>
      <p:pic>
        <p:nvPicPr>
          <p:cNvPr id="4" name="img" descr="http://ecomputernotes.com/images/Frame-Format-of-IEEE-802.3-CSMA-CD-frame.jpg"/>
          <p:cNvPicPr>
            <a:picLocks noGrp="1"/>
          </p:cNvPicPr>
          <p:nvPr>
            <p:ph idx="1"/>
          </p:nvPr>
        </p:nvPicPr>
        <p:blipFill>
          <a:blip r:embed="rId2" cstate="print"/>
          <a:srcRect t="-7586" b="22069"/>
          <a:stretch>
            <a:fillRect/>
          </a:stretch>
        </p:blipFill>
        <p:spPr bwMode="auto">
          <a:xfrm>
            <a:off x="304800" y="1676400"/>
            <a:ext cx="8610600" cy="41910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Explanation to the Ethernet frame fields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ZW" dirty="0" smtClean="0"/>
              <a:t>The </a:t>
            </a:r>
            <a:r>
              <a:rPr lang="en-ZW" dirty="0"/>
              <a:t>62 preamble bits allow the physical layer signalling circuitry to synchronize the receive frame timing circuitry</a:t>
            </a:r>
            <a:endParaRPr lang="en-US" dirty="0"/>
          </a:p>
          <a:p>
            <a:r>
              <a:rPr lang="en-ZW" dirty="0"/>
              <a:t>The 2 bits SYNC (synchronize) indicate that the data portion of the frame will follow.</a:t>
            </a:r>
            <a:endParaRPr lang="en-US" dirty="0"/>
          </a:p>
          <a:p>
            <a:r>
              <a:rPr lang="en-ZW" dirty="0"/>
              <a:t>DA is the destination address, SA is the source address, TYPE field identifies the higher layer protocol which is used, and DATA field is the payload. The frame check sequence is the cyclic redundancy check code used to detect the presence of errors (if any) during transmission.</a:t>
            </a:r>
            <a:endParaRPr lang="en-US" dirty="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
            </a:r>
            <a:br>
              <a:rPr lang="en-ZW" b="1" dirty="0" smtClean="0"/>
            </a:br>
            <a:r>
              <a:rPr lang="en-ZW" b="1" dirty="0" smtClean="0"/>
              <a:t>Binary </a:t>
            </a:r>
            <a:r>
              <a:rPr lang="en-ZW" b="1" dirty="0"/>
              <a:t>Exponential back off algorithm</a:t>
            </a:r>
            <a:r>
              <a:rPr lang="en-US" b="1" dirty="0"/>
              <a:t/>
            </a:r>
            <a:br>
              <a:rPr lang="en-US" b="1" dirty="0"/>
            </a:br>
            <a:endParaRPr lang="en-US" dirty="0"/>
          </a:p>
        </p:txBody>
      </p:sp>
      <p:pic>
        <p:nvPicPr>
          <p:cNvPr id="4" name="Content Placeholder 3" descr="4-05"/>
          <p:cNvPicPr>
            <a:picLocks noGrp="1"/>
          </p:cNvPicPr>
          <p:nvPr>
            <p:ph idx="1"/>
          </p:nvPr>
        </p:nvPicPr>
        <p:blipFill>
          <a:blip r:embed="rId2" cstate="print"/>
          <a:srcRect/>
          <a:stretch>
            <a:fillRect/>
          </a:stretch>
        </p:blipFill>
        <p:spPr bwMode="auto">
          <a:xfrm>
            <a:off x="457200" y="1371600"/>
            <a:ext cx="8001000" cy="42672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CSMA/CD Protocol possible states</a:t>
            </a:r>
            <a:endParaRPr lang="en-US" dirty="0"/>
          </a:p>
        </p:txBody>
      </p:sp>
      <p:sp>
        <p:nvSpPr>
          <p:cNvPr id="3" name="Content Placeholder 2"/>
          <p:cNvSpPr>
            <a:spLocks noGrp="1"/>
          </p:cNvSpPr>
          <p:nvPr>
            <p:ph idx="1"/>
          </p:nvPr>
        </p:nvSpPr>
        <p:spPr/>
        <p:txBody>
          <a:bodyPr/>
          <a:lstStyle/>
          <a:p>
            <a:pPr>
              <a:buNone/>
            </a:pPr>
            <a:r>
              <a:rPr lang="en-US" dirty="0"/>
              <a:t>The CSMA/CD Protocol can be in one of three possible states:</a:t>
            </a:r>
          </a:p>
          <a:p>
            <a:pPr lvl="0"/>
            <a:r>
              <a:rPr lang="en-ZW" dirty="0"/>
              <a:t>Contention</a:t>
            </a:r>
            <a:endParaRPr lang="en-US" dirty="0"/>
          </a:p>
          <a:p>
            <a:pPr lvl="0"/>
            <a:r>
              <a:rPr lang="en-ZW" dirty="0"/>
              <a:t>Transmission</a:t>
            </a:r>
            <a:endParaRPr lang="en-US" dirty="0"/>
          </a:p>
          <a:p>
            <a:pPr lvl="0"/>
            <a:r>
              <a:rPr lang="en-ZW" dirty="0"/>
              <a:t>Idle</a:t>
            </a:r>
            <a:endParaRPr lang="en-US" dirty="0"/>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Operation of the binary exponential </a:t>
            </a:r>
            <a:r>
              <a:rPr lang="en-US" dirty="0" err="1" smtClean="0"/>
              <a:t>backoff</a:t>
            </a:r>
            <a:r>
              <a:rPr lang="en-US" dirty="0" smtClean="0"/>
              <a:t> algorithm</a:t>
            </a:r>
            <a:endParaRPr lang="en-US" dirty="0"/>
          </a:p>
        </p:txBody>
      </p:sp>
      <p:sp>
        <p:nvSpPr>
          <p:cNvPr id="3" name="Content Placeholder 2"/>
          <p:cNvSpPr>
            <a:spLocks noGrp="1"/>
          </p:cNvSpPr>
          <p:nvPr>
            <p:ph idx="1"/>
          </p:nvPr>
        </p:nvSpPr>
        <p:spPr/>
        <p:txBody>
          <a:bodyPr>
            <a:normAutofit lnSpcReduction="10000"/>
          </a:bodyPr>
          <a:lstStyle/>
          <a:p>
            <a:pPr>
              <a:buNone/>
            </a:pPr>
            <a:r>
              <a:rPr lang="en-ZW" dirty="0"/>
              <a:t>At time t</a:t>
            </a:r>
            <a:r>
              <a:rPr lang="en-ZW" baseline="-25000" dirty="0"/>
              <a:t>o </a:t>
            </a:r>
            <a:r>
              <a:rPr lang="en-ZW" dirty="0"/>
              <a:t>a station that was transmitting its frame has just finished</a:t>
            </a:r>
            <a:r>
              <a:rPr lang="en-ZW" dirty="0" smtClean="0"/>
              <a:t>.</a:t>
            </a:r>
          </a:p>
          <a:p>
            <a:pPr>
              <a:buNone/>
            </a:pPr>
            <a:r>
              <a:rPr lang="en-ZW" dirty="0" smtClean="0"/>
              <a:t> </a:t>
            </a:r>
            <a:r>
              <a:rPr lang="en-ZW" dirty="0"/>
              <a:t>Any other station that has data (frames) to transmit can now enter the contention period to try to gain access of the transmission medium. </a:t>
            </a:r>
            <a:endParaRPr lang="en-ZW" dirty="0" smtClean="0"/>
          </a:p>
          <a:p>
            <a:pPr>
              <a:buNone/>
            </a:pPr>
            <a:r>
              <a:rPr lang="en-ZW" dirty="0" smtClean="0"/>
              <a:t>If </a:t>
            </a:r>
            <a:r>
              <a:rPr lang="en-ZW" dirty="0"/>
              <a:t>two stations sense that the channel is free and start transmitting at the same time, there will be packet (data) collision.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pPr>
              <a:buNone/>
            </a:pPr>
            <a:r>
              <a:rPr lang="en-ZW" dirty="0" smtClean="0"/>
              <a:t>The binary exponential back off algorithm operates as follows:</a:t>
            </a:r>
            <a:endParaRPr lang="en-US" dirty="0" smtClean="0"/>
          </a:p>
          <a:p>
            <a:pPr lvl="0"/>
            <a:r>
              <a:rPr lang="en-ZW" dirty="0"/>
              <a:t>When a collision is detected the sender generates a noise burst (jam signal) to ensure all active stations recognize the condition and aborts transmission</a:t>
            </a:r>
            <a:endParaRPr lang="en-US" dirty="0"/>
          </a:p>
          <a:p>
            <a:pPr lvl="0"/>
            <a:r>
              <a:rPr lang="en-ZW" dirty="0"/>
              <a:t>Waits for 0 or 1 contention period (2Ʈ, i.e. 2 end to end propagation time) before attempting transmission again</a:t>
            </a:r>
            <a:endParaRPr lang="en-US" dirty="0"/>
          </a:p>
          <a:p>
            <a:pPr lvl="0"/>
            <a:r>
              <a:rPr lang="en-ZW" dirty="0"/>
              <a:t>If another collision is detected waits for 0, 1, 2, or 3 contention periods</a:t>
            </a:r>
            <a:endParaRPr lang="en-US" dirty="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ZW" dirty="0" smtClean="0"/>
              <a:t>In general wait between 0 and 2</a:t>
            </a:r>
            <a:r>
              <a:rPr lang="en-ZW" baseline="30000" dirty="0" smtClean="0"/>
              <a:t>r</a:t>
            </a:r>
            <a:r>
              <a:rPr lang="en-ZW" dirty="0" smtClean="0"/>
              <a:t>- 1 contention periods where r is the number of collisions encountered</a:t>
            </a:r>
            <a:endParaRPr lang="en-US" dirty="0" smtClean="0"/>
          </a:p>
          <a:p>
            <a:pPr lvl="0"/>
            <a:r>
              <a:rPr lang="en-ZW" dirty="0" smtClean="0"/>
              <a:t>Finally, free interval at 1023 contentions periods after 10 attempts and give up (report transmission failure) after 16 attempts.</a:t>
            </a:r>
            <a:endParaRPr lang="en-US" dirty="0" smtClean="0"/>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Collision time slices</a:t>
            </a:r>
            <a:endParaRPr lang="en-US" dirty="0"/>
          </a:p>
        </p:txBody>
      </p:sp>
      <p:sp>
        <p:nvSpPr>
          <p:cNvPr id="3" name="Content Placeholder 2"/>
          <p:cNvSpPr>
            <a:spLocks noGrp="1"/>
          </p:cNvSpPr>
          <p:nvPr>
            <p:ph idx="1"/>
          </p:nvPr>
        </p:nvSpPr>
        <p:spPr/>
        <p:txBody>
          <a:bodyPr/>
          <a:lstStyle/>
          <a:p>
            <a:r>
              <a:rPr lang="en-ZW" dirty="0"/>
              <a:t>K = {0, 1} 1</a:t>
            </a:r>
            <a:r>
              <a:rPr lang="en-ZW" baseline="30000" dirty="0"/>
              <a:t>st</a:t>
            </a:r>
            <a:r>
              <a:rPr lang="en-ZW" dirty="0"/>
              <a:t> collision</a:t>
            </a:r>
            <a:endParaRPr lang="en-US" dirty="0"/>
          </a:p>
          <a:p>
            <a:r>
              <a:rPr lang="en-ZW" dirty="0"/>
              <a:t>K = {0, 1, 2, 3) 2</a:t>
            </a:r>
            <a:r>
              <a:rPr lang="en-ZW" baseline="30000" dirty="0"/>
              <a:t>nd</a:t>
            </a:r>
            <a:r>
              <a:rPr lang="en-ZW" dirty="0"/>
              <a:t> collision</a:t>
            </a:r>
            <a:endParaRPr lang="en-US" dirty="0"/>
          </a:p>
          <a:p>
            <a:r>
              <a:rPr lang="en-ZW" dirty="0"/>
              <a:t>K = {0, 1, 2, 3, 4, 5, 6, 7) 3</a:t>
            </a:r>
            <a:r>
              <a:rPr lang="en-ZW" baseline="30000" dirty="0"/>
              <a:t>rd</a:t>
            </a:r>
            <a:r>
              <a:rPr lang="en-ZW" dirty="0"/>
              <a:t> collision</a:t>
            </a:r>
            <a:endParaRPr lang="en-US" dirty="0"/>
          </a:p>
          <a:p>
            <a:pPr>
              <a:buNone/>
            </a:pPr>
            <a:r>
              <a:rPr lang="en-ZW" dirty="0"/>
              <a:t>After 10 or more collisions K = {0, 1, 2, 3,………..1023}. The slots K are chosen with equal probability. It clear from the size of sets from which K is chosen grows exponentially with the number of collisions (until n = 10).</a:t>
            </a:r>
            <a:endParaRPr lang="en-US" dirty="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1209</Words>
  <Application>Microsoft Office PowerPoint</Application>
  <PresentationFormat>On-screen Show (4:3)</PresentationFormat>
  <Paragraphs>69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 Lecture 14 ETHERNET, CARRIER SENSE MULTIPLE ACCESS WITH COLLISION DETECTION (CSMA/CD) </vt:lpstr>
      <vt:lpstr>PowerPoint Presentation</vt:lpstr>
      <vt:lpstr>Carrier Sense Multiple Access (CSMA) </vt:lpstr>
      <vt:lpstr>PowerPoint Presentation</vt:lpstr>
      <vt:lpstr>Linear Bus Topology</vt:lpstr>
      <vt:lpstr>Explanation</vt:lpstr>
      <vt:lpstr>Carrier Sense Multiple Access with Collision Detection (CSMA/CD) </vt:lpstr>
      <vt:lpstr>PowerPoint Presentation</vt:lpstr>
      <vt:lpstr>PowerPoint Presentation</vt:lpstr>
      <vt:lpstr>Simplified operation of the CSMA/CD protocol</vt:lpstr>
      <vt:lpstr>Probability of collisions</vt:lpstr>
      <vt:lpstr>PowerPoint Presentation</vt:lpstr>
      <vt:lpstr>PowerPoint Presentation</vt:lpstr>
      <vt:lpstr> Ethernet and IEEE 802.3 frame formats </vt:lpstr>
      <vt:lpstr> Ethernet frame format </vt:lpstr>
      <vt:lpstr> IEEE frame format 802.3 CSMA/CD </vt:lpstr>
      <vt:lpstr> Explanation to the Ethernet frame fields </vt:lpstr>
      <vt:lpstr> Binary Exponential back off algorithm </vt:lpstr>
      <vt:lpstr>CSMA/CD Protocol possible states</vt:lpstr>
      <vt:lpstr>Operation of the binary exponential backoff algorithm</vt:lpstr>
      <vt:lpstr>PowerPoint Presentation</vt:lpstr>
      <vt:lpstr>PowerPoint Presentation</vt:lpstr>
      <vt:lpstr>Collision time slices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ETHERNET, CARRIER SENSE MULTIPLE ACCESS WITH COLLISION DETECTION (CSMA/CD)</dc:title>
  <dc:creator>langstone.shumba</dc:creator>
  <cp:lastModifiedBy>Langtone Shumba</cp:lastModifiedBy>
  <cp:revision>5</cp:revision>
  <dcterms:created xsi:type="dcterms:W3CDTF">2018-05-09T13:32:26Z</dcterms:created>
  <dcterms:modified xsi:type="dcterms:W3CDTF">2021-07-13T12:32:50Z</dcterms:modified>
</cp:coreProperties>
</file>