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gif" ContentType="image/gif"/>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5" r:id="rId19"/>
    <p:sldId id="276" r:id="rId20"/>
    <p:sldId id="274" r:id="rId21"/>
    <p:sldId id="277" r:id="rId22"/>
    <p:sldId id="278" r:id="rId23"/>
    <p:sldId id="279" r:id="rId24"/>
    <p:sldId id="280" r:id="rId25"/>
    <p:sldId id="281" r:id="rId26"/>
    <p:sldId id="282" r:id="rId27"/>
    <p:sldId id="283" r:id="rId28"/>
    <p:sldId id="285" r:id="rId29"/>
    <p:sldId id="284" r:id="rId30"/>
    <p:sldId id="286" r:id="rId31"/>
    <p:sldId id="287" r:id="rId32"/>
    <p:sldId id="288" r:id="rId3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620"/>
    <p:restoredTop sz="94660"/>
  </p:normalViewPr>
  <p:slideViewPr>
    <p:cSldViewPr>
      <p:cViewPr>
        <p:scale>
          <a:sx n="100" d="100"/>
          <a:sy n="100" d="100"/>
        </p:scale>
        <p:origin x="-1152" y="498"/>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2E293B5-834F-4D2F-BB33-9B622087E383}" type="datetimeFigureOut">
              <a:rPr lang="en-US" smtClean="0"/>
              <a:pPr/>
              <a:t>9/7/2017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BDD306-B080-467A-9886-71115E9B479F}"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2E293B5-834F-4D2F-BB33-9B622087E383}" type="datetimeFigureOut">
              <a:rPr lang="en-US" smtClean="0"/>
              <a:pPr/>
              <a:t>9/7/2017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BDD306-B080-467A-9886-71115E9B479F}"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2E293B5-834F-4D2F-BB33-9B622087E383}" type="datetimeFigureOut">
              <a:rPr lang="en-US" smtClean="0"/>
              <a:pPr/>
              <a:t>9/7/2017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BDD306-B080-467A-9886-71115E9B479F}"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2E293B5-834F-4D2F-BB33-9B622087E383}" type="datetimeFigureOut">
              <a:rPr lang="en-US" smtClean="0"/>
              <a:pPr/>
              <a:t>9/7/2017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4BDD306-B080-467A-9886-71115E9B479F}"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2E293B5-834F-4D2F-BB33-9B622087E383}" type="datetimeFigureOut">
              <a:rPr lang="en-US" smtClean="0"/>
              <a:pPr/>
              <a:t>9/7/2017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4BDD306-B080-467A-9886-71115E9B479F}"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2E293B5-834F-4D2F-BB33-9B622087E383}" type="datetimeFigureOut">
              <a:rPr lang="en-US" smtClean="0"/>
              <a:pPr/>
              <a:t>9/7/2017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4BDD306-B080-467A-9886-71115E9B479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2E293B5-834F-4D2F-BB33-9B622087E383}" type="datetimeFigureOut">
              <a:rPr lang="en-US" smtClean="0"/>
              <a:pPr/>
              <a:t>9/7/2017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4BDD306-B080-467A-9886-71115E9B479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2E293B5-834F-4D2F-BB33-9B622087E383}" type="datetimeFigureOut">
              <a:rPr lang="en-US" smtClean="0"/>
              <a:pPr/>
              <a:t>9/7/2017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4BDD306-B080-467A-9886-71115E9B479F}"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2E293B5-834F-4D2F-BB33-9B622087E383}" type="datetimeFigureOut">
              <a:rPr lang="en-US" smtClean="0"/>
              <a:pPr/>
              <a:t>9/7/2017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4BDD306-B080-467A-9886-71115E9B479F}"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2E293B5-834F-4D2F-BB33-9B622087E383}" type="datetimeFigureOut">
              <a:rPr lang="en-US" smtClean="0"/>
              <a:pPr/>
              <a:t>9/7/2017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BDD306-B080-467A-9886-71115E9B479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2E293B5-834F-4D2F-BB33-9B622087E383}" type="datetimeFigureOut">
              <a:rPr lang="en-US" smtClean="0"/>
              <a:pPr/>
              <a:t>9/7/2017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BDD306-B080-467A-9886-71115E9B479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E293B5-834F-4D2F-BB33-9B622087E383}" type="datetimeFigureOut">
              <a:rPr lang="en-US" smtClean="0"/>
              <a:pPr/>
              <a:t>9/7/2017</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4BDD306-B080-467A-9886-71115E9B479F}"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Lecture 4 </a:t>
            </a:r>
            <a:r>
              <a:rPr lang="en-ZW" b="1" dirty="0" smtClean="0"/>
              <a:t>UNGUIDED </a:t>
            </a:r>
            <a:r>
              <a:rPr lang="en-ZW" b="1" dirty="0"/>
              <a:t>TRANSMISSION</a:t>
            </a:r>
            <a:r>
              <a:rPr lang="en-US" b="1" dirty="0"/>
              <a:t/>
            </a:r>
            <a:br>
              <a:rPr lang="en-US" b="1" dirty="0"/>
            </a:br>
            <a:endParaRPr lang="en-US" dirty="0"/>
          </a:p>
        </p:txBody>
      </p:sp>
      <p:sp>
        <p:nvSpPr>
          <p:cNvPr id="3" name="Content Placeholder 2"/>
          <p:cNvSpPr>
            <a:spLocks noGrp="1"/>
          </p:cNvSpPr>
          <p:nvPr>
            <p:ph idx="1"/>
          </p:nvPr>
        </p:nvSpPr>
        <p:spPr/>
        <p:txBody>
          <a:bodyPr>
            <a:normAutofit fontScale="70000" lnSpcReduction="20000"/>
          </a:bodyPr>
          <a:lstStyle/>
          <a:p>
            <a:pPr>
              <a:buNone/>
            </a:pPr>
            <a:r>
              <a:rPr lang="en-ZW" b="1" dirty="0"/>
              <a:t>Introduction</a:t>
            </a:r>
            <a:endParaRPr lang="en-US" b="1" dirty="0"/>
          </a:p>
          <a:p>
            <a:pPr>
              <a:buNone/>
            </a:pPr>
            <a:r>
              <a:rPr lang="en-ZW" dirty="0"/>
              <a:t>In unguided </a:t>
            </a:r>
            <a:r>
              <a:rPr lang="en-ZW" dirty="0" smtClean="0"/>
              <a:t>transmission: </a:t>
            </a:r>
          </a:p>
          <a:p>
            <a:r>
              <a:rPr lang="en-ZW" dirty="0" smtClean="0"/>
              <a:t>no </a:t>
            </a:r>
            <a:r>
              <a:rPr lang="en-ZW" dirty="0"/>
              <a:t>wires or cables used to </a:t>
            </a:r>
            <a:r>
              <a:rPr lang="en-ZW" dirty="0" smtClean="0"/>
              <a:t>the signal</a:t>
            </a:r>
          </a:p>
          <a:p>
            <a:r>
              <a:rPr lang="en-ZW" dirty="0" smtClean="0"/>
              <a:t>but </a:t>
            </a:r>
            <a:r>
              <a:rPr lang="en-ZW" dirty="0"/>
              <a:t>there is always some means for the signal to propagate from one end to the other</a:t>
            </a:r>
            <a:r>
              <a:rPr lang="en-ZW" dirty="0" smtClean="0"/>
              <a:t>.</a:t>
            </a:r>
          </a:p>
          <a:p>
            <a:pPr>
              <a:buNone/>
            </a:pPr>
            <a:r>
              <a:rPr lang="en-ZW" dirty="0" smtClean="0"/>
              <a:t> </a:t>
            </a:r>
            <a:r>
              <a:rPr lang="en-ZW" dirty="0"/>
              <a:t>Unguided transmission is popularly known as wireless.</a:t>
            </a:r>
            <a:endParaRPr lang="en-US" dirty="0"/>
          </a:p>
          <a:p>
            <a:pPr>
              <a:buNone/>
            </a:pPr>
            <a:r>
              <a:rPr lang="en-ZW" dirty="0" smtClean="0"/>
              <a:t>Transmissions </a:t>
            </a:r>
            <a:r>
              <a:rPr lang="en-ZW" dirty="0"/>
              <a:t>and receptions are achieved by means of an antenna and can be:</a:t>
            </a:r>
            <a:endParaRPr lang="en-US" dirty="0"/>
          </a:p>
          <a:p>
            <a:pPr lvl="0"/>
            <a:r>
              <a:rPr lang="en-ZW" dirty="0"/>
              <a:t>Directional </a:t>
            </a:r>
            <a:endParaRPr lang="en-US" dirty="0"/>
          </a:p>
          <a:p>
            <a:pPr lvl="0"/>
            <a:r>
              <a:rPr lang="en-ZW" dirty="0" err="1"/>
              <a:t>Omnidirectional</a:t>
            </a:r>
            <a:endParaRPr lang="en-US" dirty="0"/>
          </a:p>
          <a:p>
            <a:r>
              <a:rPr lang="en-US" dirty="0"/>
              <a:t>Directional or point-to- point transmission is line of sight </a:t>
            </a:r>
            <a:r>
              <a:rPr lang="en-US" dirty="0" smtClean="0"/>
              <a:t>transmission:</a:t>
            </a:r>
          </a:p>
          <a:p>
            <a:pPr>
              <a:buFontTx/>
              <a:buChar char="-"/>
            </a:pPr>
            <a:r>
              <a:rPr lang="en-US" dirty="0" smtClean="0"/>
              <a:t>Because </a:t>
            </a:r>
            <a:r>
              <a:rPr lang="en-US" dirty="0"/>
              <a:t>of this the distance between stations is limited depending on the local geographical area. The line of sight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The line of sight due to the Earth's curvature is limited 50 km to the horizon. </a:t>
            </a:r>
            <a:endParaRPr lang="en-US" dirty="0" smtClean="0"/>
          </a:p>
          <a:p>
            <a:r>
              <a:rPr lang="en-US" dirty="0" smtClean="0"/>
              <a:t>Repeater </a:t>
            </a:r>
            <a:r>
              <a:rPr lang="en-US" dirty="0"/>
              <a:t>stations must be placed after every 50km to boost data signal</a:t>
            </a:r>
            <a:r>
              <a:rPr lang="en-US" dirty="0" smtClean="0"/>
              <a:t>.</a:t>
            </a:r>
          </a:p>
          <a:p>
            <a:pPr>
              <a:buNone/>
            </a:pPr>
            <a:r>
              <a:rPr lang="en-US" dirty="0" smtClean="0"/>
              <a:t>	</a:t>
            </a:r>
            <a:endParaRPr lang="en-US" dirty="0"/>
          </a:p>
          <a:p>
            <a:pPr>
              <a:buNone/>
            </a:pPr>
            <a:r>
              <a:rPr lang="en-US" dirty="0" smtClean="0"/>
              <a:t>	 </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endParaRPr lang="en-US" dirty="0" smtClean="0"/>
          </a:p>
          <a:p>
            <a:pPr>
              <a:buNone/>
            </a:pPr>
            <a:endParaRPr lang="en-US" dirty="0"/>
          </a:p>
          <a:p>
            <a:pPr>
              <a:buNone/>
            </a:pPr>
            <a:r>
              <a:rPr lang="en-US" dirty="0" smtClean="0"/>
              <a:t>			</a:t>
            </a:r>
            <a:endParaRPr lang="en-US" dirty="0"/>
          </a:p>
        </p:txBody>
      </p:sp>
      <p:pic>
        <p:nvPicPr>
          <p:cNvPr id="4" name="Picture 3"/>
          <p:cNvPicPr/>
          <p:nvPr/>
        </p:nvPicPr>
        <p:blipFill>
          <a:blip r:embed="rId2" cstate="print"/>
          <a:srcRect l="21314" t="47293" r="38301" b="27066"/>
          <a:stretch>
            <a:fillRect/>
          </a:stretch>
        </p:blipFill>
        <p:spPr bwMode="auto">
          <a:xfrm>
            <a:off x="685800" y="1752600"/>
            <a:ext cx="5943600" cy="2895600"/>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b="1" dirty="0" err="1" smtClean="0"/>
              <a:t>Omnidirectional</a:t>
            </a:r>
            <a:r>
              <a:rPr lang="en-US" dirty="0" smtClean="0"/>
              <a:t/>
            </a:r>
            <a:br>
              <a:rPr lang="en-US" dirty="0" smtClean="0"/>
            </a:br>
            <a:endParaRPr lang="en-US" dirty="0"/>
          </a:p>
        </p:txBody>
      </p:sp>
      <p:sp>
        <p:nvSpPr>
          <p:cNvPr id="3" name="Content Placeholder 2"/>
          <p:cNvSpPr>
            <a:spLocks noGrp="1"/>
          </p:cNvSpPr>
          <p:nvPr>
            <p:ph idx="1"/>
          </p:nvPr>
        </p:nvSpPr>
        <p:spPr/>
        <p:txBody>
          <a:bodyPr/>
          <a:lstStyle/>
          <a:p>
            <a:r>
              <a:rPr lang="en-US" dirty="0" smtClean="0"/>
              <a:t>signal </a:t>
            </a:r>
            <a:r>
              <a:rPr lang="en-US" dirty="0"/>
              <a:t>is spread in all </a:t>
            </a:r>
            <a:r>
              <a:rPr lang="en-US" dirty="0" smtClean="0"/>
              <a:t>directions</a:t>
            </a:r>
          </a:p>
          <a:p>
            <a:r>
              <a:rPr lang="en-US" dirty="0" smtClean="0"/>
              <a:t>can </a:t>
            </a:r>
            <a:r>
              <a:rPr lang="en-US" dirty="0"/>
              <a:t>be received by many </a:t>
            </a:r>
            <a:r>
              <a:rPr lang="en-US" dirty="0" smtClean="0"/>
              <a:t>antennae</a:t>
            </a:r>
          </a:p>
          <a:p>
            <a:pPr>
              <a:buNone/>
            </a:pPr>
            <a:r>
              <a:rPr lang="en-US" dirty="0"/>
              <a:t>	</a:t>
            </a:r>
            <a:r>
              <a:rPr lang="en-US" dirty="0" smtClean="0"/>
              <a:t>		</a:t>
            </a:r>
          </a:p>
          <a:p>
            <a:pPr>
              <a:buNone/>
            </a:pPr>
            <a:r>
              <a:rPr lang="en-US" dirty="0" smtClean="0"/>
              <a:t>				</a:t>
            </a:r>
            <a:endParaRPr lang="en-US" dirty="0"/>
          </a:p>
          <a:p>
            <a:pPr>
              <a:buNone/>
            </a:pPr>
            <a:r>
              <a:rPr lang="en-US" dirty="0" smtClean="0"/>
              <a:t>			</a:t>
            </a:r>
            <a:endParaRPr lang="en-US" dirty="0"/>
          </a:p>
          <a:p>
            <a:pPr>
              <a:buNone/>
            </a:pPr>
            <a:endParaRPr lang="en-US" dirty="0" smtClean="0"/>
          </a:p>
          <a:p>
            <a:pPr>
              <a:buNone/>
            </a:pPr>
            <a:r>
              <a:rPr lang="en-US" dirty="0" err="1" smtClean="0"/>
              <a:t>Ominidirectional</a:t>
            </a:r>
            <a:r>
              <a:rPr lang="en-US" dirty="0" smtClean="0"/>
              <a:t> transmission</a:t>
            </a:r>
            <a:endParaRPr lang="en-US" dirty="0"/>
          </a:p>
        </p:txBody>
      </p:sp>
      <p:pic>
        <p:nvPicPr>
          <p:cNvPr id="4" name="Picture 3"/>
          <p:cNvPicPr/>
          <p:nvPr/>
        </p:nvPicPr>
        <p:blipFill>
          <a:blip r:embed="rId2" cstate="print"/>
          <a:srcRect l="20673" t="27635" r="29167" b="21653"/>
          <a:stretch>
            <a:fillRect/>
          </a:stretch>
        </p:blipFill>
        <p:spPr bwMode="auto">
          <a:xfrm>
            <a:off x="2286000" y="2743200"/>
            <a:ext cx="4419600" cy="2000250"/>
          </a:xfrm>
          <a:prstGeom prst="rect">
            <a:avLst/>
          </a:prstGeom>
          <a:noFill/>
          <a:ln w="9525">
            <a:noFill/>
            <a:miter lim="800000"/>
            <a:headEnd/>
            <a:tailEnd/>
          </a:ln>
        </p:spPr>
      </p:pic>
      <p:sp>
        <p:nvSpPr>
          <p:cNvPr id="6" name="Freeform 5"/>
          <p:cNvSpPr/>
          <p:nvPr/>
        </p:nvSpPr>
        <p:spPr>
          <a:xfrm>
            <a:off x="1524000" y="4114800"/>
            <a:ext cx="5486400" cy="761999"/>
          </a:xfrm>
          <a:custGeom>
            <a:avLst/>
            <a:gdLst>
              <a:gd name="connsiteX0" fmla="*/ 0 w 4143375"/>
              <a:gd name="connsiteY0" fmla="*/ 1035686 h 1229198"/>
              <a:gd name="connsiteX1" fmla="*/ 57150 w 4143375"/>
              <a:gd name="connsiteY1" fmla="*/ 959486 h 1229198"/>
              <a:gd name="connsiteX2" fmla="*/ 66675 w 4143375"/>
              <a:gd name="connsiteY2" fmla="*/ 930911 h 1229198"/>
              <a:gd name="connsiteX3" fmla="*/ 85725 w 4143375"/>
              <a:gd name="connsiteY3" fmla="*/ 902336 h 1229198"/>
              <a:gd name="connsiteX4" fmla="*/ 104775 w 4143375"/>
              <a:gd name="connsiteY4" fmla="*/ 835661 h 1229198"/>
              <a:gd name="connsiteX5" fmla="*/ 123825 w 4143375"/>
              <a:gd name="connsiteY5" fmla="*/ 807086 h 1229198"/>
              <a:gd name="connsiteX6" fmla="*/ 142875 w 4143375"/>
              <a:gd name="connsiteY6" fmla="*/ 749936 h 1229198"/>
              <a:gd name="connsiteX7" fmla="*/ 180975 w 4143375"/>
              <a:gd name="connsiteY7" fmla="*/ 692786 h 1229198"/>
              <a:gd name="connsiteX8" fmla="*/ 209550 w 4143375"/>
              <a:gd name="connsiteY8" fmla="*/ 635636 h 1229198"/>
              <a:gd name="connsiteX9" fmla="*/ 228600 w 4143375"/>
              <a:gd name="connsiteY9" fmla="*/ 597536 h 1229198"/>
              <a:gd name="connsiteX10" fmla="*/ 247650 w 4143375"/>
              <a:gd name="connsiteY10" fmla="*/ 540386 h 1229198"/>
              <a:gd name="connsiteX11" fmla="*/ 295275 w 4143375"/>
              <a:gd name="connsiteY11" fmla="*/ 483236 h 1229198"/>
              <a:gd name="connsiteX12" fmla="*/ 323850 w 4143375"/>
              <a:gd name="connsiteY12" fmla="*/ 426086 h 1229198"/>
              <a:gd name="connsiteX13" fmla="*/ 333375 w 4143375"/>
              <a:gd name="connsiteY13" fmla="*/ 397511 h 1229198"/>
              <a:gd name="connsiteX14" fmla="*/ 361950 w 4143375"/>
              <a:gd name="connsiteY14" fmla="*/ 378461 h 1229198"/>
              <a:gd name="connsiteX15" fmla="*/ 428625 w 4143375"/>
              <a:gd name="connsiteY15" fmla="*/ 302261 h 1229198"/>
              <a:gd name="connsiteX16" fmla="*/ 504825 w 4143375"/>
              <a:gd name="connsiteY16" fmla="*/ 235586 h 1229198"/>
              <a:gd name="connsiteX17" fmla="*/ 533400 w 4143375"/>
              <a:gd name="connsiteY17" fmla="*/ 216536 h 1229198"/>
              <a:gd name="connsiteX18" fmla="*/ 561975 w 4143375"/>
              <a:gd name="connsiteY18" fmla="*/ 197486 h 1229198"/>
              <a:gd name="connsiteX19" fmla="*/ 590550 w 4143375"/>
              <a:gd name="connsiteY19" fmla="*/ 187961 h 1229198"/>
              <a:gd name="connsiteX20" fmla="*/ 647700 w 4143375"/>
              <a:gd name="connsiteY20" fmla="*/ 149861 h 1229198"/>
              <a:gd name="connsiteX21" fmla="*/ 733425 w 4143375"/>
              <a:gd name="connsiteY21" fmla="*/ 121286 h 1229198"/>
              <a:gd name="connsiteX22" fmla="*/ 762000 w 4143375"/>
              <a:gd name="connsiteY22" fmla="*/ 111761 h 1229198"/>
              <a:gd name="connsiteX23" fmla="*/ 790575 w 4143375"/>
              <a:gd name="connsiteY23" fmla="*/ 102236 h 1229198"/>
              <a:gd name="connsiteX24" fmla="*/ 866775 w 4143375"/>
              <a:gd name="connsiteY24" fmla="*/ 92711 h 1229198"/>
              <a:gd name="connsiteX25" fmla="*/ 904875 w 4143375"/>
              <a:gd name="connsiteY25" fmla="*/ 83186 h 1229198"/>
              <a:gd name="connsiteX26" fmla="*/ 990600 w 4143375"/>
              <a:gd name="connsiteY26" fmla="*/ 54611 h 1229198"/>
              <a:gd name="connsiteX27" fmla="*/ 1057275 w 4143375"/>
              <a:gd name="connsiteY27" fmla="*/ 35561 h 1229198"/>
              <a:gd name="connsiteX28" fmla="*/ 1285875 w 4143375"/>
              <a:gd name="connsiteY28" fmla="*/ 26036 h 1229198"/>
              <a:gd name="connsiteX29" fmla="*/ 1590675 w 4143375"/>
              <a:gd name="connsiteY29" fmla="*/ 26036 h 1229198"/>
              <a:gd name="connsiteX30" fmla="*/ 2000250 w 4143375"/>
              <a:gd name="connsiteY30" fmla="*/ 54611 h 1229198"/>
              <a:gd name="connsiteX31" fmla="*/ 2095500 w 4143375"/>
              <a:gd name="connsiteY31" fmla="*/ 64136 h 1229198"/>
              <a:gd name="connsiteX32" fmla="*/ 2286000 w 4143375"/>
              <a:gd name="connsiteY32" fmla="*/ 83186 h 1229198"/>
              <a:gd name="connsiteX33" fmla="*/ 2514600 w 4143375"/>
              <a:gd name="connsiteY33" fmla="*/ 92711 h 1229198"/>
              <a:gd name="connsiteX34" fmla="*/ 2619375 w 4143375"/>
              <a:gd name="connsiteY34" fmla="*/ 111761 h 1229198"/>
              <a:gd name="connsiteX35" fmla="*/ 2647950 w 4143375"/>
              <a:gd name="connsiteY35" fmla="*/ 121286 h 1229198"/>
              <a:gd name="connsiteX36" fmla="*/ 2743200 w 4143375"/>
              <a:gd name="connsiteY36" fmla="*/ 130811 h 1229198"/>
              <a:gd name="connsiteX37" fmla="*/ 2819400 w 4143375"/>
              <a:gd name="connsiteY37" fmla="*/ 149861 h 1229198"/>
              <a:gd name="connsiteX38" fmla="*/ 2876550 w 4143375"/>
              <a:gd name="connsiteY38" fmla="*/ 159386 h 1229198"/>
              <a:gd name="connsiteX39" fmla="*/ 2933700 w 4143375"/>
              <a:gd name="connsiteY39" fmla="*/ 178436 h 1229198"/>
              <a:gd name="connsiteX40" fmla="*/ 3028950 w 4143375"/>
              <a:gd name="connsiteY40" fmla="*/ 207011 h 1229198"/>
              <a:gd name="connsiteX41" fmla="*/ 3095625 w 4143375"/>
              <a:gd name="connsiteY41" fmla="*/ 245111 h 1229198"/>
              <a:gd name="connsiteX42" fmla="*/ 3124200 w 4143375"/>
              <a:gd name="connsiteY42" fmla="*/ 254636 h 1229198"/>
              <a:gd name="connsiteX43" fmla="*/ 3181350 w 4143375"/>
              <a:gd name="connsiteY43" fmla="*/ 292736 h 1229198"/>
              <a:gd name="connsiteX44" fmla="*/ 3209925 w 4143375"/>
              <a:gd name="connsiteY44" fmla="*/ 302261 h 1229198"/>
              <a:gd name="connsiteX45" fmla="*/ 3238500 w 4143375"/>
              <a:gd name="connsiteY45" fmla="*/ 321311 h 1229198"/>
              <a:gd name="connsiteX46" fmla="*/ 3295650 w 4143375"/>
              <a:gd name="connsiteY46" fmla="*/ 340361 h 1229198"/>
              <a:gd name="connsiteX47" fmla="*/ 3381375 w 4143375"/>
              <a:gd name="connsiteY47" fmla="*/ 397511 h 1229198"/>
              <a:gd name="connsiteX48" fmla="*/ 3409950 w 4143375"/>
              <a:gd name="connsiteY48" fmla="*/ 416561 h 1229198"/>
              <a:gd name="connsiteX49" fmla="*/ 3438525 w 4143375"/>
              <a:gd name="connsiteY49" fmla="*/ 445136 h 1229198"/>
              <a:gd name="connsiteX50" fmla="*/ 3495675 w 4143375"/>
              <a:gd name="connsiteY50" fmla="*/ 483236 h 1229198"/>
              <a:gd name="connsiteX51" fmla="*/ 3552825 w 4143375"/>
              <a:gd name="connsiteY51" fmla="*/ 530861 h 1229198"/>
              <a:gd name="connsiteX52" fmla="*/ 3581400 w 4143375"/>
              <a:gd name="connsiteY52" fmla="*/ 540386 h 1229198"/>
              <a:gd name="connsiteX53" fmla="*/ 3600450 w 4143375"/>
              <a:gd name="connsiteY53" fmla="*/ 568961 h 1229198"/>
              <a:gd name="connsiteX54" fmla="*/ 3657600 w 4143375"/>
              <a:gd name="connsiteY54" fmla="*/ 607061 h 1229198"/>
              <a:gd name="connsiteX55" fmla="*/ 3705225 w 4143375"/>
              <a:gd name="connsiteY55" fmla="*/ 645161 h 1229198"/>
              <a:gd name="connsiteX56" fmla="*/ 3733800 w 4143375"/>
              <a:gd name="connsiteY56" fmla="*/ 673736 h 1229198"/>
              <a:gd name="connsiteX57" fmla="*/ 3762375 w 4143375"/>
              <a:gd name="connsiteY57" fmla="*/ 692786 h 1229198"/>
              <a:gd name="connsiteX58" fmla="*/ 3810000 w 4143375"/>
              <a:gd name="connsiteY58" fmla="*/ 730886 h 1229198"/>
              <a:gd name="connsiteX59" fmla="*/ 3829050 w 4143375"/>
              <a:gd name="connsiteY59" fmla="*/ 759461 h 1229198"/>
              <a:gd name="connsiteX60" fmla="*/ 3857625 w 4143375"/>
              <a:gd name="connsiteY60" fmla="*/ 778511 h 1229198"/>
              <a:gd name="connsiteX61" fmla="*/ 3924300 w 4143375"/>
              <a:gd name="connsiteY61" fmla="*/ 864236 h 1229198"/>
              <a:gd name="connsiteX62" fmla="*/ 3971925 w 4143375"/>
              <a:gd name="connsiteY62" fmla="*/ 911861 h 1229198"/>
              <a:gd name="connsiteX63" fmla="*/ 3981450 w 4143375"/>
              <a:gd name="connsiteY63" fmla="*/ 940436 h 1229198"/>
              <a:gd name="connsiteX64" fmla="*/ 4038600 w 4143375"/>
              <a:gd name="connsiteY64" fmla="*/ 1026161 h 1229198"/>
              <a:gd name="connsiteX65" fmla="*/ 4057650 w 4143375"/>
              <a:gd name="connsiteY65" fmla="*/ 1054736 h 1229198"/>
              <a:gd name="connsiteX66" fmla="*/ 4076700 w 4143375"/>
              <a:gd name="connsiteY66" fmla="*/ 1083311 h 1229198"/>
              <a:gd name="connsiteX67" fmla="*/ 4105275 w 4143375"/>
              <a:gd name="connsiteY67" fmla="*/ 1140461 h 1229198"/>
              <a:gd name="connsiteX68" fmla="*/ 4124325 w 4143375"/>
              <a:gd name="connsiteY68" fmla="*/ 1197611 h 1229198"/>
              <a:gd name="connsiteX69" fmla="*/ 4143375 w 4143375"/>
              <a:gd name="connsiteY69" fmla="*/ 1226186 h 1229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4143375" h="1229198">
                <a:moveTo>
                  <a:pt x="0" y="1035686"/>
                </a:moveTo>
                <a:cubicBezTo>
                  <a:pt x="9346" y="1024004"/>
                  <a:pt x="47041" y="979704"/>
                  <a:pt x="57150" y="959486"/>
                </a:cubicBezTo>
                <a:cubicBezTo>
                  <a:pt x="61640" y="950506"/>
                  <a:pt x="62185" y="939891"/>
                  <a:pt x="66675" y="930911"/>
                </a:cubicBezTo>
                <a:cubicBezTo>
                  <a:pt x="71795" y="920672"/>
                  <a:pt x="80605" y="912575"/>
                  <a:pt x="85725" y="902336"/>
                </a:cubicBezTo>
                <a:cubicBezTo>
                  <a:pt x="104261" y="865265"/>
                  <a:pt x="86464" y="878387"/>
                  <a:pt x="104775" y="835661"/>
                </a:cubicBezTo>
                <a:cubicBezTo>
                  <a:pt x="109284" y="825139"/>
                  <a:pt x="119176" y="817547"/>
                  <a:pt x="123825" y="807086"/>
                </a:cubicBezTo>
                <a:cubicBezTo>
                  <a:pt x="131980" y="788736"/>
                  <a:pt x="131736" y="766644"/>
                  <a:pt x="142875" y="749936"/>
                </a:cubicBezTo>
                <a:cubicBezTo>
                  <a:pt x="155575" y="730886"/>
                  <a:pt x="173735" y="714506"/>
                  <a:pt x="180975" y="692786"/>
                </a:cubicBezTo>
                <a:cubicBezTo>
                  <a:pt x="198439" y="640395"/>
                  <a:pt x="180007" y="687337"/>
                  <a:pt x="209550" y="635636"/>
                </a:cubicBezTo>
                <a:cubicBezTo>
                  <a:pt x="216595" y="623308"/>
                  <a:pt x="223327" y="610719"/>
                  <a:pt x="228600" y="597536"/>
                </a:cubicBezTo>
                <a:cubicBezTo>
                  <a:pt x="236058" y="578892"/>
                  <a:pt x="236511" y="557094"/>
                  <a:pt x="247650" y="540386"/>
                </a:cubicBezTo>
                <a:cubicBezTo>
                  <a:pt x="274172" y="500603"/>
                  <a:pt x="258605" y="519906"/>
                  <a:pt x="295275" y="483236"/>
                </a:cubicBezTo>
                <a:cubicBezTo>
                  <a:pt x="319216" y="411412"/>
                  <a:pt x="286921" y="499944"/>
                  <a:pt x="323850" y="426086"/>
                </a:cubicBezTo>
                <a:cubicBezTo>
                  <a:pt x="328340" y="417106"/>
                  <a:pt x="327103" y="405351"/>
                  <a:pt x="333375" y="397511"/>
                </a:cubicBezTo>
                <a:cubicBezTo>
                  <a:pt x="340526" y="388572"/>
                  <a:pt x="352425" y="384811"/>
                  <a:pt x="361950" y="378461"/>
                </a:cubicBezTo>
                <a:cubicBezTo>
                  <a:pt x="406400" y="311786"/>
                  <a:pt x="381000" y="334011"/>
                  <a:pt x="428625" y="302261"/>
                </a:cubicBezTo>
                <a:cubicBezTo>
                  <a:pt x="460375" y="254636"/>
                  <a:pt x="438150" y="280036"/>
                  <a:pt x="504825" y="235586"/>
                </a:cubicBezTo>
                <a:lnTo>
                  <a:pt x="533400" y="216536"/>
                </a:lnTo>
                <a:cubicBezTo>
                  <a:pt x="542925" y="210186"/>
                  <a:pt x="551115" y="201106"/>
                  <a:pt x="561975" y="197486"/>
                </a:cubicBezTo>
                <a:cubicBezTo>
                  <a:pt x="571500" y="194311"/>
                  <a:pt x="581773" y="192837"/>
                  <a:pt x="590550" y="187961"/>
                </a:cubicBezTo>
                <a:cubicBezTo>
                  <a:pt x="610564" y="176842"/>
                  <a:pt x="625980" y="157101"/>
                  <a:pt x="647700" y="149861"/>
                </a:cubicBezTo>
                <a:lnTo>
                  <a:pt x="733425" y="121286"/>
                </a:lnTo>
                <a:lnTo>
                  <a:pt x="762000" y="111761"/>
                </a:lnTo>
                <a:cubicBezTo>
                  <a:pt x="771525" y="108586"/>
                  <a:pt x="780612" y="103481"/>
                  <a:pt x="790575" y="102236"/>
                </a:cubicBezTo>
                <a:cubicBezTo>
                  <a:pt x="815975" y="99061"/>
                  <a:pt x="841526" y="96919"/>
                  <a:pt x="866775" y="92711"/>
                </a:cubicBezTo>
                <a:cubicBezTo>
                  <a:pt x="879688" y="90559"/>
                  <a:pt x="892336" y="86948"/>
                  <a:pt x="904875" y="83186"/>
                </a:cubicBezTo>
                <a:cubicBezTo>
                  <a:pt x="933725" y="74531"/>
                  <a:pt x="962025" y="64136"/>
                  <a:pt x="990600" y="54611"/>
                </a:cubicBezTo>
                <a:cubicBezTo>
                  <a:pt x="1006577" y="49285"/>
                  <a:pt x="1042053" y="36648"/>
                  <a:pt x="1057275" y="35561"/>
                </a:cubicBezTo>
                <a:cubicBezTo>
                  <a:pt x="1133347" y="30127"/>
                  <a:pt x="1209675" y="29211"/>
                  <a:pt x="1285875" y="26036"/>
                </a:cubicBezTo>
                <a:cubicBezTo>
                  <a:pt x="1416055" y="0"/>
                  <a:pt x="1325605" y="14255"/>
                  <a:pt x="1590675" y="26036"/>
                </a:cubicBezTo>
                <a:cubicBezTo>
                  <a:pt x="1715055" y="31564"/>
                  <a:pt x="1881159" y="42702"/>
                  <a:pt x="2000250" y="54611"/>
                </a:cubicBezTo>
                <a:lnTo>
                  <a:pt x="2095500" y="64136"/>
                </a:lnTo>
                <a:cubicBezTo>
                  <a:pt x="2174242" y="90383"/>
                  <a:pt x="2120121" y="75094"/>
                  <a:pt x="2286000" y="83186"/>
                </a:cubicBezTo>
                <a:lnTo>
                  <a:pt x="2514600" y="92711"/>
                </a:lnTo>
                <a:cubicBezTo>
                  <a:pt x="2580133" y="114555"/>
                  <a:pt x="2500901" y="90220"/>
                  <a:pt x="2619375" y="111761"/>
                </a:cubicBezTo>
                <a:cubicBezTo>
                  <a:pt x="2629253" y="113557"/>
                  <a:pt x="2638027" y="119759"/>
                  <a:pt x="2647950" y="121286"/>
                </a:cubicBezTo>
                <a:cubicBezTo>
                  <a:pt x="2679487" y="126138"/>
                  <a:pt x="2711572" y="126594"/>
                  <a:pt x="2743200" y="130811"/>
                </a:cubicBezTo>
                <a:cubicBezTo>
                  <a:pt x="2846119" y="144533"/>
                  <a:pt x="2747281" y="133834"/>
                  <a:pt x="2819400" y="149861"/>
                </a:cubicBezTo>
                <a:cubicBezTo>
                  <a:pt x="2838253" y="154051"/>
                  <a:pt x="2857814" y="154702"/>
                  <a:pt x="2876550" y="159386"/>
                </a:cubicBezTo>
                <a:cubicBezTo>
                  <a:pt x="2896031" y="164256"/>
                  <a:pt x="2914219" y="173566"/>
                  <a:pt x="2933700" y="178436"/>
                </a:cubicBezTo>
                <a:cubicBezTo>
                  <a:pt x="2954998" y="183761"/>
                  <a:pt x="3015036" y="197735"/>
                  <a:pt x="3028950" y="207011"/>
                </a:cubicBezTo>
                <a:cubicBezTo>
                  <a:pt x="3057648" y="226143"/>
                  <a:pt x="3061788" y="230609"/>
                  <a:pt x="3095625" y="245111"/>
                </a:cubicBezTo>
                <a:cubicBezTo>
                  <a:pt x="3104853" y="249066"/>
                  <a:pt x="3115423" y="249760"/>
                  <a:pt x="3124200" y="254636"/>
                </a:cubicBezTo>
                <a:cubicBezTo>
                  <a:pt x="3144214" y="265755"/>
                  <a:pt x="3159630" y="285496"/>
                  <a:pt x="3181350" y="292736"/>
                </a:cubicBezTo>
                <a:cubicBezTo>
                  <a:pt x="3190875" y="295911"/>
                  <a:pt x="3200945" y="297771"/>
                  <a:pt x="3209925" y="302261"/>
                </a:cubicBezTo>
                <a:cubicBezTo>
                  <a:pt x="3220164" y="307381"/>
                  <a:pt x="3228039" y="316662"/>
                  <a:pt x="3238500" y="321311"/>
                </a:cubicBezTo>
                <a:cubicBezTo>
                  <a:pt x="3256850" y="329466"/>
                  <a:pt x="3278942" y="329222"/>
                  <a:pt x="3295650" y="340361"/>
                </a:cubicBezTo>
                <a:lnTo>
                  <a:pt x="3381375" y="397511"/>
                </a:lnTo>
                <a:cubicBezTo>
                  <a:pt x="3390900" y="403861"/>
                  <a:pt x="3401855" y="408466"/>
                  <a:pt x="3409950" y="416561"/>
                </a:cubicBezTo>
                <a:cubicBezTo>
                  <a:pt x="3419475" y="426086"/>
                  <a:pt x="3427892" y="436866"/>
                  <a:pt x="3438525" y="445136"/>
                </a:cubicBezTo>
                <a:cubicBezTo>
                  <a:pt x="3456597" y="459192"/>
                  <a:pt x="3479486" y="467047"/>
                  <a:pt x="3495675" y="483236"/>
                </a:cubicBezTo>
                <a:cubicBezTo>
                  <a:pt x="3516741" y="504302"/>
                  <a:pt x="3526303" y="517600"/>
                  <a:pt x="3552825" y="530861"/>
                </a:cubicBezTo>
                <a:cubicBezTo>
                  <a:pt x="3561805" y="535351"/>
                  <a:pt x="3571875" y="537211"/>
                  <a:pt x="3581400" y="540386"/>
                </a:cubicBezTo>
                <a:cubicBezTo>
                  <a:pt x="3587750" y="549911"/>
                  <a:pt x="3591835" y="561423"/>
                  <a:pt x="3600450" y="568961"/>
                </a:cubicBezTo>
                <a:cubicBezTo>
                  <a:pt x="3617680" y="584038"/>
                  <a:pt x="3657600" y="607061"/>
                  <a:pt x="3657600" y="607061"/>
                </a:cubicBezTo>
                <a:cubicBezTo>
                  <a:pt x="3700205" y="670968"/>
                  <a:pt x="3650016" y="608355"/>
                  <a:pt x="3705225" y="645161"/>
                </a:cubicBezTo>
                <a:cubicBezTo>
                  <a:pt x="3716433" y="652633"/>
                  <a:pt x="3723452" y="665112"/>
                  <a:pt x="3733800" y="673736"/>
                </a:cubicBezTo>
                <a:cubicBezTo>
                  <a:pt x="3742594" y="681065"/>
                  <a:pt x="3752850" y="686436"/>
                  <a:pt x="3762375" y="692786"/>
                </a:cubicBezTo>
                <a:cubicBezTo>
                  <a:pt x="3816970" y="774678"/>
                  <a:pt x="3744275" y="678306"/>
                  <a:pt x="3810000" y="730886"/>
                </a:cubicBezTo>
                <a:cubicBezTo>
                  <a:pt x="3818939" y="738037"/>
                  <a:pt x="3820955" y="751366"/>
                  <a:pt x="3829050" y="759461"/>
                </a:cubicBezTo>
                <a:cubicBezTo>
                  <a:pt x="3837145" y="767556"/>
                  <a:pt x="3848100" y="772161"/>
                  <a:pt x="3857625" y="778511"/>
                </a:cubicBezTo>
                <a:cubicBezTo>
                  <a:pt x="3953920" y="922954"/>
                  <a:pt x="3849693" y="774707"/>
                  <a:pt x="3924300" y="864236"/>
                </a:cubicBezTo>
                <a:cubicBezTo>
                  <a:pt x="3963987" y="911861"/>
                  <a:pt x="3919537" y="876936"/>
                  <a:pt x="3971925" y="911861"/>
                </a:cubicBezTo>
                <a:cubicBezTo>
                  <a:pt x="3975100" y="921386"/>
                  <a:pt x="3976574" y="931659"/>
                  <a:pt x="3981450" y="940436"/>
                </a:cubicBezTo>
                <a:lnTo>
                  <a:pt x="4038600" y="1026161"/>
                </a:lnTo>
                <a:lnTo>
                  <a:pt x="4057650" y="1054736"/>
                </a:lnTo>
                <a:cubicBezTo>
                  <a:pt x="4064000" y="1064261"/>
                  <a:pt x="4073080" y="1072451"/>
                  <a:pt x="4076700" y="1083311"/>
                </a:cubicBezTo>
                <a:cubicBezTo>
                  <a:pt x="4111438" y="1187524"/>
                  <a:pt x="4056036" y="1029674"/>
                  <a:pt x="4105275" y="1140461"/>
                </a:cubicBezTo>
                <a:cubicBezTo>
                  <a:pt x="4113430" y="1158811"/>
                  <a:pt x="4117975" y="1178561"/>
                  <a:pt x="4124325" y="1197611"/>
                </a:cubicBezTo>
                <a:cubicBezTo>
                  <a:pt x="4134854" y="1229198"/>
                  <a:pt x="4123810" y="1226186"/>
                  <a:pt x="4143375" y="1226186"/>
                </a:cubicBez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ZW" b="1" dirty="0" smtClean="0"/>
              <a:t>Subdivisions of wireless transmission</a:t>
            </a:r>
            <a:r>
              <a:rPr lang="en-US" b="1" dirty="0" smtClean="0"/>
              <a:t/>
            </a:r>
            <a:br>
              <a:rPr lang="en-US" b="1" dirty="0" smtClean="0"/>
            </a:br>
            <a:endParaRPr lang="en-US" dirty="0"/>
          </a:p>
        </p:txBody>
      </p:sp>
      <p:sp>
        <p:nvSpPr>
          <p:cNvPr id="3" name="Content Placeholder 2"/>
          <p:cNvSpPr>
            <a:spLocks noGrp="1"/>
          </p:cNvSpPr>
          <p:nvPr>
            <p:ph idx="1"/>
          </p:nvPr>
        </p:nvSpPr>
        <p:spPr/>
        <p:txBody>
          <a:bodyPr/>
          <a:lstStyle/>
          <a:p>
            <a:pPr>
              <a:buNone/>
            </a:pPr>
            <a:r>
              <a:rPr lang="en-US" dirty="0" smtClean="0"/>
              <a:t>Unguided/wireless transmission can be classified under:</a:t>
            </a:r>
          </a:p>
          <a:p>
            <a:pPr lvl="0"/>
            <a:r>
              <a:rPr lang="en-US" dirty="0" smtClean="0"/>
              <a:t>Radio</a:t>
            </a:r>
          </a:p>
          <a:p>
            <a:pPr lvl="0"/>
            <a:r>
              <a:rPr lang="en-US" dirty="0" smtClean="0"/>
              <a:t>Microwave</a:t>
            </a:r>
          </a:p>
          <a:p>
            <a:pPr>
              <a:buNone/>
            </a:pPr>
            <a:endParaRPr lang="en-US" dirty="0" smtClean="0"/>
          </a:p>
          <a:p>
            <a:pPr>
              <a:buNone/>
            </a:pPr>
            <a:r>
              <a:rPr lang="en-US" dirty="0" smtClean="0"/>
              <a:t>					</a:t>
            </a:r>
            <a:endParaRPr lang="en-US" dirty="0"/>
          </a:p>
        </p:txBody>
      </p:sp>
      <p:pic>
        <p:nvPicPr>
          <p:cNvPr id="4" name="Picture 3"/>
          <p:cNvPicPr/>
          <p:nvPr/>
        </p:nvPicPr>
        <p:blipFill>
          <a:blip r:embed="rId2" cstate="print"/>
          <a:srcRect l="22276" t="33333" r="27884" b="37892"/>
          <a:stretch>
            <a:fillRect/>
          </a:stretch>
        </p:blipFill>
        <p:spPr bwMode="auto">
          <a:xfrm>
            <a:off x="2895600" y="2743201"/>
            <a:ext cx="5562600" cy="3276600"/>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pPr>
              <a:buNone/>
            </a:pPr>
            <a:r>
              <a:rPr lang="en-US" dirty="0" smtClean="0"/>
              <a:t>The three general frequency ranges used by the above are:</a:t>
            </a:r>
          </a:p>
          <a:p>
            <a:pPr lvl="0"/>
            <a:r>
              <a:rPr lang="en-US" dirty="0" smtClean="0"/>
              <a:t>300kHz – 10 GHz (Radio)- </a:t>
            </a:r>
            <a:r>
              <a:rPr lang="en-US" dirty="0" err="1" smtClean="0"/>
              <a:t>Omnidirectional</a:t>
            </a:r>
            <a:endParaRPr lang="en-US" dirty="0" smtClean="0"/>
          </a:p>
          <a:p>
            <a:pPr lvl="0"/>
            <a:r>
              <a:rPr lang="en-US" dirty="0" smtClean="0"/>
              <a:t>1 GHz – 300 GHz (Microwave Frequencies), Highly directional, Point-to- point</a:t>
            </a:r>
          </a:p>
          <a:p>
            <a:pPr lvl="0"/>
            <a:r>
              <a:rPr lang="en-US" dirty="0" smtClean="0"/>
              <a:t>2x10</a:t>
            </a:r>
            <a:r>
              <a:rPr lang="en-US" baseline="30000" dirty="0" smtClean="0"/>
              <a:t>11 </a:t>
            </a:r>
            <a:r>
              <a:rPr lang="en-US" dirty="0" smtClean="0"/>
              <a:t>- 2x10</a:t>
            </a:r>
            <a:r>
              <a:rPr lang="en-US" baseline="30000" dirty="0" smtClean="0"/>
              <a:t>14 </a:t>
            </a:r>
            <a:r>
              <a:rPr lang="en-US" dirty="0" smtClean="0"/>
              <a:t>Hz – Point to point and multipoint</a:t>
            </a:r>
          </a:p>
          <a:p>
            <a:pPr>
              <a:buNone/>
            </a:pP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b="1" dirty="0" smtClean="0"/>
              <a:t>Radio Frequencies</a:t>
            </a:r>
            <a:endParaRPr lang="en-US" dirty="0" smtClean="0"/>
          </a:p>
          <a:p>
            <a:r>
              <a:rPr lang="en-US" dirty="0" smtClean="0"/>
              <a:t>Radio Frequencies are in the range of 300 kHz to 10 GHz </a:t>
            </a:r>
          </a:p>
          <a:p>
            <a:r>
              <a:rPr lang="en-US" dirty="0" smtClean="0"/>
              <a:t>Wireless LANs use this range of frequencies. They are also used for radio broadcast. </a:t>
            </a:r>
          </a:p>
          <a:p>
            <a:r>
              <a:rPr lang="en-US" dirty="0" smtClean="0"/>
              <a:t>Some LANs use radio frequencies to connect the workstations together although some also use infrared technology.</a:t>
            </a:r>
          </a:p>
          <a:p>
            <a:pPr>
              <a:buNone/>
            </a:pP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a:buNone/>
            </a:pPr>
            <a:r>
              <a:rPr lang="en-US" b="1" dirty="0" smtClean="0"/>
              <a:t>Microwave	</a:t>
            </a:r>
            <a:endParaRPr lang="en-US" dirty="0" smtClean="0"/>
          </a:p>
          <a:p>
            <a:pPr>
              <a:buFontTx/>
              <a:buChar char="-"/>
            </a:pPr>
            <a:r>
              <a:rPr lang="en-US" dirty="0" smtClean="0"/>
              <a:t>microwave transmission is line of sight transmission. </a:t>
            </a:r>
          </a:p>
          <a:p>
            <a:pPr>
              <a:buFontTx/>
              <a:buChar char="-"/>
            </a:pPr>
            <a:r>
              <a:rPr lang="en-US" dirty="0" smtClean="0"/>
              <a:t>The transmitting antenna and the receiving antenna must be in visible contact with each other </a:t>
            </a:r>
          </a:p>
          <a:p>
            <a:pPr>
              <a:buFontTx/>
              <a:buChar char="-"/>
            </a:pPr>
            <a:r>
              <a:rPr lang="en-US" dirty="0" smtClean="0"/>
              <a:t>This means that the antennae must be placed on high ground, roof tops or on top of mountains to prevent any signal obstructions.</a:t>
            </a:r>
          </a:p>
          <a:p>
            <a:pPr>
              <a:buNone/>
            </a:pP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b="1" dirty="0" smtClean="0"/>
              <a:t>Infrared</a:t>
            </a:r>
            <a:endParaRPr lang="en-US" dirty="0" smtClean="0"/>
          </a:p>
          <a:p>
            <a:pPr>
              <a:buFontTx/>
              <a:buChar char="-"/>
            </a:pPr>
            <a:r>
              <a:rPr lang="en-US" dirty="0" smtClean="0"/>
              <a:t>is a wireless transmission media that sends signals using infrared light waves. </a:t>
            </a:r>
          </a:p>
          <a:p>
            <a:pPr>
              <a:buFontTx/>
              <a:buChar char="-"/>
            </a:pPr>
            <a:r>
              <a:rPr lang="en-US" dirty="0" smtClean="0"/>
              <a:t>Infrared transmission requires a line of sight transmission i.e. the sender and receiver must be aligned so that nothing obstructs the path of infrared light wave.</a:t>
            </a:r>
          </a:p>
          <a:p>
            <a:pPr>
              <a:buNone/>
            </a:pP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ZW" b="1" dirty="0" smtClean="0"/>
              <a:t>Terrestrial Micro wave Transmission</a:t>
            </a:r>
            <a:r>
              <a:rPr lang="en-US" b="1" dirty="0" smtClean="0"/>
              <a:t/>
            </a:r>
            <a:br>
              <a:rPr lang="en-US" b="1" dirty="0" smtClean="0"/>
            </a:br>
            <a:endParaRPr lang="en-US" dirty="0"/>
          </a:p>
        </p:txBody>
      </p:sp>
      <p:sp>
        <p:nvSpPr>
          <p:cNvPr id="3" name="Content Placeholder 2"/>
          <p:cNvSpPr>
            <a:spLocks noGrp="1"/>
          </p:cNvSpPr>
          <p:nvPr>
            <p:ph idx="1"/>
          </p:nvPr>
        </p:nvSpPr>
        <p:spPr/>
        <p:txBody>
          <a:bodyPr>
            <a:normAutofit fontScale="85000" lnSpcReduction="20000"/>
          </a:bodyPr>
          <a:lstStyle/>
          <a:p>
            <a:r>
              <a:rPr lang="en-ZW" dirty="0" smtClean="0"/>
              <a:t>Uses a parabolic dish to transmit and receive signals. </a:t>
            </a:r>
          </a:p>
          <a:p>
            <a:r>
              <a:rPr lang="en-ZW" dirty="0" smtClean="0"/>
              <a:t>The typical size of the dish is 3 metres in diameter. </a:t>
            </a:r>
          </a:p>
          <a:p>
            <a:r>
              <a:rPr lang="en-ZW" dirty="0" smtClean="0"/>
              <a:t>The antenna is fixed rigidly and focuses on a narrow beam to achieve line-of-sight transmission to the receiving antenna.  </a:t>
            </a:r>
          </a:p>
          <a:p>
            <a:r>
              <a:rPr lang="en-ZW" dirty="0" smtClean="0"/>
              <a:t>The antenna is usually located at substantial heights above the ground to be able to transmit over intervening obstacles. </a:t>
            </a:r>
          </a:p>
          <a:p>
            <a:r>
              <a:rPr lang="en-ZW" dirty="0" smtClean="0"/>
              <a:t>For long distance transmission, a series of micro wave relay towers are used and point – to – point micro wave links are strung together over the desired distance (see figure 15 below).</a:t>
            </a:r>
            <a:endParaRPr lang="en-US" dirty="0" smtClean="0"/>
          </a:p>
          <a:p>
            <a:pPr>
              <a:buNone/>
            </a:pP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pPr>
              <a:buNone/>
            </a:pPr>
            <a:endParaRPr lang="en-US" dirty="0" smtClean="0"/>
          </a:p>
          <a:p>
            <a:pPr>
              <a:buNone/>
            </a:pPr>
            <a:endParaRPr lang="en-US" dirty="0" smtClean="0"/>
          </a:p>
          <a:p>
            <a:pPr>
              <a:buNone/>
            </a:pPr>
            <a:endParaRPr lang="en-US" dirty="0" smtClean="0"/>
          </a:p>
          <a:p>
            <a:pPr>
              <a:buNone/>
            </a:pPr>
            <a:r>
              <a:rPr lang="en-US" dirty="0" smtClean="0"/>
              <a:t>				</a:t>
            </a:r>
            <a:endParaRPr lang="en-US" dirty="0"/>
          </a:p>
        </p:txBody>
      </p:sp>
      <p:pic>
        <p:nvPicPr>
          <p:cNvPr id="4" name="img" descr="http://image.slidesharecdn.com/communication-140625051112-phpapp01-150611213207-lva1-app6891/95/communication-channels-17-638.jpg?cb=1434058509"/>
          <p:cNvPicPr/>
          <p:nvPr/>
        </p:nvPicPr>
        <p:blipFill>
          <a:blip r:embed="rId2" cstate="print"/>
          <a:srcRect t="15705" b="12490"/>
          <a:stretch>
            <a:fillRect/>
          </a:stretch>
        </p:blipFill>
        <p:spPr bwMode="auto">
          <a:xfrm>
            <a:off x="1609432" y="2060442"/>
            <a:ext cx="5925136" cy="273711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Primary use is long haul telecommunication services. </a:t>
            </a:r>
          </a:p>
          <a:p>
            <a:r>
              <a:rPr lang="en-US" dirty="0" smtClean="0"/>
              <a:t>Micro wave transmission is commonly used for :</a:t>
            </a:r>
          </a:p>
          <a:p>
            <a:pPr>
              <a:buFontTx/>
              <a:buChar char="-"/>
            </a:pPr>
            <a:r>
              <a:rPr lang="en-US" dirty="0" smtClean="0"/>
              <a:t>voice </a:t>
            </a:r>
          </a:p>
          <a:p>
            <a:pPr>
              <a:buFontTx/>
              <a:buChar char="-"/>
            </a:pPr>
            <a:r>
              <a:rPr lang="en-US" dirty="0" smtClean="0"/>
              <a:t> television transmissions</a:t>
            </a:r>
          </a:p>
          <a:p>
            <a:pPr>
              <a:buFontTx/>
              <a:buChar char="-"/>
            </a:pPr>
            <a:r>
              <a:rPr lang="en-US" dirty="0" smtClean="0"/>
              <a:t> as well as in cellular systems. </a:t>
            </a:r>
          </a:p>
          <a:p>
            <a:pPr>
              <a:buNone/>
            </a:pP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smtClean="0"/>
              <a:t>Transmission characteristics</a:t>
            </a:r>
            <a:r>
              <a:rPr lang="en-US" b="1" dirty="0" smtClean="0"/>
              <a:t/>
            </a:r>
            <a:br>
              <a:rPr lang="en-US" b="1" dirty="0" smtClean="0"/>
            </a:br>
            <a:endParaRPr lang="en-US" dirty="0"/>
          </a:p>
        </p:txBody>
      </p:sp>
      <p:sp>
        <p:nvSpPr>
          <p:cNvPr id="3" name="Content Placeholder 2"/>
          <p:cNvSpPr>
            <a:spLocks noGrp="1"/>
          </p:cNvSpPr>
          <p:nvPr>
            <p:ph idx="1"/>
          </p:nvPr>
        </p:nvSpPr>
        <p:spPr/>
        <p:txBody>
          <a:bodyPr>
            <a:normAutofit fontScale="85000" lnSpcReduction="20000"/>
          </a:bodyPr>
          <a:lstStyle/>
          <a:p>
            <a:r>
              <a:rPr lang="en-GB" dirty="0" smtClean="0"/>
              <a:t>Common frequencies used for transmission is in the range of 1 to 40 GHz. </a:t>
            </a:r>
          </a:p>
          <a:p>
            <a:r>
              <a:rPr lang="en-GB" dirty="0" smtClean="0"/>
              <a:t>The higher the frequency used, the higher the potential bandwidth and the higher the potential data transfer rates</a:t>
            </a:r>
          </a:p>
          <a:p>
            <a:r>
              <a:rPr lang="en-GB" dirty="0" smtClean="0"/>
              <a:t>The main source of signal loss is attenuation.</a:t>
            </a:r>
          </a:p>
          <a:p>
            <a:r>
              <a:rPr lang="en-GB" dirty="0" smtClean="0"/>
              <a:t> For micro wave (and radio frequencies), the loss due to attenuation can be expressed using the formula:</a:t>
            </a:r>
            <a:endParaRPr lang="en-US" b="1" dirty="0" smtClean="0"/>
          </a:p>
          <a:p>
            <a:pPr>
              <a:buNone/>
            </a:pPr>
            <a:endParaRPr lang="en-US" b="1" dirty="0" smtClean="0"/>
          </a:p>
          <a:p>
            <a:r>
              <a:rPr lang="en-US" dirty="0" smtClean="0"/>
              <a:t>d is the distance and ƛ is the wavelength, in the same units. From the formula it is clear that loss due to attenuation varies as the square of the distance</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fontScale="85000" lnSpcReduction="10000"/>
          </a:bodyPr>
          <a:lstStyle/>
          <a:p>
            <a:pPr>
              <a:buNone/>
            </a:pPr>
            <a:r>
              <a:rPr lang="en-GB" dirty="0" smtClean="0"/>
              <a:t>For micro wave (and radio frequencies), the loss due to attenuation can be expressed using the formula:</a:t>
            </a:r>
          </a:p>
          <a:p>
            <a:pPr>
              <a:buNone/>
            </a:pPr>
            <a:r>
              <a:rPr lang="en-US" b="1" dirty="0" smtClean="0"/>
              <a:t>		</a:t>
            </a:r>
          </a:p>
          <a:p>
            <a:pPr>
              <a:buNone/>
            </a:pPr>
            <a:endParaRPr lang="en-US" dirty="0" smtClean="0"/>
          </a:p>
          <a:p>
            <a:pPr>
              <a:buNone/>
            </a:pPr>
            <a:endParaRPr lang="en-US" dirty="0" smtClean="0"/>
          </a:p>
          <a:p>
            <a:pPr>
              <a:buNone/>
            </a:pPr>
            <a:endParaRPr lang="en-US" dirty="0" smtClean="0"/>
          </a:p>
          <a:p>
            <a:pPr>
              <a:buNone/>
            </a:pPr>
            <a:r>
              <a:rPr lang="en-US" dirty="0" smtClean="0"/>
              <a:t>			</a:t>
            </a:r>
          </a:p>
          <a:p>
            <a:pPr>
              <a:buNone/>
            </a:pPr>
            <a:r>
              <a:rPr lang="en-US" dirty="0" smtClean="0"/>
              <a:t>	</a:t>
            </a:r>
            <a:r>
              <a:rPr lang="en-GB" dirty="0" smtClean="0"/>
              <a:t>d is the distance and ƛ is the wavelength, in the same units. From the formula it is clear that loss due to attenuation varies as the square of the distance.</a:t>
            </a:r>
            <a:endParaRPr lang="en-US" b="1" dirty="0" smtClean="0"/>
          </a:p>
          <a:p>
            <a:pPr>
              <a:buNone/>
            </a:pPr>
            <a:endParaRPr lang="en-US" dirty="0"/>
          </a:p>
        </p:txBody>
      </p:sp>
      <p:pic>
        <p:nvPicPr>
          <p:cNvPr id="5" name="Picture 4"/>
          <p:cNvPicPr/>
          <p:nvPr/>
        </p:nvPicPr>
        <p:blipFill>
          <a:blip r:embed="rId2" cstate="print"/>
          <a:srcRect l="21955" t="35674" r="46795" b="49719"/>
          <a:stretch>
            <a:fillRect/>
          </a:stretch>
        </p:blipFill>
        <p:spPr bwMode="auto">
          <a:xfrm>
            <a:off x="1600200" y="2590800"/>
            <a:ext cx="4800600" cy="1828800"/>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r>
              <a:rPr lang="en-GB" dirty="0" smtClean="0"/>
              <a:t>Repeaters or amplifiers may be placed further apart for micro wave systems for example between distances of 10-100 km depending on geographical locality</a:t>
            </a:r>
          </a:p>
          <a:p>
            <a:r>
              <a:rPr lang="en-GB" dirty="0" smtClean="0"/>
              <a:t>Attenuation is increased with rainfall and becomes very noticeable above 10 GHz. </a:t>
            </a:r>
          </a:p>
          <a:p>
            <a:r>
              <a:rPr lang="en-GB" dirty="0" smtClean="0"/>
              <a:t>One other source of impairment is interference. This becomes more so when the number of micro wave transmissions increases, since there is an overlap in the transmission areas and interferences becomes a real danger. </a:t>
            </a:r>
          </a:p>
          <a:p>
            <a:r>
              <a:rPr lang="en-GB" dirty="0" smtClean="0"/>
              <a:t>To minimize interference, the assignment of frequency bands is strictly regulated. The most common bands for long haul telecommunications are 4 GHz – 6 GHz. </a:t>
            </a:r>
            <a:endParaRPr lang="en-US" b="1" dirty="0" smtClean="0"/>
          </a:p>
          <a:p>
            <a:pPr>
              <a:buNone/>
            </a:pP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ZW" b="1" dirty="0" smtClean="0"/>
              <a:t>Satellite Transmission</a:t>
            </a:r>
            <a:r>
              <a:rPr lang="en-US" b="1" dirty="0" smtClean="0"/>
              <a:t/>
            </a:r>
            <a:br>
              <a:rPr lang="en-US" b="1" dirty="0" smtClean="0"/>
            </a:br>
            <a:endParaRPr lang="en-US" dirty="0"/>
          </a:p>
        </p:txBody>
      </p:sp>
      <p:sp>
        <p:nvSpPr>
          <p:cNvPr id="3" name="Content Placeholder 2"/>
          <p:cNvSpPr>
            <a:spLocks noGrp="1"/>
          </p:cNvSpPr>
          <p:nvPr>
            <p:ph idx="1"/>
          </p:nvPr>
        </p:nvSpPr>
        <p:spPr/>
        <p:txBody>
          <a:bodyPr>
            <a:normAutofit fontScale="92500"/>
          </a:bodyPr>
          <a:lstStyle/>
          <a:p>
            <a:r>
              <a:rPr lang="en-US" dirty="0" smtClean="0"/>
              <a:t>Satellite transmission makes it possible to relay the signal around the curve of the Earth.</a:t>
            </a:r>
          </a:p>
          <a:p>
            <a:r>
              <a:rPr lang="en-US" dirty="0" smtClean="0"/>
              <a:t> This in turn allows communication between widely separated points. </a:t>
            </a:r>
          </a:p>
          <a:p>
            <a:r>
              <a:rPr lang="en-US" dirty="0" smtClean="0"/>
              <a:t> Communications satellites use a wide range of radio and microwave frequencies and to avoid signal interference, international organizations have regulations for which frequency ranges or "bands" certain organizations are allowed to use. </a:t>
            </a:r>
          </a:p>
          <a:p>
            <a:pPr>
              <a:buNone/>
            </a:pP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GB" b="1" dirty="0" smtClean="0"/>
              <a:t>Types of satellites</a:t>
            </a:r>
            <a:r>
              <a:rPr lang="en-US" b="1" dirty="0" smtClean="0"/>
              <a:t/>
            </a:r>
            <a:br>
              <a:rPr lang="en-US" b="1" dirty="0" smtClean="0"/>
            </a:br>
            <a:endParaRPr lang="en-US" dirty="0"/>
          </a:p>
        </p:txBody>
      </p:sp>
      <p:sp>
        <p:nvSpPr>
          <p:cNvPr id="3" name="Content Placeholder 2"/>
          <p:cNvSpPr>
            <a:spLocks noGrp="1"/>
          </p:cNvSpPr>
          <p:nvPr>
            <p:ph idx="1"/>
          </p:nvPr>
        </p:nvSpPr>
        <p:spPr/>
        <p:txBody>
          <a:bodyPr/>
          <a:lstStyle/>
          <a:p>
            <a:pPr>
              <a:buNone/>
            </a:pPr>
            <a:r>
              <a:rPr lang="en-GB" dirty="0" smtClean="0"/>
              <a:t>Communications satellites are classified into three broad categories depending on their distance from the earth:</a:t>
            </a:r>
            <a:endParaRPr lang="en-US" b="1" dirty="0" smtClean="0"/>
          </a:p>
          <a:p>
            <a:pPr lvl="0"/>
            <a:r>
              <a:rPr lang="en-GB" dirty="0" smtClean="0"/>
              <a:t>Geostationary Earth Orbit (GEO) Altitude – 35785 ≈ 36,000 km</a:t>
            </a:r>
            <a:endParaRPr lang="en-US" b="1" dirty="0" smtClean="0"/>
          </a:p>
          <a:p>
            <a:pPr lvl="0"/>
            <a:r>
              <a:rPr lang="en-GB" dirty="0" smtClean="0"/>
              <a:t>Medium Earth Orbit (MEO) Altitude – 8000 – 18,000 km</a:t>
            </a:r>
            <a:endParaRPr lang="en-US" b="1" dirty="0" smtClean="0"/>
          </a:p>
          <a:p>
            <a:pPr lvl="0"/>
            <a:r>
              <a:rPr lang="en-GB" dirty="0" smtClean="0"/>
              <a:t>Low Earth Orbit (LEO) – Altitude up to 200 km</a:t>
            </a:r>
            <a:endParaRPr lang="en-US" b="1" dirty="0" smtClean="0"/>
          </a:p>
          <a:p>
            <a:pPr>
              <a:buNone/>
            </a:pP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GB" b="1" dirty="0" smtClean="0"/>
              <a:t>Geostationary Earth Orbit (GEO)</a:t>
            </a:r>
            <a:r>
              <a:rPr lang="en-US" b="1" dirty="0" smtClean="0"/>
              <a:t/>
            </a:r>
            <a:br>
              <a:rPr lang="en-US" b="1" dirty="0" smtClean="0"/>
            </a:b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The GEO satellites are positioned at 35,785 km or 22,236 miles above the earth and above the equator.</a:t>
            </a:r>
          </a:p>
          <a:p>
            <a:r>
              <a:rPr lang="en-US" dirty="0" smtClean="0"/>
              <a:t> At this position the earth’s force of gravity is cancelled by the centrifugal force of the rotating universe. </a:t>
            </a:r>
          </a:p>
          <a:p>
            <a:r>
              <a:rPr lang="en-US" dirty="0" smtClean="0"/>
              <a:t>This distance is approximately one tenth of the distance to the moon. At position, for one to understand how far this is, calculate the time for a round trip of a radio signal travelling at the speed of light (3 x 10</a:t>
            </a:r>
            <a:r>
              <a:rPr lang="en-US" baseline="30000" dirty="0" smtClean="0"/>
              <a:t>8 </a:t>
            </a:r>
            <a:r>
              <a:rPr lang="en-US" dirty="0" smtClean="0"/>
              <a:t> </a:t>
            </a:r>
            <a:r>
              <a:rPr lang="en-US" dirty="0" err="1" smtClean="0"/>
              <a:t>metres</a:t>
            </a:r>
            <a:r>
              <a:rPr lang="en-US" dirty="0" smtClean="0"/>
              <a:t> per second).</a:t>
            </a:r>
          </a:p>
          <a:p>
            <a:r>
              <a:rPr lang="en-US" dirty="0" smtClean="0"/>
              <a:t>Time for round trip = 2 x 35.8 x 10</a:t>
            </a:r>
            <a:r>
              <a:rPr lang="en-US" baseline="30000" dirty="0" smtClean="0"/>
              <a:t>6</a:t>
            </a:r>
            <a:r>
              <a:rPr lang="en-US" dirty="0" smtClean="0"/>
              <a:t> </a:t>
            </a:r>
            <a:r>
              <a:rPr lang="en-US" dirty="0" err="1" smtClean="0"/>
              <a:t>metres</a:t>
            </a:r>
            <a:r>
              <a:rPr lang="en-US" dirty="0" smtClean="0"/>
              <a:t> / 3 x 10</a:t>
            </a:r>
            <a:r>
              <a:rPr lang="en-US" baseline="30000" dirty="0" smtClean="0"/>
              <a:t>6</a:t>
            </a:r>
            <a:r>
              <a:rPr lang="en-US" dirty="0" smtClean="0"/>
              <a:t> </a:t>
            </a:r>
            <a:r>
              <a:rPr lang="en-US" dirty="0" err="1" smtClean="0"/>
              <a:t>metres</a:t>
            </a:r>
            <a:r>
              <a:rPr lang="en-US" dirty="0" smtClean="0"/>
              <a:t> = 0.238 sec</a:t>
            </a:r>
          </a:p>
          <a:p>
            <a:pPr>
              <a:buNone/>
            </a:pP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pPr>
              <a:buNone/>
            </a:pPr>
            <a:r>
              <a:rPr lang="en-US" dirty="0" smtClean="0"/>
              <a:t>Time for round trip = 2 x 35.8 x 10</a:t>
            </a:r>
            <a:r>
              <a:rPr lang="en-US" baseline="30000" dirty="0" smtClean="0"/>
              <a:t>6</a:t>
            </a:r>
            <a:r>
              <a:rPr lang="en-US" dirty="0" smtClean="0"/>
              <a:t> </a:t>
            </a:r>
            <a:r>
              <a:rPr lang="en-US" dirty="0" err="1" smtClean="0"/>
              <a:t>metres</a:t>
            </a:r>
            <a:r>
              <a:rPr lang="en-US" dirty="0" smtClean="0"/>
              <a:t> / 3 x 10</a:t>
            </a:r>
            <a:r>
              <a:rPr lang="en-US" baseline="30000" dirty="0" smtClean="0"/>
              <a:t>6</a:t>
            </a:r>
            <a:r>
              <a:rPr lang="en-US" dirty="0" smtClean="0"/>
              <a:t> </a:t>
            </a:r>
            <a:r>
              <a:rPr lang="en-US" dirty="0" err="1" smtClean="0"/>
              <a:t>metres</a:t>
            </a:r>
            <a:r>
              <a:rPr lang="en-US" dirty="0" smtClean="0"/>
              <a:t> = 0.238 sec</a:t>
            </a:r>
          </a:p>
          <a:p>
            <a:pPr>
              <a:buNone/>
            </a:pPr>
            <a:endParaRPr lang="en-US" dirty="0" smtClean="0"/>
          </a:p>
          <a:p>
            <a:pPr>
              <a:buNone/>
            </a:pPr>
            <a:endParaRPr lang="en-US" dirty="0" smtClean="0"/>
          </a:p>
          <a:p>
            <a:pPr>
              <a:buNone/>
            </a:pPr>
            <a:endParaRPr lang="en-US" dirty="0" smtClean="0"/>
          </a:p>
          <a:p>
            <a:pPr>
              <a:buNone/>
            </a:pPr>
            <a:r>
              <a:rPr lang="en-US" dirty="0" smtClean="0"/>
              <a:t>			</a:t>
            </a:r>
            <a:endParaRPr lang="en-US" dirty="0"/>
          </a:p>
        </p:txBody>
      </p:sp>
      <p:pic>
        <p:nvPicPr>
          <p:cNvPr id="4" name="img" descr="http://2.bp.blogspot.com/_fqqfLCCd9WU/SwfVHImY-rI/AAAAAAAAAFc/q1kj2YrBpaQ/s1600/wsatlink.gif"/>
          <p:cNvPicPr/>
          <p:nvPr/>
        </p:nvPicPr>
        <p:blipFill>
          <a:blip r:embed="rId2" cstate="print"/>
          <a:srcRect/>
          <a:stretch>
            <a:fillRect/>
          </a:stretch>
        </p:blipFill>
        <p:spPr bwMode="auto">
          <a:xfrm>
            <a:off x="2133600" y="2962275"/>
            <a:ext cx="5172075" cy="3895725"/>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dirty="0" smtClean="0"/>
              <a:t/>
            </a:r>
            <a:br>
              <a:rPr lang="en-US" dirty="0" smtClean="0"/>
            </a:br>
            <a:r>
              <a:rPr lang="en-US" dirty="0" smtClean="0"/>
              <a:t/>
            </a:r>
            <a:br>
              <a:rPr lang="en-US" dirty="0" smtClean="0"/>
            </a:br>
            <a:r>
              <a:rPr lang="en-GB" b="1" dirty="0" smtClean="0"/>
              <a:t>Components of a GEO satellite and their functions</a:t>
            </a:r>
            <a:r>
              <a:rPr lang="en-US" b="1" dirty="0" smtClean="0"/>
              <a:t/>
            </a:r>
            <a:br>
              <a:rPr lang="en-US" b="1" dirty="0" smtClean="0"/>
            </a:br>
            <a:r>
              <a:rPr lang="en-US" dirty="0" smtClean="0"/>
              <a:t/>
            </a:r>
            <a:br>
              <a:rPr lang="en-US" dirty="0" smtClean="0"/>
            </a:b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62500" lnSpcReduction="20000"/>
          </a:bodyPr>
          <a:lstStyle/>
          <a:p>
            <a:r>
              <a:rPr lang="en-GB" dirty="0" smtClean="0"/>
              <a:t>A GEO satellite has the following components:</a:t>
            </a:r>
            <a:endParaRPr lang="en-US" b="1" dirty="0" smtClean="0"/>
          </a:p>
          <a:p>
            <a:pPr lvl="0"/>
            <a:r>
              <a:rPr lang="en-GB" dirty="0" smtClean="0"/>
              <a:t>Communications system: - this includes antennas and transponders that receive and re- transmit signals</a:t>
            </a:r>
            <a:endParaRPr lang="en-US" b="1" dirty="0" smtClean="0"/>
          </a:p>
          <a:p>
            <a:pPr lvl="0"/>
            <a:r>
              <a:rPr lang="en-GB" dirty="0" smtClean="0"/>
              <a:t>Power system: - this includes solar panels that provide power</a:t>
            </a:r>
            <a:endParaRPr lang="en-US" b="1" dirty="0" smtClean="0"/>
          </a:p>
          <a:p>
            <a:pPr lvl="0"/>
            <a:r>
              <a:rPr lang="en-GB" dirty="0" smtClean="0"/>
              <a:t>Propulsion system: - includes the rockets that propel the satellite. A satellite needs its own propulsion system to get itself to the right orbital location and to make occasional corrections to that position. This is because a satellite in geostationary orbit can deviate up to a degree every year from north to south or east to west of its location because of the gravitational pull of the moon and sun. Satellite operation life span is determined by the amount of fuel it has to power thrusters which are used to maintain the satellite’s orbital position. When the fuel runs out, the satellite drifts into space and out of operation and becomes space debris. The satellite needs internal power to be able to operate its electronic systems and communication payload. Main source of power is sunlight which is harnessed by the satellite solar panels.</a:t>
            </a:r>
            <a:endParaRPr lang="en-US" b="1" dirty="0" smtClean="0"/>
          </a:p>
          <a:p>
            <a:pPr>
              <a:buNone/>
            </a:pP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lvl="0"/>
            <a:r>
              <a:rPr lang="en-GB" dirty="0" smtClean="0"/>
              <a:t>Batteries: - these are used to provide power to the satellite when the sun is blocked by the earth.  The batteries are charged by the excess current generated by the solar panels when there is sunlight.</a:t>
            </a:r>
            <a:endParaRPr lang="en-US" b="1" dirty="0" smtClean="0"/>
          </a:p>
          <a:p>
            <a:pPr lvl="0"/>
            <a:r>
              <a:rPr lang="en-GB" dirty="0" smtClean="0"/>
              <a:t>Thermal system:- used protect sensitive electronic and mechanical components from extreme changes  in temperature by activating cooling mechanisms when its gets too hot or heating systems when it gets too cold </a:t>
            </a:r>
            <a:r>
              <a:rPr lang="en-GB" b="1" dirty="0" smtClean="0"/>
              <a:t>(Comer, 2009).</a:t>
            </a:r>
            <a:endParaRPr lang="en-US" b="1" dirty="0" smtClean="0"/>
          </a:p>
          <a:p>
            <a:pPr>
              <a:buNone/>
            </a:pP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GB" b="1" dirty="0" smtClean="0"/>
              <a:t>GEO coverage of the earth</a:t>
            </a:r>
            <a:r>
              <a:rPr lang="en-US" b="1" dirty="0" smtClean="0"/>
              <a:t/>
            </a:r>
            <a:br>
              <a:rPr lang="en-US" b="1" dirty="0" smtClean="0"/>
            </a:br>
            <a:endParaRPr lang="en-US" dirty="0"/>
          </a:p>
        </p:txBody>
      </p:sp>
      <p:sp>
        <p:nvSpPr>
          <p:cNvPr id="3" name="Content Placeholder 2"/>
          <p:cNvSpPr>
            <a:spLocks noGrp="1"/>
          </p:cNvSpPr>
          <p:nvPr>
            <p:ph idx="1"/>
          </p:nvPr>
        </p:nvSpPr>
        <p:spPr/>
        <p:txBody>
          <a:bodyPr>
            <a:normAutofit fontScale="70000" lnSpcReduction="20000"/>
          </a:bodyPr>
          <a:lstStyle/>
          <a:p>
            <a:pPr>
              <a:buFontTx/>
              <a:buChar char="-"/>
            </a:pPr>
            <a:r>
              <a:rPr lang="en-US" dirty="0" smtClean="0"/>
              <a:t>limited amount of space available in the geosynchronous orbit above the equator</a:t>
            </a:r>
          </a:p>
          <a:p>
            <a:pPr>
              <a:buFontTx/>
              <a:buChar char="-"/>
            </a:pPr>
            <a:r>
              <a:rPr lang="en-US" dirty="0" smtClean="0"/>
              <a:t> limits the number of GEO satellite that can be used to cover the earth. </a:t>
            </a:r>
          </a:p>
          <a:p>
            <a:pPr>
              <a:buFontTx/>
              <a:buChar char="-"/>
            </a:pPr>
            <a:r>
              <a:rPr lang="en-US" dirty="0" smtClean="0"/>
              <a:t>reason for this is that communication satellite using a given frequency must be separated from one another to avoid interference. </a:t>
            </a:r>
          </a:p>
          <a:p>
            <a:pPr>
              <a:buFontTx/>
              <a:buChar char="-"/>
            </a:pPr>
            <a:r>
              <a:rPr lang="en-US" dirty="0" smtClean="0"/>
              <a:t>minimum separation depends on the power of the transmitters but may require angular separation of between 4 and 8 degrees.</a:t>
            </a:r>
          </a:p>
          <a:p>
            <a:pPr>
              <a:buFontTx/>
              <a:buChar char="-"/>
            </a:pPr>
            <a:r>
              <a:rPr lang="en-US" dirty="0" smtClean="0"/>
              <a:t>the entire 360 degree circle above the equator can only hold 45 to 90 satellites. </a:t>
            </a:r>
          </a:p>
          <a:p>
            <a:pPr>
              <a:buFontTx/>
              <a:buChar char="-"/>
            </a:pPr>
            <a:r>
              <a:rPr lang="en-US" dirty="0" smtClean="0"/>
              <a:t>minimum number of GEO satellites to cover the earth is three (3). If the satellites are positioned around the equator with 120 degrees then 360/120 = 3. (See figure below)</a:t>
            </a:r>
          </a:p>
          <a:p>
            <a:pPr>
              <a:buNone/>
            </a:pP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pPr>
              <a:buNone/>
            </a:pPr>
            <a:endParaRPr lang="en-US" dirty="0" smtClean="0"/>
          </a:p>
          <a:p>
            <a:pPr>
              <a:buNone/>
            </a:pPr>
            <a:endParaRPr lang="en-US" dirty="0" smtClean="0"/>
          </a:p>
          <a:p>
            <a:pPr>
              <a:buNone/>
            </a:pPr>
            <a:endParaRPr lang="en-US" dirty="0" smtClean="0"/>
          </a:p>
          <a:p>
            <a:pPr>
              <a:buNone/>
            </a:pPr>
            <a:r>
              <a:rPr lang="en-US" dirty="0" smtClean="0"/>
              <a:t>		</a:t>
            </a:r>
            <a:endParaRPr lang="en-US" dirty="0"/>
          </a:p>
        </p:txBody>
      </p:sp>
      <p:pic>
        <p:nvPicPr>
          <p:cNvPr id="4" name="yui_3_5_1_1_1497367705722_1662" descr="https://tse3.mm.bing.net/th?id=OIP.RPHa_ufde2M-a6ip2wYgkAEsCX&amp;pid=15.1&amp;P=0&amp;w=338&amp;h=172"/>
          <p:cNvPicPr/>
          <p:nvPr/>
        </p:nvPicPr>
        <p:blipFill>
          <a:blip r:embed="rId2" cstate="print"/>
          <a:srcRect/>
          <a:stretch>
            <a:fillRect/>
          </a:stretch>
        </p:blipFill>
        <p:spPr bwMode="auto">
          <a:xfrm>
            <a:off x="685800" y="1524000"/>
            <a:ext cx="7010399" cy="3886199"/>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smtClean="0"/>
              <a:t>Advantages and disadvantages of GEO</a:t>
            </a:r>
            <a:r>
              <a:rPr lang="en-US" b="1" dirty="0" smtClean="0"/>
              <a:t/>
            </a:r>
            <a:br>
              <a:rPr lang="en-US" b="1" dirty="0" smtClean="0"/>
            </a:br>
            <a:endParaRPr lang="en-US" dirty="0"/>
          </a:p>
        </p:txBody>
      </p:sp>
      <p:sp>
        <p:nvSpPr>
          <p:cNvPr id="3" name="Content Placeholder 2"/>
          <p:cNvSpPr>
            <a:spLocks noGrp="1"/>
          </p:cNvSpPr>
          <p:nvPr>
            <p:ph idx="1"/>
          </p:nvPr>
        </p:nvSpPr>
        <p:spPr/>
        <p:txBody>
          <a:bodyPr/>
          <a:lstStyle/>
          <a:p>
            <a:pPr lvl="0"/>
            <a:r>
              <a:rPr lang="en-GB" dirty="0" smtClean="0"/>
              <a:t>High data transfer rates because of high bandwidth</a:t>
            </a:r>
            <a:endParaRPr lang="en-US" b="1" dirty="0" smtClean="0"/>
          </a:p>
          <a:p>
            <a:pPr lvl="0"/>
            <a:r>
              <a:rPr lang="en-GB" dirty="0" smtClean="0"/>
              <a:t>Cost is independent of distance</a:t>
            </a:r>
            <a:endParaRPr lang="en-US" b="1" dirty="0" smtClean="0"/>
          </a:p>
          <a:p>
            <a:pPr lvl="0"/>
            <a:r>
              <a:rPr lang="en-GB" dirty="0" smtClean="0"/>
              <a:t>Coverage area exceeds terrestrial systems</a:t>
            </a:r>
            <a:endParaRPr lang="en-US" b="1" dirty="0" smtClean="0"/>
          </a:p>
          <a:p>
            <a:pPr lvl="0">
              <a:buNone/>
            </a:pPr>
            <a:r>
              <a:rPr lang="en-GB" dirty="0" smtClean="0"/>
              <a:t>Satellite to satellite communication is very precise</a:t>
            </a:r>
            <a:endParaRPr lang="en-US" b="1" dirty="0" smtClean="0"/>
          </a:p>
          <a:p>
            <a:pPr>
              <a:buNone/>
            </a:pP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GB" b="1" dirty="0" smtClean="0"/>
              <a:t>Disadvantages</a:t>
            </a:r>
            <a:endParaRPr lang="en-US" b="1" dirty="0" smtClean="0"/>
          </a:p>
          <a:p>
            <a:pPr lvl="0"/>
            <a:r>
              <a:rPr lang="en-GB" dirty="0" smtClean="0"/>
              <a:t>Propagation delays and weak signals</a:t>
            </a:r>
            <a:endParaRPr lang="en-US" b="1" dirty="0" smtClean="0"/>
          </a:p>
          <a:p>
            <a:pPr lvl="0"/>
            <a:r>
              <a:rPr lang="en-GB" dirty="0" smtClean="0"/>
              <a:t>Expensive to implement and launch. The cost depend on distance and weight</a:t>
            </a:r>
            <a:endParaRPr lang="en-US" b="1" dirty="0" smtClean="0"/>
          </a:p>
          <a:p>
            <a:pPr lvl="0"/>
            <a:r>
              <a:rPr lang="en-GB" dirty="0" smtClean="0"/>
              <a:t>GEO satellite, centred above the equator have difficulty broadcasting signals near polar regions</a:t>
            </a:r>
            <a:endParaRPr lang="en-US" b="1" dirty="0" smtClean="0"/>
          </a:p>
          <a:p>
            <a:pPr lvl="0"/>
            <a:r>
              <a:rPr lang="en-GB" dirty="0" smtClean="0"/>
              <a:t>Affected by snow and rain</a:t>
            </a:r>
            <a:endParaRPr lang="en-US" b="1" dirty="0" smtClean="0"/>
          </a:p>
          <a:p>
            <a:pPr>
              <a:buNone/>
            </a:pP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GB" b="1" dirty="0" smtClean="0"/>
              <a:t>Low Earth Orbit (LEO)</a:t>
            </a:r>
            <a:r>
              <a:rPr lang="en-US" b="1" dirty="0" smtClean="0"/>
              <a:t/>
            </a:r>
            <a:br>
              <a:rPr lang="en-US" b="1" dirty="0" smtClean="0"/>
            </a:br>
            <a:endParaRPr lang="en-US" dirty="0"/>
          </a:p>
        </p:txBody>
      </p:sp>
      <p:sp>
        <p:nvSpPr>
          <p:cNvPr id="3" name="Content Placeholder 2"/>
          <p:cNvSpPr>
            <a:spLocks noGrp="1"/>
          </p:cNvSpPr>
          <p:nvPr>
            <p:ph idx="1"/>
          </p:nvPr>
        </p:nvSpPr>
        <p:spPr/>
        <p:txBody>
          <a:bodyPr/>
          <a:lstStyle/>
          <a:p>
            <a:r>
              <a:rPr lang="en-GB" dirty="0" smtClean="0"/>
              <a:t>Leo is the primary alternative to GEO. </a:t>
            </a:r>
          </a:p>
          <a:p>
            <a:r>
              <a:rPr lang="en-GB" dirty="0" smtClean="0"/>
              <a:t>The altitudes are up to 200 km and they use a general technique known as clustering or array deployment. </a:t>
            </a:r>
          </a:p>
          <a:p>
            <a:r>
              <a:rPr lang="en-GB" dirty="0" smtClean="0"/>
              <a:t>A group of Leo’s are designed to work together and members of a group stay in communication and agree to send messages as agreed.</a:t>
            </a:r>
            <a:endParaRPr lang="en-US" b="1" dirty="0" smtClean="0"/>
          </a:p>
          <a:p>
            <a:pPr>
              <a:buNone/>
            </a:pP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endParaRPr lang="en-US" dirty="0" smtClean="0"/>
          </a:p>
          <a:p>
            <a:pPr>
              <a:buNone/>
            </a:pPr>
            <a:endParaRPr lang="en-US" dirty="0" smtClean="0"/>
          </a:p>
          <a:p>
            <a:pPr>
              <a:buNone/>
            </a:pPr>
            <a:endParaRPr lang="en-US" dirty="0" smtClean="0"/>
          </a:p>
          <a:p>
            <a:pPr>
              <a:buNone/>
            </a:pPr>
            <a:endParaRPr lang="en-US" dirty="0"/>
          </a:p>
        </p:txBody>
      </p:sp>
      <p:pic>
        <p:nvPicPr>
          <p:cNvPr id="4" name="img" descr="http://i.ytimg.com/vi/m2WrY1GdQ74/maxresdefault.jpg"/>
          <p:cNvPicPr/>
          <p:nvPr/>
        </p:nvPicPr>
        <p:blipFill>
          <a:blip r:embed="rId2" cstate="print"/>
          <a:srcRect/>
          <a:stretch>
            <a:fillRect/>
          </a:stretch>
        </p:blipFill>
        <p:spPr bwMode="auto">
          <a:xfrm>
            <a:off x="533400" y="1447800"/>
            <a:ext cx="7467600" cy="47244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buNone/>
            </a:pPr>
            <a:endParaRPr lang="en-US" dirty="0" smtClean="0"/>
          </a:p>
          <a:p>
            <a:r>
              <a:rPr lang="en-US" dirty="0" smtClean="0"/>
              <a:t>MEO is an orbit that lies between 8000 and 18000 k m above the earth’s surface. These satellites are similar to LEO in terms of functionality and a visible for much longer periods compared to LEO and have a larger coverage area.</a:t>
            </a:r>
          </a:p>
          <a:p>
            <a:pPr>
              <a:buNone/>
            </a:pP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GB" b="1" dirty="0" smtClean="0"/>
              <a:t>Medium Earth Orbit (MEO)</a:t>
            </a:r>
            <a:endParaRPr lang="en-US" dirty="0"/>
          </a:p>
        </p:txBody>
      </p:sp>
      <p:sp>
        <p:nvSpPr>
          <p:cNvPr id="3" name="Content Placeholder 2"/>
          <p:cNvSpPr>
            <a:spLocks noGrp="1"/>
          </p:cNvSpPr>
          <p:nvPr>
            <p:ph idx="1"/>
          </p:nvPr>
        </p:nvSpPr>
        <p:spPr/>
        <p:txBody>
          <a:bodyPr>
            <a:normAutofit fontScale="62500" lnSpcReduction="20000"/>
          </a:bodyPr>
          <a:lstStyle/>
          <a:p>
            <a:pPr>
              <a:buNone/>
            </a:pPr>
            <a:r>
              <a:rPr lang="en-US" dirty="0" smtClean="0"/>
              <a:t>Most communication applications use LEO satellites because it takes less energy to place the satellites into LEO and they use less powerful amplifiers for successful transmission. </a:t>
            </a:r>
          </a:p>
          <a:p>
            <a:pPr>
              <a:buNone/>
            </a:pPr>
            <a:r>
              <a:rPr lang="en-US" b="1" dirty="0" smtClean="0"/>
              <a:t>Advantages of LEO</a:t>
            </a:r>
            <a:endParaRPr lang="en-US" dirty="0" smtClean="0"/>
          </a:p>
          <a:p>
            <a:pPr lvl="0">
              <a:buFontTx/>
              <a:buChar char="-"/>
            </a:pPr>
            <a:r>
              <a:rPr lang="en-US" dirty="0" smtClean="0"/>
              <a:t>They have better signal strength compared to GEO</a:t>
            </a:r>
          </a:p>
          <a:p>
            <a:pPr lvl="0">
              <a:buNone/>
            </a:pPr>
            <a:r>
              <a:rPr lang="en-US" dirty="0" smtClean="0"/>
              <a:t>-     There is less time delay and this makes it better for point to point communication</a:t>
            </a:r>
          </a:p>
          <a:p>
            <a:pPr lvl="0">
              <a:buNone/>
            </a:pPr>
            <a:r>
              <a:rPr lang="en-US" dirty="0" smtClean="0"/>
              <a:t>-	There have a smaller area of coverage compared to GEO, so there is less wastage of bandwidth</a:t>
            </a:r>
          </a:p>
          <a:p>
            <a:pPr>
              <a:buNone/>
            </a:pPr>
            <a:r>
              <a:rPr lang="en-US" b="1" dirty="0" smtClean="0"/>
              <a:t>Disadvantages of LEO</a:t>
            </a:r>
            <a:endParaRPr lang="en-US" dirty="0" smtClean="0"/>
          </a:p>
          <a:p>
            <a:pPr lvl="0">
              <a:buNone/>
            </a:pPr>
            <a:r>
              <a:rPr lang="en-US" dirty="0" smtClean="0"/>
              <a:t>- A network of Leo of LEO satellites is needed which can be costly</a:t>
            </a:r>
          </a:p>
          <a:p>
            <a:pPr>
              <a:buNone/>
            </a:pPr>
            <a:r>
              <a:rPr lang="en-US" dirty="0" smtClean="0"/>
              <a:t> transmitting or receiving data from low earth orbit (LEO) satellites requires correcting the frequency in response to the motion of the satellite with respect to the observer (Doppler shift). </a:t>
            </a:r>
          </a:p>
          <a:p>
            <a:pPr>
              <a:buNone/>
            </a:pPr>
            <a:r>
              <a:rPr lang="en-US" dirty="0" smtClean="0"/>
              <a:t>(- an apparent </a:t>
            </a:r>
            <a:r>
              <a:rPr lang="en-US" b="1" dirty="0" smtClean="0"/>
              <a:t>shift</a:t>
            </a:r>
            <a:r>
              <a:rPr lang="en-US" dirty="0" smtClean="0"/>
              <a:t> in frequency for a sound wave produced by a moving source)  </a:t>
            </a:r>
          </a:p>
          <a:p>
            <a:pPr>
              <a:buNone/>
            </a:pP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smtClean="0"/>
              <a:t>			</a:t>
            </a:r>
          </a:p>
          <a:p>
            <a:pPr>
              <a:buNone/>
            </a:pPr>
            <a:endParaRPr lang="en-US" dirty="0" smtClean="0"/>
          </a:p>
          <a:p>
            <a:pPr>
              <a:buNone/>
            </a:pPr>
            <a:endParaRPr lang="en-US" dirty="0" smtClean="0"/>
          </a:p>
          <a:p>
            <a:pPr>
              <a:buNone/>
            </a:pPr>
            <a:r>
              <a:rPr lang="en-US" dirty="0" smtClean="0"/>
              <a:t>		</a:t>
            </a:r>
            <a:endParaRPr lang="en-US" dirty="0"/>
          </a:p>
        </p:txBody>
      </p:sp>
      <p:pic>
        <p:nvPicPr>
          <p:cNvPr id="4" name="img" descr="http://img.scoop.it/KjbEp29IawMUW7BZN-18iTl72eJkfbmt4t8yenImKBVvK0kTmF0xjctABnaLJIm9"/>
          <p:cNvPicPr/>
          <p:nvPr/>
        </p:nvPicPr>
        <p:blipFill>
          <a:blip r:embed="rId2" cstate="print"/>
          <a:srcRect/>
          <a:stretch>
            <a:fillRect/>
          </a:stretch>
        </p:blipFill>
        <p:spPr bwMode="auto">
          <a:xfrm>
            <a:off x="1676400" y="1447800"/>
            <a:ext cx="5486399" cy="3505200"/>
          </a:xfrm>
          <a:prstGeom prst="rect">
            <a:avLst/>
          </a:prstGeom>
          <a:noFill/>
          <a:ln w="9525">
            <a:noFill/>
            <a:miter lim="800000"/>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pPr>
              <a:buNone/>
            </a:pPr>
            <a:endParaRPr lang="en-US" dirty="0" smtClean="0"/>
          </a:p>
          <a:p>
            <a:pPr>
              <a:buNone/>
            </a:pPr>
            <a:endParaRPr lang="en-US" dirty="0" smtClean="0"/>
          </a:p>
          <a:p>
            <a:pPr>
              <a:buNone/>
            </a:pPr>
            <a:r>
              <a:rPr lang="en-US" b="1" dirty="0" smtClean="0"/>
              <a:t> Advantages of MEO</a:t>
            </a:r>
            <a:endParaRPr lang="en-US" dirty="0" smtClean="0"/>
          </a:p>
          <a:p>
            <a:pPr lvl="0"/>
            <a:r>
              <a:rPr lang="en-US" dirty="0" smtClean="0"/>
              <a:t>Longer duration of visibility and a wide footprint</a:t>
            </a:r>
          </a:p>
          <a:p>
            <a:pPr lvl="0"/>
            <a:r>
              <a:rPr lang="en-US" dirty="0" smtClean="0"/>
              <a:t>Maintains a footprint suitable for regional networks</a:t>
            </a:r>
          </a:p>
          <a:p>
            <a:pPr>
              <a:buNone/>
            </a:pPr>
            <a:r>
              <a:rPr lang="en-US" dirty="0" smtClean="0"/>
              <a:t> </a:t>
            </a:r>
          </a:p>
          <a:p>
            <a:pPr>
              <a:buNone/>
            </a:pPr>
            <a:r>
              <a:rPr lang="en-US" b="1" dirty="0" smtClean="0"/>
              <a:t>Disadvantages</a:t>
            </a:r>
            <a:endParaRPr lang="en-US" dirty="0" smtClean="0"/>
          </a:p>
          <a:p>
            <a:pPr lvl="0"/>
            <a:r>
              <a:rPr lang="en-US" dirty="0" smtClean="0"/>
              <a:t>Longer time delay compared to LEO</a:t>
            </a:r>
          </a:p>
          <a:p>
            <a:pPr lvl="0"/>
            <a:r>
              <a:rPr lang="en-US" dirty="0" smtClean="0"/>
              <a:t>Weaker signal compared to LEO</a:t>
            </a:r>
          </a:p>
          <a:p>
            <a:pPr>
              <a:buNone/>
            </a:pPr>
            <a:r>
              <a:rPr lang="en-US" b="1" dirty="0" smtClean="0"/>
              <a:t> </a:t>
            </a:r>
            <a:endParaRPr lang="en-US" dirty="0" smtClean="0"/>
          </a:p>
          <a:p>
            <a:pPr>
              <a:buNone/>
            </a:pP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204</TotalTime>
  <Words>1523</Words>
  <Application>Microsoft Office PowerPoint</Application>
  <PresentationFormat>On-screen Show (4:3)</PresentationFormat>
  <Paragraphs>159</Paragraphs>
  <Slides>32</Slides>
  <Notes>0</Notes>
  <HiddenSlides>0</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Office Theme</vt:lpstr>
      <vt:lpstr>Lecture 4 UNGUIDED TRANSMISSION </vt:lpstr>
      <vt:lpstr>Slide 2</vt:lpstr>
      <vt:lpstr>Slide 3</vt:lpstr>
      <vt:lpstr>Omnidirectional </vt:lpstr>
      <vt:lpstr>Subdivisions of wireless transmission </vt:lpstr>
      <vt:lpstr>Slide 6</vt:lpstr>
      <vt:lpstr>Slide 7</vt:lpstr>
      <vt:lpstr>Slide 8</vt:lpstr>
      <vt:lpstr>Slide 9</vt:lpstr>
      <vt:lpstr>Terrestrial Micro wave Transmission </vt:lpstr>
      <vt:lpstr>Slide 11</vt:lpstr>
      <vt:lpstr>Slide 12</vt:lpstr>
      <vt:lpstr>Transmission characteristics </vt:lpstr>
      <vt:lpstr>Slide 14</vt:lpstr>
      <vt:lpstr>Slide 15</vt:lpstr>
      <vt:lpstr>Satellite Transmission </vt:lpstr>
      <vt:lpstr>Types of satellites </vt:lpstr>
      <vt:lpstr>Geostationary Earth Orbit (GEO) </vt:lpstr>
      <vt:lpstr>Slide 19</vt:lpstr>
      <vt:lpstr>   Components of a GEO satellite and their functions   </vt:lpstr>
      <vt:lpstr>Slide 21</vt:lpstr>
      <vt:lpstr>GEO coverage of the earth </vt:lpstr>
      <vt:lpstr>Slide 23</vt:lpstr>
      <vt:lpstr>Advantages and disadvantages of GEO </vt:lpstr>
      <vt:lpstr>Slide 25</vt:lpstr>
      <vt:lpstr>Low Earth Orbit (LEO) </vt:lpstr>
      <vt:lpstr>Slide 27</vt:lpstr>
      <vt:lpstr>Slide 28</vt:lpstr>
      <vt:lpstr>Medium Earth Orbit (MEO)</vt:lpstr>
      <vt:lpstr>Slide 30</vt:lpstr>
      <vt:lpstr>Slide 31</vt:lpstr>
      <vt:lpstr>Slide 32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4 UNGUIDED TRANSMISSION</dc:title>
  <dc:creator>langstone.shumba</dc:creator>
  <cp:lastModifiedBy>langstone.shumba</cp:lastModifiedBy>
  <cp:revision>13</cp:revision>
  <dcterms:created xsi:type="dcterms:W3CDTF">2017-09-06T14:01:04Z</dcterms:created>
  <dcterms:modified xsi:type="dcterms:W3CDTF">2017-09-07T14:19:48Z</dcterms:modified>
</cp:coreProperties>
</file>