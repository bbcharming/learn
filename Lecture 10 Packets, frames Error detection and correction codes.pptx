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5FF6B8-FDD1-416D-AE35-70E87CE0452A}" type="datetimeFigureOut">
              <a:rPr lang="en-US" smtClean="0"/>
              <a:pPr/>
              <a:t>4/15/2020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7B5C0B1-4473-4152-81A5-7170656B05D9}" type="slidenum">
              <a:rPr lang="en-US" smtClean="0"/>
              <a:pPr/>
              <a:t>‹#›</a:t>
            </a:fld>
            <a:endParaRPr lang="en-US"/>
          </a:p>
        </p:txBody>
      </p:sp>
    </p:spTree>
    <p:extLst>
      <p:ext uri="{BB962C8B-B14F-4D97-AF65-F5344CB8AC3E}">
        <p14:creationId xmlns:p14="http://schemas.microsoft.com/office/powerpoint/2010/main" val="3160129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7B5C0B1-4473-4152-81A5-7170656B05D9}" type="slidenum">
              <a:rPr lang="en-US" smtClean="0"/>
              <a:pPr/>
              <a:t>20</a:t>
            </a:fld>
            <a:endParaRPr lang="en-US"/>
          </a:p>
        </p:txBody>
      </p:sp>
    </p:spTree>
    <p:extLst>
      <p:ext uri="{BB962C8B-B14F-4D97-AF65-F5344CB8AC3E}">
        <p14:creationId xmlns:p14="http://schemas.microsoft.com/office/powerpoint/2010/main" val="13253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9B97C1F6-7B1A-48C2-822D-AFA81163B547}" type="datetimeFigureOut">
              <a:rPr lang="en-US" smtClean="0"/>
              <a:pPr/>
              <a:t>4/15/2020</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E64A6347-0E05-4CF0-8713-F8B56B95317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B97C1F6-7B1A-48C2-822D-AFA81163B547}" type="datetimeFigureOut">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A6347-0E05-4CF0-8713-F8B56B95317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B97C1F6-7B1A-48C2-822D-AFA81163B547}" type="datetimeFigureOut">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A6347-0E05-4CF0-8713-F8B56B95317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B97C1F6-7B1A-48C2-822D-AFA81163B547}" type="datetimeFigureOut">
              <a:rPr lang="en-US" smtClean="0"/>
              <a:pPr/>
              <a:t>4/15/2020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4A6347-0E05-4CF0-8713-F8B56B95317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9B97C1F6-7B1A-48C2-822D-AFA81163B547}" type="datetimeFigureOut">
              <a:rPr lang="en-US" smtClean="0"/>
              <a:pPr/>
              <a:t>4/15/2020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4A6347-0E05-4CF0-8713-F8B56B95317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B97C1F6-7B1A-48C2-822D-AFA81163B547}" type="datetimeFigureOut">
              <a:rPr lang="en-US" smtClean="0"/>
              <a:pPr/>
              <a:t>4/15/2020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4A6347-0E05-4CF0-8713-F8B56B95317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97C1F6-7B1A-48C2-822D-AFA81163B547}" type="datetimeFigureOut">
              <a:rPr lang="en-US" smtClean="0"/>
              <a:pPr/>
              <a:t>4/15/2020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4A6347-0E05-4CF0-8713-F8B56B95317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B97C1F6-7B1A-48C2-822D-AFA81163B547}" type="datetimeFigureOut">
              <a:rPr lang="en-US" smtClean="0"/>
              <a:pPr/>
              <a:t>4/15/2020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4A6347-0E05-4CF0-8713-F8B56B95317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9B97C1F6-7B1A-48C2-822D-AFA81163B547}" type="datetimeFigureOut">
              <a:rPr lang="en-US" smtClean="0"/>
              <a:pPr/>
              <a:t>4/15/2020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E64A6347-0E05-4CF0-8713-F8B56B953172}"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B97C1F6-7B1A-48C2-822D-AFA81163B547}" type="datetimeFigureOut">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A6347-0E05-4CF0-8713-F8B56B95317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B97C1F6-7B1A-48C2-822D-AFA81163B547}" type="datetimeFigureOut">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A6347-0E05-4CF0-8713-F8B56B95317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9B97C1F6-7B1A-48C2-822D-AFA81163B547}" type="datetimeFigureOut">
              <a:rPr lang="en-US" smtClean="0"/>
              <a:pPr/>
              <a:t>4/15/2020</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E64A6347-0E05-4CF0-8713-F8B56B953172}"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a:t/>
            </a:r>
            <a:br>
              <a:rPr lang="en-US" b="1" dirty="0"/>
            </a:br>
            <a:r>
              <a:rPr lang="en-US" b="1" dirty="0" smtClean="0"/>
              <a:t>LECTURE 10:PACKETS,</a:t>
            </a:r>
            <a:r>
              <a:rPr lang="en-ZW" b="1" dirty="0"/>
              <a:t> </a:t>
            </a:r>
            <a:r>
              <a:rPr lang="en-ZW" b="1" dirty="0" smtClean="0"/>
              <a:t>FRAMES AND ERROR DETECTION AND CORRECTION</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a:buNone/>
            </a:pPr>
            <a:r>
              <a:rPr lang="en-US" b="1" dirty="0" smtClean="0"/>
              <a:t>Shared Communication Media</a:t>
            </a:r>
          </a:p>
          <a:p>
            <a:r>
              <a:rPr lang="en-ZW" dirty="0" smtClean="0"/>
              <a:t>Disadvantage of network using a shared media to interconnect computers is that only one computer can transmit data at a time</a:t>
            </a:r>
          </a:p>
          <a:p>
            <a:r>
              <a:rPr lang="en-ZW" dirty="0" smtClean="0"/>
              <a:t>Long delays are encountered by the other computers</a:t>
            </a:r>
          </a:p>
          <a:p>
            <a:pPr>
              <a:buNone/>
            </a:pPr>
            <a:r>
              <a:rPr lang="en-ZW" dirty="0" smtClean="0"/>
              <a:t>(see diagram)</a:t>
            </a:r>
          </a:p>
          <a:p>
            <a:pPr>
              <a:buNone/>
            </a:pPr>
            <a:endParaRPr lang="en-ZW"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Shared communication medium</a:t>
            </a:r>
            <a:endParaRPr lang="en-US" dirty="0"/>
          </a:p>
        </p:txBody>
      </p:sp>
      <p:pic>
        <p:nvPicPr>
          <p:cNvPr id="4" name="Content Placeholder 3"/>
          <p:cNvPicPr>
            <a:picLocks noGrp="1"/>
          </p:cNvPicPr>
          <p:nvPr>
            <p:ph idx="1"/>
          </p:nvPr>
        </p:nvPicPr>
        <p:blipFill>
          <a:blip r:embed="rId2" cstate="print"/>
          <a:srcRect l="23237" t="33618" r="39584" b="43590"/>
          <a:stretch>
            <a:fillRect/>
          </a:stretch>
        </p:blipFill>
        <p:spPr bwMode="auto">
          <a:xfrm>
            <a:off x="1219200" y="1905000"/>
            <a:ext cx="6172200" cy="320040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B, C, D waiting time</a:t>
            </a:r>
            <a:endParaRPr lang="en-US" dirty="0"/>
          </a:p>
        </p:txBody>
      </p:sp>
      <p:sp>
        <p:nvSpPr>
          <p:cNvPr id="3" name="Content Placeholder 2"/>
          <p:cNvSpPr>
            <a:spLocks noGrp="1"/>
          </p:cNvSpPr>
          <p:nvPr>
            <p:ph idx="1"/>
          </p:nvPr>
        </p:nvSpPr>
        <p:spPr/>
        <p:txBody>
          <a:bodyPr>
            <a:normAutofit/>
          </a:bodyPr>
          <a:lstStyle/>
          <a:p>
            <a:r>
              <a:rPr lang="en-ZW" dirty="0"/>
              <a:t>A, B, C, D   are computers on a network sharing a communications media </a:t>
            </a:r>
            <a:r>
              <a:rPr lang="en-ZW" dirty="0" smtClean="0"/>
              <a:t>resource</a:t>
            </a:r>
          </a:p>
          <a:p>
            <a:r>
              <a:rPr lang="en-ZW" dirty="0" smtClean="0"/>
              <a:t>  </a:t>
            </a:r>
            <a:r>
              <a:rPr lang="en-ZW" dirty="0"/>
              <a:t>Only one computer can transmit/communicate at a </a:t>
            </a:r>
            <a:r>
              <a:rPr lang="en-ZW" dirty="0" smtClean="0"/>
              <a:t>time</a:t>
            </a:r>
          </a:p>
          <a:p>
            <a:r>
              <a:rPr lang="en-ZW" dirty="0" smtClean="0"/>
              <a:t> </a:t>
            </a:r>
            <a:r>
              <a:rPr lang="en-ZW" dirty="0"/>
              <a:t>Assume that computer A wants to download a 5MB file across the network that has a 56 Kbps capacity</a:t>
            </a:r>
            <a:r>
              <a:rPr lang="en-ZW" dirty="0" smtClean="0"/>
              <a:t>. </a:t>
            </a:r>
          </a:p>
          <a:p>
            <a:r>
              <a:rPr lang="en-ZW" dirty="0" smtClean="0"/>
              <a:t> </a:t>
            </a:r>
            <a:r>
              <a:rPr lang="en-ZW" dirty="0"/>
              <a:t>We calculate how long the other computers will wait until A finishing downloading.</a:t>
            </a:r>
            <a:endParaRPr lang="en-US" dirty="0"/>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Calculating waiting time </a:t>
            </a:r>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a:p>
        </p:txBody>
      </p:sp>
      <p:pic>
        <p:nvPicPr>
          <p:cNvPr id="4" name="Picture 3"/>
          <p:cNvPicPr/>
          <p:nvPr/>
        </p:nvPicPr>
        <p:blipFill>
          <a:blip r:embed="rId2" cstate="print"/>
          <a:srcRect l="22276" t="27920" r="28205" b="51282"/>
          <a:stretch>
            <a:fillRect/>
          </a:stretch>
        </p:blipFill>
        <p:spPr bwMode="auto">
          <a:xfrm>
            <a:off x="990600" y="1847088"/>
            <a:ext cx="7162799" cy="4114799"/>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ZW" dirty="0"/>
              <a:t>This calls for the use of packets (that is small units of data</a:t>
            </a:r>
            <a:r>
              <a:rPr lang="en-ZW" dirty="0" smtClean="0"/>
              <a:t>).</a:t>
            </a:r>
          </a:p>
          <a:p>
            <a:r>
              <a:rPr lang="en-ZW" dirty="0" smtClean="0"/>
              <a:t> </a:t>
            </a:r>
            <a:r>
              <a:rPr lang="en-ZW" dirty="0"/>
              <a:t>The 5 MB file is broken into packets so that the other computers can only wait until a packet and not the entire file has been transmitted/sent. </a:t>
            </a:r>
            <a:endParaRPr lang="en-ZW" dirty="0" smtClean="0"/>
          </a:p>
          <a:p>
            <a:r>
              <a:rPr lang="en-ZW" dirty="0" smtClean="0"/>
              <a:t>For </a:t>
            </a:r>
            <a:r>
              <a:rPr lang="en-ZW" dirty="0"/>
              <a:t>example the 5 MB file is broken down into packets of 1000 bytes each and the other computers can only wait for a far less time than 12 minutes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ZW" dirty="0"/>
              <a:t>The waiting time when using packets is calculated as</a:t>
            </a:r>
            <a:r>
              <a:rPr lang="en-ZW" dirty="0" smtClean="0"/>
              <a:t>:</a:t>
            </a:r>
          </a:p>
          <a:p>
            <a:pPr>
              <a:buNone/>
            </a:pPr>
            <a:endParaRPr lang="en-US" dirty="0"/>
          </a:p>
        </p:txBody>
      </p:sp>
      <p:pic>
        <p:nvPicPr>
          <p:cNvPr id="4" name="Picture 3"/>
          <p:cNvPicPr/>
          <p:nvPr/>
        </p:nvPicPr>
        <p:blipFill>
          <a:blip r:embed="rId2" cstate="print"/>
          <a:srcRect l="27244" t="24501" r="25961" b="49573"/>
          <a:stretch>
            <a:fillRect/>
          </a:stretch>
        </p:blipFill>
        <p:spPr bwMode="auto">
          <a:xfrm>
            <a:off x="1905000" y="2590800"/>
            <a:ext cx="5562600" cy="42672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Definition of a packet</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r>
              <a:rPr lang="en-ZW" dirty="0" smtClean="0"/>
              <a:t>A </a:t>
            </a:r>
            <a:r>
              <a:rPr lang="en-ZW" dirty="0"/>
              <a:t>is one unit of binary data (not a bit) that is capable of being routed through a computer network</a:t>
            </a:r>
            <a:r>
              <a:rPr lang="en-ZW" dirty="0" smtClean="0"/>
              <a:t>.</a:t>
            </a:r>
          </a:p>
          <a:p>
            <a:r>
              <a:rPr lang="en-ZW" dirty="0" smtClean="0"/>
              <a:t> </a:t>
            </a:r>
            <a:r>
              <a:rPr lang="en-ZW" dirty="0"/>
              <a:t>The idea is to improve communication performance and reliability. </a:t>
            </a:r>
            <a:endParaRPr lang="en-ZW" dirty="0" smtClean="0"/>
          </a:p>
          <a:p>
            <a:r>
              <a:rPr lang="en-ZW" dirty="0" smtClean="0"/>
              <a:t>The </a:t>
            </a:r>
            <a:r>
              <a:rPr lang="en-ZW" dirty="0"/>
              <a:t>packets are formatted into some standard format depending on protocol being used. A packet general includes a header, pay load (body containing the message data)  and sometimes a footer(also commonly known as the trailer.</a:t>
            </a:r>
            <a:endParaRPr lang="en-US" dirty="0"/>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7" name="Content Placeholder 6"/>
          <p:cNvSpPr>
            <a:spLocks noGrp="1"/>
          </p:cNvSpPr>
          <p:nvPr>
            <p:ph idx="1"/>
          </p:nvPr>
        </p:nvSpPr>
        <p:spPr/>
        <p:txBody>
          <a:bodyPr>
            <a:normAutofit fontScale="85000" lnSpcReduction="20000"/>
          </a:bodyPr>
          <a:lstStyle/>
          <a:p>
            <a:endParaRPr lang="en-US" dirty="0"/>
          </a:p>
          <a:p>
            <a:pPr>
              <a:buNone/>
            </a:pPr>
            <a:r>
              <a:rPr lang="en-US" dirty="0" smtClean="0"/>
              <a:t>		header              payload              footer</a:t>
            </a:r>
          </a:p>
          <a:p>
            <a:pPr>
              <a:buNone/>
            </a:pPr>
            <a:endParaRPr lang="en-US" dirty="0"/>
          </a:p>
          <a:p>
            <a:pPr>
              <a:buNone/>
            </a:pPr>
            <a:r>
              <a:rPr lang="en-ZW" sz="3300" dirty="0">
                <a:latin typeface="+mj-lt"/>
              </a:rPr>
              <a:t>The packet </a:t>
            </a:r>
            <a:r>
              <a:rPr lang="en-ZW" sz="3300" dirty="0" smtClean="0">
                <a:latin typeface="+mj-lt"/>
              </a:rPr>
              <a:t>header lists:</a:t>
            </a:r>
          </a:p>
          <a:p>
            <a:r>
              <a:rPr lang="en-ZW" sz="3300" dirty="0" smtClean="0">
                <a:latin typeface="+mj-lt"/>
              </a:rPr>
              <a:t> the destination of the packet </a:t>
            </a:r>
          </a:p>
          <a:p>
            <a:r>
              <a:rPr lang="en-ZW" sz="3300" dirty="0" smtClean="0">
                <a:latin typeface="+mj-lt"/>
              </a:rPr>
              <a:t> often indicates </a:t>
            </a:r>
            <a:r>
              <a:rPr lang="en-ZW" sz="3300" dirty="0">
                <a:latin typeface="+mj-lt"/>
              </a:rPr>
              <a:t>the length of the message data. </a:t>
            </a:r>
            <a:endParaRPr lang="en-ZW" sz="3300" dirty="0" smtClean="0">
              <a:latin typeface="+mj-lt"/>
            </a:endParaRPr>
          </a:p>
          <a:p>
            <a:r>
              <a:rPr lang="en-ZW" sz="3300" dirty="0" smtClean="0">
                <a:latin typeface="+mj-lt"/>
              </a:rPr>
              <a:t>  </a:t>
            </a:r>
            <a:r>
              <a:rPr lang="en-ZW" sz="3300" dirty="0">
                <a:latin typeface="+mj-lt"/>
              </a:rPr>
              <a:t>The packet footer contains data that signifies the end of the </a:t>
            </a:r>
            <a:r>
              <a:rPr lang="en-ZW" sz="3300" dirty="0" smtClean="0">
                <a:latin typeface="+mj-lt"/>
              </a:rPr>
              <a:t>packet </a:t>
            </a:r>
            <a:r>
              <a:rPr lang="en-ZW" sz="3300" dirty="0">
                <a:latin typeface="+mj-lt"/>
              </a:rPr>
              <a:t>such </a:t>
            </a:r>
            <a:r>
              <a:rPr lang="en-ZW" sz="3300" dirty="0" smtClean="0">
                <a:latin typeface="+mj-lt"/>
              </a:rPr>
              <a:t>as:</a:t>
            </a:r>
          </a:p>
          <a:p>
            <a:r>
              <a:rPr lang="en-ZW" sz="3300" dirty="0" smtClean="0">
                <a:latin typeface="+mj-lt"/>
              </a:rPr>
              <a:t> </a:t>
            </a:r>
            <a:r>
              <a:rPr lang="en-ZW" sz="3300" dirty="0">
                <a:latin typeface="+mj-lt"/>
              </a:rPr>
              <a:t>special sequence of bits known as the magic </a:t>
            </a:r>
            <a:r>
              <a:rPr lang="en-ZW" sz="3300" dirty="0" smtClean="0">
                <a:latin typeface="+mj-lt"/>
              </a:rPr>
              <a:t>number</a:t>
            </a:r>
          </a:p>
          <a:p>
            <a:r>
              <a:rPr lang="en-ZW" sz="3300" dirty="0" smtClean="0">
                <a:latin typeface="+mj-lt"/>
              </a:rPr>
              <a:t> </a:t>
            </a:r>
            <a:r>
              <a:rPr lang="en-ZW" sz="3300" dirty="0">
                <a:latin typeface="+mj-lt"/>
              </a:rPr>
              <a:t>Both the header and the footer may contain error checking information</a:t>
            </a:r>
            <a:endParaRPr lang="en-US" sz="3300" dirty="0">
              <a:latin typeface="+mj-lt"/>
            </a:endParaRPr>
          </a:p>
        </p:txBody>
      </p:sp>
      <p:cxnSp>
        <p:nvCxnSpPr>
          <p:cNvPr id="9" name="Straight Connector 8"/>
          <p:cNvCxnSpPr/>
          <p:nvPr/>
        </p:nvCxnSpPr>
        <p:spPr>
          <a:xfrm flipV="1">
            <a:off x="685800" y="1981200"/>
            <a:ext cx="67056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685800" y="2743200"/>
            <a:ext cx="67056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685800" y="2057400"/>
            <a:ext cx="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7391400" y="1981200"/>
            <a:ext cx="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2819400" y="2057400"/>
            <a:ext cx="0"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5486400" y="1981200"/>
            <a:ext cx="0" cy="8382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dirty="0"/>
              <a:t>The receiving device is responsible </a:t>
            </a:r>
            <a:r>
              <a:rPr lang="en-ZW" dirty="0" smtClean="0"/>
              <a:t>for:</a:t>
            </a:r>
          </a:p>
          <a:p>
            <a:r>
              <a:rPr lang="en-ZW" dirty="0" smtClean="0"/>
              <a:t> </a:t>
            </a:r>
            <a:r>
              <a:rPr lang="en-ZW" dirty="0"/>
              <a:t>re-assembling individual packets into the original message</a:t>
            </a:r>
            <a:r>
              <a:rPr lang="en-ZW" dirty="0" smtClean="0"/>
              <a:t>,</a:t>
            </a:r>
          </a:p>
          <a:p>
            <a:r>
              <a:rPr lang="en-ZW" dirty="0" smtClean="0"/>
              <a:t>  strips </a:t>
            </a:r>
            <a:r>
              <a:rPr lang="en-ZW" dirty="0"/>
              <a:t>off headers and footers and concatenating packets in the correct sequence.</a:t>
            </a:r>
            <a:endParaRPr lang="en-US" dirty="0"/>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User Datagram Protocol (UDP)         </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r>
              <a:rPr lang="en-ZW" dirty="0" smtClean="0"/>
              <a:t>UDP </a:t>
            </a:r>
            <a:r>
              <a:rPr lang="en-ZW" dirty="0"/>
              <a:t>is a simple Open System Interconnection (OSI) transport layer protocol for client/server network applications based on Internet Protocol (IP). </a:t>
            </a:r>
            <a:endParaRPr lang="en-ZW" dirty="0" smtClean="0"/>
          </a:p>
          <a:p>
            <a:r>
              <a:rPr lang="en-ZW" dirty="0" smtClean="0"/>
              <a:t>UDP </a:t>
            </a:r>
            <a:r>
              <a:rPr lang="en-ZW" dirty="0"/>
              <a:t>network transport is organized in the form of a datagram</a:t>
            </a:r>
            <a:r>
              <a:rPr lang="en-ZW" dirty="0" smtClean="0"/>
              <a:t>.</a:t>
            </a:r>
          </a:p>
          <a:p>
            <a:r>
              <a:rPr lang="en-ZW" dirty="0" smtClean="0"/>
              <a:t> </a:t>
            </a:r>
            <a:r>
              <a:rPr lang="en-ZW" dirty="0"/>
              <a:t>A datagram comprises one message unit and a UDP header consists of four fields of two bytes each:</a:t>
            </a:r>
            <a:endParaRPr lang="en-US" dirty="0"/>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UDP contents</a:t>
            </a:r>
            <a:endParaRPr lang="en-US" dirty="0"/>
          </a:p>
        </p:txBody>
      </p:sp>
      <p:sp>
        <p:nvSpPr>
          <p:cNvPr id="3" name="Content Placeholder 2"/>
          <p:cNvSpPr>
            <a:spLocks noGrp="1"/>
          </p:cNvSpPr>
          <p:nvPr>
            <p:ph idx="1"/>
          </p:nvPr>
        </p:nvSpPr>
        <p:spPr/>
        <p:txBody>
          <a:bodyPr/>
          <a:lstStyle/>
          <a:p>
            <a:pPr lvl="0"/>
            <a:r>
              <a:rPr lang="en-ZW" dirty="0" smtClean="0"/>
              <a:t>Source port number</a:t>
            </a:r>
            <a:endParaRPr lang="en-US" dirty="0" smtClean="0"/>
          </a:p>
          <a:p>
            <a:pPr lvl="0"/>
            <a:r>
              <a:rPr lang="en-ZW" dirty="0" smtClean="0"/>
              <a:t>Destination port number</a:t>
            </a:r>
            <a:endParaRPr lang="en-US" dirty="0" smtClean="0"/>
          </a:p>
          <a:p>
            <a:pPr lvl="0"/>
            <a:r>
              <a:rPr lang="en-ZW" dirty="0" smtClean="0"/>
              <a:t>Datagram size</a:t>
            </a:r>
            <a:endParaRPr lang="en-US" dirty="0" smtClean="0"/>
          </a:p>
          <a:p>
            <a:pPr lvl="0"/>
            <a:r>
              <a:rPr lang="en-ZW" dirty="0" smtClean="0"/>
              <a:t>Checksum</a:t>
            </a:r>
            <a:endParaRPr lang="en-US" dirty="0" smtClean="0"/>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Motivation </a:t>
            </a:r>
            <a:r>
              <a:rPr lang="en-ZW" b="1" dirty="0"/>
              <a:t>for using packet switched networks</a:t>
            </a:r>
            <a:r>
              <a:rPr lang="en-US" b="1" dirty="0"/>
              <a:t/>
            </a:r>
            <a:br>
              <a:rPr lang="en-US" b="1" dirty="0"/>
            </a:br>
            <a:endParaRPr lang="en-US" dirty="0"/>
          </a:p>
        </p:txBody>
      </p:sp>
      <p:sp>
        <p:nvSpPr>
          <p:cNvPr id="3" name="Content Placeholder 2"/>
          <p:cNvSpPr>
            <a:spLocks noGrp="1"/>
          </p:cNvSpPr>
          <p:nvPr>
            <p:ph idx="1"/>
          </p:nvPr>
        </p:nvSpPr>
        <p:spPr/>
        <p:txBody>
          <a:bodyPr>
            <a:normAutofit/>
          </a:bodyPr>
          <a:lstStyle/>
          <a:p>
            <a:pPr lvl="0"/>
            <a:r>
              <a:rPr lang="en-ZW" dirty="0"/>
              <a:t>Coordination: This helps the transmitter and the receiver to determine which data have been received correctly and which one has been received with errors</a:t>
            </a:r>
            <a:endParaRPr lang="en-US" dirty="0"/>
          </a:p>
          <a:p>
            <a:pPr lvl="0"/>
            <a:r>
              <a:rPr lang="en-ZW" dirty="0"/>
              <a:t>Resource sharing:- This allows multiple computers to share the network infrastructure</a:t>
            </a:r>
            <a:endParaRPr lang="en-US" dirty="0"/>
          </a:p>
          <a:p>
            <a:pPr lvl="0"/>
            <a:r>
              <a:rPr lang="en-ZW" dirty="0"/>
              <a:t>Network fair use:- When using packet switched networks fair use is enforced and each computer can only send one packet at a time.</a:t>
            </a:r>
            <a:endParaRPr lang="en-US" dirty="0"/>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ZW" b="1" dirty="0" smtClean="0"/>
              <a:t/>
            </a:r>
            <a:br>
              <a:rPr lang="en-ZW" b="1" dirty="0" smtClean="0"/>
            </a:br>
            <a:r>
              <a:rPr lang="en-ZW" b="1" dirty="0" smtClean="0"/>
              <a:t>Frame </a:t>
            </a:r>
            <a:r>
              <a:rPr lang="en-ZW" b="1" dirty="0"/>
              <a:t>or hardware frame</a:t>
            </a:r>
            <a:r>
              <a:rPr lang="en-US" dirty="0"/>
              <a:t/>
            </a:r>
            <a:br>
              <a:rPr lang="en-US" dirty="0"/>
            </a:br>
            <a:endParaRPr lang="en-US" dirty="0"/>
          </a:p>
        </p:txBody>
      </p:sp>
      <p:sp>
        <p:nvSpPr>
          <p:cNvPr id="3" name="Content Placeholder 2"/>
          <p:cNvSpPr>
            <a:spLocks noGrp="1"/>
          </p:cNvSpPr>
          <p:nvPr>
            <p:ph idx="1"/>
          </p:nvPr>
        </p:nvSpPr>
        <p:spPr/>
        <p:txBody>
          <a:bodyPr/>
          <a:lstStyle/>
          <a:p>
            <a:r>
              <a:rPr lang="en-ZW" dirty="0"/>
              <a:t>A hardware frame denotes a packet of a specific format on a specific hardware </a:t>
            </a:r>
            <a:r>
              <a:rPr lang="en-ZW" dirty="0" smtClean="0"/>
              <a:t>technology</a:t>
            </a:r>
          </a:p>
          <a:p>
            <a:r>
              <a:rPr lang="en-ZW" dirty="0" smtClean="0"/>
              <a:t>In </a:t>
            </a:r>
            <a:r>
              <a:rPr lang="en-ZW" dirty="0"/>
              <a:t>its simplest form, a frame can be made </a:t>
            </a:r>
            <a:r>
              <a:rPr lang="en-ZW" dirty="0" smtClean="0"/>
              <a:t>up </a:t>
            </a:r>
            <a:r>
              <a:rPr lang="en-ZW" dirty="0"/>
              <a:t>of a header, data and end of text </a:t>
            </a:r>
            <a:endParaRPr lang="en-ZW" dirty="0" smtClean="0"/>
          </a:p>
          <a:p>
            <a:pPr>
              <a:buNone/>
            </a:pPr>
            <a:r>
              <a:rPr lang="en-ZW" dirty="0" smtClean="0"/>
              <a:t>       Basic format of a hardware frame</a:t>
            </a:r>
          </a:p>
          <a:p>
            <a:pPr>
              <a:buNone/>
            </a:pPr>
            <a:endParaRPr lang="en-US" dirty="0"/>
          </a:p>
        </p:txBody>
      </p:sp>
      <p:sp>
        <p:nvSpPr>
          <p:cNvPr id="4" name="Rectangle 3"/>
          <p:cNvSpPr/>
          <p:nvPr/>
        </p:nvSpPr>
        <p:spPr>
          <a:xfrm>
            <a:off x="1143000" y="4343400"/>
            <a:ext cx="6324600" cy="533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h</a:t>
            </a:r>
            <a:r>
              <a:rPr lang="en-US" dirty="0" smtClean="0"/>
              <a:t>eader                              payload                                      </a:t>
            </a:r>
            <a:r>
              <a:rPr lang="en-US" dirty="0" err="1" smtClean="0"/>
              <a:t>eot</a:t>
            </a:r>
            <a:endParaRPr lang="en-US" dirty="0"/>
          </a:p>
        </p:txBody>
      </p:sp>
      <p:cxnSp>
        <p:nvCxnSpPr>
          <p:cNvPr id="12" name="Straight Connector 11"/>
          <p:cNvCxnSpPr/>
          <p:nvPr/>
        </p:nvCxnSpPr>
        <p:spPr>
          <a:xfrm>
            <a:off x="2971800" y="4343400"/>
            <a:ext cx="0"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172200" y="4343400"/>
            <a:ext cx="0" cy="5334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ZW" dirty="0" smtClean="0"/>
              <a:t>The above basic format is used when data is limited to printable ASCII characters. The sending/transmitting computer starts the transmission by sending the start of header (soh) first, then the data (payload) and last the end of text (</a:t>
            </a:r>
            <a:r>
              <a:rPr lang="en-ZW" dirty="0" err="1" smtClean="0"/>
              <a:t>eot</a:t>
            </a:r>
            <a:r>
              <a:rPr lang="en-ZW" dirty="0" smtClean="0"/>
              <a:t>). </a:t>
            </a:r>
            <a:endParaRPr lang="en-US" dirty="0" smtClean="0"/>
          </a:p>
          <a:p>
            <a:r>
              <a:rPr lang="en-ZW" dirty="0" smtClean="0"/>
              <a:t>The receiving computer interprets and discards the soh, stores the data in the buffer and interprets and discards the </a:t>
            </a:r>
            <a:r>
              <a:rPr lang="en-ZW" dirty="0" err="1" smtClean="0"/>
              <a:t>eot</a:t>
            </a:r>
            <a:r>
              <a:rPr lang="en-ZW" dirty="0" smtClean="0"/>
              <a:t>.</a:t>
            </a:r>
            <a:endParaRPr lang="en-US" dirty="0" smtClean="0"/>
          </a:p>
          <a:p>
            <a:r>
              <a:rPr lang="en-ZW" dirty="0" smtClean="0"/>
              <a:t>Framing data introduces overheads, for example, start of header(soh) and end of text(</a:t>
            </a:r>
            <a:r>
              <a:rPr lang="en-ZW" dirty="0" err="1" smtClean="0"/>
              <a:t>eot</a:t>
            </a:r>
            <a:r>
              <a:rPr lang="en-ZW" dirty="0" smtClean="0"/>
              <a:t>) take time to transmit but they do not carry any meaningful message to the receiver</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Transmission problems associated with data framing</a:t>
            </a:r>
            <a:endParaRPr lang="en-US" dirty="0"/>
          </a:p>
        </p:txBody>
      </p:sp>
      <p:sp>
        <p:nvSpPr>
          <p:cNvPr id="3" name="Content Placeholder 2"/>
          <p:cNvSpPr>
            <a:spLocks noGrp="1"/>
          </p:cNvSpPr>
          <p:nvPr>
            <p:ph idx="1"/>
          </p:nvPr>
        </p:nvSpPr>
        <p:spPr/>
        <p:txBody>
          <a:bodyPr/>
          <a:lstStyle/>
          <a:p>
            <a:pPr>
              <a:buNone/>
            </a:pPr>
            <a:r>
              <a:rPr lang="en-ZW" dirty="0" smtClean="0"/>
              <a:t>There are also transmission problems associated with data framing for example:</a:t>
            </a:r>
            <a:endParaRPr lang="en-US" dirty="0" smtClean="0"/>
          </a:p>
          <a:p>
            <a:pPr lvl="0"/>
            <a:r>
              <a:rPr lang="en-ZW" dirty="0" smtClean="0"/>
              <a:t>Missing end of text(</a:t>
            </a:r>
            <a:r>
              <a:rPr lang="en-ZW" dirty="0" err="1" smtClean="0"/>
              <a:t>eot</a:t>
            </a:r>
            <a:r>
              <a:rPr lang="en-ZW" dirty="0" smtClean="0"/>
              <a:t>) indicates that a sending computer crashes</a:t>
            </a:r>
            <a:endParaRPr lang="en-US" dirty="0" smtClean="0"/>
          </a:p>
          <a:p>
            <a:pPr lvl="0"/>
            <a:r>
              <a:rPr lang="en-ZW" dirty="0" smtClean="0"/>
              <a:t>Missing start of header (soh) indicates that the receiving computer missed the beginning of text(message).This will be interpreted as a bad frame and the message will be discarded.</a:t>
            </a:r>
            <a:endParaRPr lang="en-US" dirty="0" smtClean="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r>
              <a:rPr lang="en-US" sz="3200" dirty="0" smtClean="0">
                <a:solidFill>
                  <a:schemeClr val="tx1"/>
                </a:solidFill>
              </a:rPr>
              <a:t>Problems with framing packets(byte and bit stuffing)</a:t>
            </a:r>
            <a:endParaRPr lang="en-US" dirty="0">
              <a:solidFill>
                <a:schemeClr val="tx1"/>
              </a:solidFill>
            </a:endParaRPr>
          </a:p>
        </p:txBody>
      </p:sp>
      <p:sp>
        <p:nvSpPr>
          <p:cNvPr id="3" name="Content Placeholder 2"/>
          <p:cNvSpPr>
            <a:spLocks noGrp="1"/>
          </p:cNvSpPr>
          <p:nvPr>
            <p:ph idx="1"/>
          </p:nvPr>
        </p:nvSpPr>
        <p:spPr/>
        <p:txBody>
          <a:bodyPr/>
          <a:lstStyle/>
          <a:p>
            <a:pPr>
              <a:buNone/>
            </a:pPr>
            <a:r>
              <a:rPr lang="en-US" b="1" dirty="0" smtClean="0"/>
              <a:t>Byte stuffing</a:t>
            </a:r>
          </a:p>
          <a:p>
            <a:pPr>
              <a:buNone/>
            </a:pPr>
            <a:r>
              <a:rPr lang="en-ZW" dirty="0" smtClean="0"/>
              <a:t>Consider a point to point protocol frame format below:</a:t>
            </a:r>
            <a:endParaRPr lang="en-US" dirty="0" smtClean="0"/>
          </a:p>
          <a:p>
            <a:pPr>
              <a:buNone/>
            </a:pPr>
            <a:endParaRPr lang="en-US" b="1" dirty="0" smtClean="0"/>
          </a:p>
          <a:p>
            <a:pPr>
              <a:buNone/>
            </a:pPr>
            <a:endParaRPr lang="en-US" b="1" dirty="0" smtClean="0"/>
          </a:p>
          <a:p>
            <a:pPr>
              <a:buNone/>
            </a:pPr>
            <a:r>
              <a:rPr lang="en-US" b="1" dirty="0" smtClean="0"/>
              <a:t>		</a:t>
            </a:r>
            <a:endParaRPr lang="en-US" b="1" dirty="0"/>
          </a:p>
        </p:txBody>
      </p:sp>
      <p:pic>
        <p:nvPicPr>
          <p:cNvPr id="4" name="Picture 3"/>
          <p:cNvPicPr/>
          <p:nvPr/>
        </p:nvPicPr>
        <p:blipFill>
          <a:blip r:embed="rId2" cstate="print"/>
          <a:srcRect l="23878" t="27635" r="25481" b="49573"/>
          <a:stretch>
            <a:fillRect/>
          </a:stretch>
        </p:blipFill>
        <p:spPr bwMode="auto">
          <a:xfrm>
            <a:off x="228600" y="3048000"/>
            <a:ext cx="8534400" cy="29718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sz="3200" dirty="0" smtClean="0">
                <a:solidFill>
                  <a:schemeClr val="tx1"/>
                </a:solidFill>
              </a:rPr>
              <a:t>Byte stuffing</a:t>
            </a:r>
            <a:endParaRPr lang="en-US" sz="3200" dirty="0">
              <a:solidFill>
                <a:schemeClr val="tx1"/>
              </a:solidFill>
            </a:endParaRPr>
          </a:p>
        </p:txBody>
      </p:sp>
      <p:sp>
        <p:nvSpPr>
          <p:cNvPr id="3" name="Content Placeholder 2"/>
          <p:cNvSpPr>
            <a:spLocks noGrp="1"/>
          </p:cNvSpPr>
          <p:nvPr>
            <p:ph idx="1"/>
          </p:nvPr>
        </p:nvSpPr>
        <p:spPr/>
        <p:txBody>
          <a:bodyPr>
            <a:normAutofit/>
          </a:bodyPr>
          <a:lstStyle/>
          <a:p>
            <a:r>
              <a:rPr lang="en-ZW" dirty="0" smtClean="0"/>
              <a:t>The bit pattern 01111110 is known as synchronization bytes and they mark the beginning and end of the frame. </a:t>
            </a:r>
          </a:p>
          <a:p>
            <a:r>
              <a:rPr lang="en-ZW" dirty="0" smtClean="0"/>
              <a:t>The bit pattern 01111110 must not appear anywhere in the information field. </a:t>
            </a:r>
          </a:p>
          <a:p>
            <a:r>
              <a:rPr lang="en-ZW" dirty="0" smtClean="0"/>
              <a:t>When dealing with floating point arithmetic operations, the sequence (01111110) may appear not as a flag but data.</a:t>
            </a:r>
          </a:p>
          <a:p>
            <a:r>
              <a:rPr lang="en-ZW" dirty="0" smtClean="0"/>
              <a:t> This will be interpreted by the computer as end of a frame when all the data has not been transmitted.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buNone/>
            </a:pPr>
            <a:r>
              <a:rPr lang="en-ZW" sz="2800" dirty="0" smtClean="0"/>
              <a:t>Data transparency requirement is that the information (payload) field must be allowed to include any data including the flag pattern 01111110 as part of data. To avoid confusion, when the bit pattern 01111110 appears in the information field, the sender adds </a:t>
            </a:r>
            <a:endParaRPr lang="en-US" sz="2800" dirty="0" smtClean="0"/>
          </a:p>
          <a:p>
            <a:pPr>
              <a:buNone/>
            </a:pPr>
            <a:r>
              <a:rPr lang="en-ZW" sz="2800" dirty="0" smtClean="0"/>
              <a:t>(stuffs) an extra 01111110 byte after the occurrence of each 01111110 byte in the information field. Some systems label the stuffed byte 01111110 as ECS (escape).</a:t>
            </a:r>
            <a:endParaRPr lang="en-US" sz="2800" dirty="0" smtClean="0"/>
          </a:p>
          <a:p>
            <a:pPr>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ZW" dirty="0" smtClean="0"/>
              <a:t>At the receiver, when the two 0111110 bytes appear in a row, the first byte is discarded and data reception continues. Consider the example in figure 65 below:</a:t>
            </a:r>
            <a:endParaRPr lang="en-US" dirty="0" smtClean="0"/>
          </a:p>
          <a:p>
            <a:pPr>
              <a:buNone/>
            </a:pPr>
            <a:r>
              <a:rPr lang="en-US" dirty="0" smtClean="0"/>
              <a:t>(see illustration below)</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sz="3200" dirty="0" smtClean="0"/>
              <a:t>Byte stuffing</a:t>
            </a:r>
            <a:endParaRPr lang="en-US" sz="3200" dirty="0"/>
          </a:p>
        </p:txBody>
      </p:sp>
      <p:pic>
        <p:nvPicPr>
          <p:cNvPr id="4" name="Content Placeholder 3"/>
          <p:cNvPicPr>
            <a:picLocks noGrp="1"/>
          </p:cNvPicPr>
          <p:nvPr>
            <p:ph idx="1"/>
          </p:nvPr>
        </p:nvPicPr>
        <p:blipFill>
          <a:blip r:embed="rId3" cstate="print"/>
          <a:srcRect l="22436" t="45869" r="38782" b="8547"/>
          <a:stretch>
            <a:fillRect/>
          </a:stretch>
        </p:blipFill>
        <p:spPr bwMode="auto">
          <a:xfrm>
            <a:off x="457200" y="1752600"/>
            <a:ext cx="7467600" cy="4419599"/>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b="1" dirty="0" smtClean="0"/>
              <a:t/>
            </a:r>
            <a:br>
              <a:rPr lang="en-US" b="1" dirty="0" smtClean="0"/>
            </a:br>
            <a:r>
              <a:rPr lang="en-US" b="1" dirty="0" smtClean="0"/>
              <a:t/>
            </a:r>
            <a:br>
              <a:rPr lang="en-US" b="1" dirty="0" smtClean="0"/>
            </a:br>
            <a:r>
              <a:rPr lang="en-US" b="1" dirty="0" smtClean="0"/>
              <a:t> </a:t>
            </a:r>
            <a:r>
              <a:rPr lang="en-US" b="1" dirty="0" smtClean="0">
                <a:solidFill>
                  <a:schemeClr val="tx1"/>
                </a:solidFill>
              </a:rPr>
              <a:t>Bit stuffing</a:t>
            </a:r>
            <a:endParaRPr lang="en-US" dirty="0">
              <a:solidFill>
                <a:schemeClr val="tx1"/>
              </a:solidFill>
            </a:endParaRPr>
          </a:p>
        </p:txBody>
      </p:sp>
      <p:sp>
        <p:nvSpPr>
          <p:cNvPr id="3" name="Content Placeholder 2"/>
          <p:cNvSpPr>
            <a:spLocks noGrp="1"/>
          </p:cNvSpPr>
          <p:nvPr>
            <p:ph idx="1"/>
          </p:nvPr>
        </p:nvSpPr>
        <p:spPr/>
        <p:txBody>
          <a:bodyPr/>
          <a:lstStyle/>
          <a:p>
            <a:pPr>
              <a:buNone/>
            </a:pPr>
            <a:r>
              <a:rPr lang="en-GB" dirty="0" smtClean="0"/>
              <a:t>Consider an SDLC frame below</a:t>
            </a:r>
            <a:endParaRPr lang="en-US" b="1" dirty="0" smtClean="0"/>
          </a:p>
          <a:p>
            <a:pPr>
              <a:buNone/>
            </a:pPr>
            <a:endParaRPr lang="en-US" dirty="0"/>
          </a:p>
        </p:txBody>
      </p:sp>
      <p:pic>
        <p:nvPicPr>
          <p:cNvPr id="4" name="Picture 3"/>
          <p:cNvPicPr/>
          <p:nvPr/>
        </p:nvPicPr>
        <p:blipFill>
          <a:blip r:embed="rId2" cstate="print"/>
          <a:srcRect l="20993" t="40171" r="26603" b="50142"/>
          <a:stretch>
            <a:fillRect/>
          </a:stretch>
        </p:blipFill>
        <p:spPr bwMode="auto">
          <a:xfrm>
            <a:off x="0" y="2514600"/>
            <a:ext cx="8458200" cy="23622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Each frame begins and ends with a special bit pattern called a flag byte (01111110). The idea is to avoid the bit stream 01111110 appearing in the information field. During transmission whenever sender data link layer encounters five consecutive ones in the data stream, it automatically stuffs a 0 bit into the outgoing stream. When the receiver sees </a:t>
            </a:r>
          </a:p>
          <a:p>
            <a:r>
              <a:rPr lang="en-US" dirty="0" smtClean="0"/>
              <a:t>five consecutive incoming ones followed by a 0 bit , it automatically removes the stuffed  0 bit before sending the data to the network layer( See example below</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dirty="0" smtClean="0">
                <a:solidFill>
                  <a:schemeClr val="tx1"/>
                </a:solidFill>
              </a:rPr>
              <a:t>Bit stuffing</a:t>
            </a:r>
            <a:endParaRPr lang="en-US" dirty="0">
              <a:solidFill>
                <a:schemeClr val="tx1"/>
              </a:solidFill>
            </a:endParaRPr>
          </a:p>
        </p:txBody>
      </p:sp>
      <p:pic>
        <p:nvPicPr>
          <p:cNvPr id="4" name="Content Placeholder 3"/>
          <p:cNvPicPr>
            <a:picLocks noGrp="1"/>
          </p:cNvPicPr>
          <p:nvPr>
            <p:ph idx="1"/>
          </p:nvPr>
        </p:nvPicPr>
        <p:blipFill>
          <a:blip r:embed="rId2" cstate="print"/>
          <a:srcRect l="20994" t="28775" r="24039" b="14245"/>
          <a:stretch>
            <a:fillRect/>
          </a:stretch>
        </p:blipFill>
        <p:spPr bwMode="auto">
          <a:xfrm>
            <a:off x="996080" y="2045781"/>
            <a:ext cx="7151839" cy="4168201"/>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197</TotalTime>
  <Words>969</Words>
  <Application>Microsoft Office PowerPoint</Application>
  <PresentationFormat>On-screen Show (4:3)</PresentationFormat>
  <Paragraphs>79</Paragraphs>
  <Slides>24</Slides>
  <Notes>1</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Flow</vt:lpstr>
      <vt:lpstr> LECTURE 10:PACKETS, FRAMES AND ERROR DETECTION AND CORRECTION </vt:lpstr>
      <vt:lpstr>Shared communication medium</vt:lpstr>
      <vt:lpstr>A, B, C, D waiting time</vt:lpstr>
      <vt:lpstr>Calculating waiting time </vt:lpstr>
      <vt:lpstr>PowerPoint Presentation</vt:lpstr>
      <vt:lpstr>PowerPoint Presentation</vt:lpstr>
      <vt:lpstr>Definition of a packet </vt:lpstr>
      <vt:lpstr>PowerPoint Presentation</vt:lpstr>
      <vt:lpstr>PowerPoint Presentation</vt:lpstr>
      <vt:lpstr> User Datagram Protocol (UDP)          </vt:lpstr>
      <vt:lpstr>UDP contents</vt:lpstr>
      <vt:lpstr> Motivation for using packet switched networks </vt:lpstr>
      <vt:lpstr> Frame or hardware frame </vt:lpstr>
      <vt:lpstr>PowerPoint Presentation</vt:lpstr>
      <vt:lpstr>Transmission problems associated with data framing</vt:lpstr>
      <vt:lpstr> Problems with framing packets(byte and bit stuffing)</vt:lpstr>
      <vt:lpstr> Byte stuffing</vt:lpstr>
      <vt:lpstr>PowerPoint Presentation</vt:lpstr>
      <vt:lpstr>PowerPoint Presentation</vt:lpstr>
      <vt:lpstr>                Byte stuffing</vt:lpstr>
      <vt:lpstr>                                               Bit stuffing</vt:lpstr>
      <vt:lpstr>PowerPoint Presentation</vt:lpstr>
      <vt:lpstr>  Bit stuffing</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10:PACKETS, FRAMES AND ERROR DETECTION AND CORRECTION</dc:title>
  <dc:creator>langstone.shumba</dc:creator>
  <cp:lastModifiedBy>Langtone Shumba</cp:lastModifiedBy>
  <cp:revision>6</cp:revision>
  <dcterms:created xsi:type="dcterms:W3CDTF">2017-11-29T08:17:15Z</dcterms:created>
  <dcterms:modified xsi:type="dcterms:W3CDTF">2020-04-15T13:15:01Z</dcterms:modified>
</cp:coreProperties>
</file>