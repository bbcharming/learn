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78635F5-102E-415F-BE50-BE233FC1399F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981A962-332A-4BB0-97A4-6704F6DC6F5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LECTURE 6: Transmission modes in  communication channels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b="1" dirty="0" smtClean="0"/>
              <a:t>Three popular transmission modes:</a:t>
            </a:r>
          </a:p>
          <a:p>
            <a:r>
              <a:rPr lang="en-ZW" b="1" dirty="0" smtClean="0"/>
              <a:t>Simplex</a:t>
            </a:r>
            <a:r>
              <a:rPr lang="en-ZW" b="1" dirty="0"/>
              <a:t>, </a:t>
            </a:r>
            <a:endParaRPr lang="en-ZW" b="1" dirty="0" smtClean="0"/>
          </a:p>
          <a:p>
            <a:r>
              <a:rPr lang="en-ZW" b="1" dirty="0" smtClean="0"/>
              <a:t>Half </a:t>
            </a:r>
            <a:r>
              <a:rPr lang="en-ZW" b="1" dirty="0"/>
              <a:t>Duplex </a:t>
            </a:r>
            <a:endParaRPr lang="en-ZW" b="1" dirty="0" smtClean="0"/>
          </a:p>
          <a:p>
            <a:r>
              <a:rPr lang="en-ZW" b="1" dirty="0" smtClean="0"/>
              <a:t>Full </a:t>
            </a:r>
            <a:r>
              <a:rPr lang="en-ZW" b="1" dirty="0"/>
              <a:t>Duplex (Duplex</a:t>
            </a:r>
            <a:r>
              <a:rPr lang="en-ZW" b="1" dirty="0" smtClean="0"/>
              <a:t>)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/>
              <a:t>Simplex transmission</a:t>
            </a:r>
            <a:r>
              <a:rPr lang="en-US" b="1" dirty="0" smtClean="0"/>
              <a:t> </a:t>
            </a:r>
            <a:r>
              <a:rPr lang="en-US" dirty="0" smtClean="0"/>
              <a:t>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In simplex transmission mode, transmission is in one direction only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4" name="img" descr="http://ecomputernotes.com/images/Simple-Transmission.jpg"/>
          <p:cNvPicPr/>
          <p:nvPr/>
        </p:nvPicPr>
        <p:blipFill>
          <a:blip r:embed="rId2" cstate="print"/>
          <a:srcRect t="12813"/>
          <a:stretch>
            <a:fillRect/>
          </a:stretch>
        </p:blipFill>
        <p:spPr bwMode="auto">
          <a:xfrm>
            <a:off x="1600200" y="2819400"/>
            <a:ext cx="5562600" cy="32004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nature of transmission </a:t>
            </a:r>
            <a:r>
              <a:rPr lang="en-US" dirty="0" smtClean="0"/>
              <a:t>is:</a:t>
            </a:r>
          </a:p>
          <a:p>
            <a:pPr>
              <a:buFontTx/>
              <a:buChar char="-"/>
            </a:pPr>
            <a:r>
              <a:rPr lang="en-US" dirty="0" smtClean="0"/>
              <a:t>one </a:t>
            </a:r>
            <a:r>
              <a:rPr lang="en-US" dirty="0"/>
              <a:t>is a transmitter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other a receiver.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Examples:</a:t>
            </a:r>
          </a:p>
          <a:p>
            <a:pPr>
              <a:buFontTx/>
              <a:buChar char="-"/>
            </a:pPr>
            <a:r>
              <a:rPr lang="en-US" dirty="0" smtClean="0"/>
              <a:t>Radio </a:t>
            </a:r>
            <a:r>
              <a:rPr lang="en-US" dirty="0"/>
              <a:t>and television </a:t>
            </a:r>
            <a:r>
              <a:rPr lang="en-US" dirty="0" smtClean="0"/>
              <a:t>broadcasts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(other  </a:t>
            </a:r>
            <a:r>
              <a:rPr lang="en-US" dirty="0"/>
              <a:t>typical examples of simplex </a:t>
            </a:r>
            <a:r>
              <a:rPr lang="en-US" dirty="0" smtClean="0"/>
              <a:t>transmissions)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b="1" dirty="0" smtClean="0"/>
              <a:t>Half duplex transmission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this transmission </a:t>
            </a:r>
            <a:r>
              <a:rPr lang="en-US" dirty="0" smtClean="0"/>
              <a:t>mode:</a:t>
            </a:r>
          </a:p>
          <a:p>
            <a:pPr>
              <a:buFontTx/>
              <a:buChar char="-"/>
            </a:pPr>
            <a:r>
              <a:rPr lang="en-US" dirty="0" smtClean="0"/>
              <a:t>transmission </a:t>
            </a:r>
            <a:r>
              <a:rPr lang="en-US" dirty="0"/>
              <a:t>is in both directions but not </a:t>
            </a:r>
            <a:r>
              <a:rPr lang="en-US" dirty="0" smtClean="0"/>
              <a:t>simultaneous</a:t>
            </a:r>
          </a:p>
          <a:p>
            <a:pPr>
              <a:buNone/>
            </a:pPr>
            <a:r>
              <a:rPr lang="en-US" dirty="0" smtClean="0"/>
              <a:t>- transmitter and receiver take turns to transmit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img" descr="http://techdifferences.com/wp-content/uploads/2016/07/half-duplex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866900"/>
            <a:ext cx="7010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walkie-talkie is one typical example </a:t>
            </a:r>
            <a:endParaRPr lang="en-GB" dirty="0" smtClean="0"/>
          </a:p>
          <a:p>
            <a:r>
              <a:rPr lang="en-GB" dirty="0" smtClean="0"/>
              <a:t>-uses </a:t>
            </a:r>
            <a:r>
              <a:rPr lang="en-GB" dirty="0"/>
              <a:t>a push button to allow one speaker to talk at a time.</a:t>
            </a:r>
            <a:endParaRPr lang="en-US" b="1" dirty="0"/>
          </a:p>
          <a:p>
            <a:r>
              <a:rPr lang="en-GB" dirty="0" smtClean="0"/>
              <a:t>- is </a:t>
            </a:r>
            <a:r>
              <a:rPr lang="en-GB" dirty="0"/>
              <a:t>also called a two wire circuit, where one wire is used for sending and the other for transmitting.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img" descr="http://flylib.com/books/2/567/1/html/2/036_files/image005.gif"/>
          <p:cNvPicPr/>
          <p:nvPr/>
        </p:nvPicPr>
        <p:blipFill>
          <a:blip r:embed="rId2" cstate="print"/>
          <a:srcRect t="23939" b="31584"/>
          <a:stretch>
            <a:fillRect/>
          </a:stretch>
        </p:blipFill>
        <p:spPr bwMode="auto">
          <a:xfrm>
            <a:off x="990600" y="2590800"/>
            <a:ext cx="6248400" cy="358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b="1" dirty="0" smtClean="0"/>
              <a:t>Full duplex (Duplex) transmission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transmission </a:t>
            </a:r>
            <a:r>
              <a:rPr lang="en-GB" dirty="0"/>
              <a:t>is in both directions and simultaneously. </a:t>
            </a:r>
            <a:endParaRPr lang="en-US" b="1" dirty="0"/>
          </a:p>
          <a:p>
            <a:r>
              <a:rPr lang="en-GB" dirty="0" smtClean="0"/>
              <a:t>It is also called a four wire circuit.</a:t>
            </a:r>
          </a:p>
          <a:p>
            <a:endParaRPr lang="en-GB" dirty="0"/>
          </a:p>
          <a:p>
            <a:pPr>
              <a:buNone/>
            </a:pPr>
            <a:r>
              <a:rPr lang="en-GB" dirty="0" smtClean="0"/>
              <a:t>		</a:t>
            </a:r>
            <a:endParaRPr lang="en-US" dirty="0"/>
          </a:p>
        </p:txBody>
      </p:sp>
      <p:pic>
        <p:nvPicPr>
          <p:cNvPr id="4" name="img" descr="http://flylib.com/books/2/567/1/html/2/036_files/image005.gif"/>
          <p:cNvPicPr/>
          <p:nvPr/>
        </p:nvPicPr>
        <p:blipFill>
          <a:blip r:embed="rId2" cstate="print"/>
          <a:srcRect t="60064"/>
          <a:stretch>
            <a:fillRect/>
          </a:stretch>
        </p:blipFill>
        <p:spPr bwMode="auto">
          <a:xfrm>
            <a:off x="838200" y="3352800"/>
            <a:ext cx="6400800" cy="2895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/>
              <a:t/>
            </a:r>
            <a:br>
              <a:rPr lang="en-ZW" b="1" dirty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sz="3100" b="1" dirty="0" smtClean="0"/>
              <a:t>Limitation of  real hardware in  data transmission   </a:t>
            </a:r>
            <a:r>
              <a:rPr lang="en-US" sz="2700" b="1" dirty="0" smtClean="0"/>
              <a:t/>
            </a:r>
            <a:br>
              <a:rPr lang="en-US" sz="2700" b="1" dirty="0" smtClean="0"/>
            </a:br>
            <a:r>
              <a:rPr lang="en-ZW" sz="2700" b="1" dirty="0" smtClean="0"/>
              <a:t>                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/>
              <a:t>Three important measures of performance used to assess transmission media are:</a:t>
            </a:r>
            <a:endParaRPr lang="en-US" dirty="0"/>
          </a:p>
          <a:p>
            <a:pPr lvl="0"/>
            <a:r>
              <a:rPr lang="en-ZW" dirty="0"/>
              <a:t>Channel capacity</a:t>
            </a:r>
            <a:endParaRPr lang="en-US" dirty="0"/>
          </a:p>
          <a:p>
            <a:pPr lvl="0"/>
            <a:r>
              <a:rPr lang="en-ZW" dirty="0"/>
              <a:t>Propagation delay</a:t>
            </a:r>
            <a:endParaRPr lang="en-US" dirty="0"/>
          </a:p>
          <a:p>
            <a:pPr lvl="0"/>
            <a:r>
              <a:rPr lang="en-ZW" dirty="0"/>
              <a:t>Signal levels used</a:t>
            </a:r>
            <a:endParaRPr lang="en-US" dirty="0"/>
          </a:p>
          <a:p>
            <a:pPr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/>
              <a:t>The major objective </a:t>
            </a:r>
            <a:r>
              <a:rPr lang="en-ZW" dirty="0" smtClean="0"/>
              <a:t>transmission:</a:t>
            </a:r>
          </a:p>
          <a:p>
            <a:pPr>
              <a:buFontTx/>
              <a:buChar char="-"/>
            </a:pPr>
            <a:r>
              <a:rPr lang="en-ZW" dirty="0" smtClean="0"/>
              <a:t>is </a:t>
            </a:r>
            <a:r>
              <a:rPr lang="en-ZW" dirty="0"/>
              <a:t>to transmit as much data as possible in the shortest possible time. </a:t>
            </a:r>
            <a:endParaRPr lang="en-ZW" dirty="0" smtClean="0"/>
          </a:p>
          <a:p>
            <a:pPr>
              <a:buFontTx/>
              <a:buChar char="-"/>
            </a:pPr>
            <a:r>
              <a:rPr lang="en-ZW" dirty="0" smtClean="0"/>
              <a:t> </a:t>
            </a:r>
            <a:r>
              <a:rPr lang="en-ZW" dirty="0"/>
              <a:t>To achieve this objective, the relationship between bandwidth of a transmission medium and its capacity becomes important</a:t>
            </a:r>
            <a:r>
              <a:rPr lang="en-ZW" dirty="0" smtClean="0"/>
              <a:t>.</a:t>
            </a:r>
          </a:p>
          <a:p>
            <a:pPr>
              <a:buFontTx/>
              <a:buChar char="-"/>
            </a:pPr>
            <a:r>
              <a:rPr lang="en-ZW" dirty="0" smtClean="0"/>
              <a:t> </a:t>
            </a:r>
            <a:r>
              <a:rPr lang="en-ZW" dirty="0"/>
              <a:t>This relationship was establish by </a:t>
            </a:r>
            <a:r>
              <a:rPr lang="en-ZW" dirty="0" err="1"/>
              <a:t>Nyquist</a:t>
            </a:r>
            <a:r>
              <a:rPr lang="en-ZW" dirty="0"/>
              <a:t> and is popularly known as </a:t>
            </a:r>
            <a:r>
              <a:rPr lang="en-ZW" dirty="0" err="1"/>
              <a:t>Nyquist</a:t>
            </a:r>
            <a:r>
              <a:rPr lang="en-ZW" dirty="0"/>
              <a:t> theorem. 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This theorem provides the theoretical bound on the maximum number of bits (rate) at which data can be sent over a communication medium without considering the effect of noise.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Consider a transmission medium with K possible signal levels and an </a:t>
            </a:r>
            <a:r>
              <a:rPr lang="en-ZW" dirty="0" err="1"/>
              <a:t>analog</a:t>
            </a:r>
            <a:r>
              <a:rPr lang="en-ZW" dirty="0"/>
              <a:t> bandwidth B. </a:t>
            </a:r>
            <a:r>
              <a:rPr lang="en-ZW" dirty="0" err="1"/>
              <a:t>Nyquist’s</a:t>
            </a:r>
            <a:r>
              <a:rPr lang="en-ZW" dirty="0"/>
              <a:t> theorem states that the maximum data rate in bits per second, D can be calculated as:</a:t>
            </a:r>
            <a:endParaRPr lang="en-US" dirty="0"/>
          </a:p>
          <a:p>
            <a:r>
              <a:rPr lang="en-ZW" dirty="0"/>
              <a:t>D = 2B log</a:t>
            </a:r>
            <a:r>
              <a:rPr lang="en-ZW" baseline="-25000" dirty="0"/>
              <a:t>2</a:t>
            </a:r>
            <a:r>
              <a:rPr lang="en-ZW" dirty="0"/>
              <a:t>K </a:t>
            </a:r>
            <a:endParaRPr lang="en-US" dirty="0"/>
          </a:p>
          <a:p>
            <a:pPr>
              <a:buNone/>
            </a:pPr>
            <a:r>
              <a:rPr lang="en-ZW" dirty="0"/>
              <a:t>Where B is the band width and K = signal levels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A </a:t>
            </a:r>
            <a:r>
              <a:rPr lang="en-ZW" dirty="0"/>
              <a:t>noiseless channel has a bandwidth of 3000 Hz (3 kHz) and a signal with two levels.</a:t>
            </a:r>
            <a:endParaRPr lang="en-US" dirty="0"/>
          </a:p>
          <a:p>
            <a:pPr>
              <a:buNone/>
            </a:pPr>
            <a:r>
              <a:rPr lang="en-ZW" dirty="0"/>
              <a:t>The maximum bit rate D can be calculated as:</a:t>
            </a:r>
            <a:endParaRPr lang="en-US" dirty="0"/>
          </a:p>
          <a:p>
            <a:pPr>
              <a:buNone/>
            </a:pPr>
            <a:r>
              <a:rPr lang="en-ZW" dirty="0" smtClean="0"/>
              <a:t>  D </a:t>
            </a:r>
            <a:r>
              <a:rPr lang="en-ZW" dirty="0"/>
              <a:t>= 2B log</a:t>
            </a:r>
            <a:r>
              <a:rPr lang="en-ZW" baseline="-25000" dirty="0"/>
              <a:t>2</a:t>
            </a:r>
            <a:r>
              <a:rPr lang="en-ZW" dirty="0"/>
              <a:t>K </a:t>
            </a:r>
            <a:endParaRPr lang="en-US" dirty="0"/>
          </a:p>
          <a:p>
            <a:pPr>
              <a:buNone/>
            </a:pPr>
            <a:r>
              <a:rPr lang="en-ZW" dirty="0"/>
              <a:t>  </a:t>
            </a:r>
            <a:r>
              <a:rPr lang="en-ZW" dirty="0" smtClean="0"/>
              <a:t>   = </a:t>
            </a:r>
            <a:r>
              <a:rPr lang="en-ZW" dirty="0"/>
              <a:t>2 x 3000 x log</a:t>
            </a:r>
            <a:r>
              <a:rPr lang="en-ZW" baseline="-25000" dirty="0"/>
              <a:t>2</a:t>
            </a:r>
            <a:r>
              <a:rPr lang="en-ZW" dirty="0"/>
              <a:t> 2 = </a:t>
            </a:r>
            <a:r>
              <a:rPr lang="en-ZW" dirty="0" err="1"/>
              <a:t>2</a:t>
            </a:r>
            <a:r>
              <a:rPr lang="en-ZW" dirty="0"/>
              <a:t> x 3000 = 6000 bps</a:t>
            </a:r>
            <a:endParaRPr lang="en-US" dirty="0"/>
          </a:p>
          <a:p>
            <a:pPr>
              <a:buNone/>
            </a:pPr>
            <a:r>
              <a:rPr lang="en-ZW" dirty="0"/>
              <a:t>Two signal levels mean the use of two voltage levels to represent a logical 0 and a logical 1.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3558" t="26800" r="28686" b="32145"/>
          <a:stretch>
            <a:fillRect/>
          </a:stretch>
        </p:blipFill>
        <p:spPr bwMode="auto">
          <a:xfrm>
            <a:off x="685800" y="1752600"/>
            <a:ext cx="7620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/>
              <a:t>To show the effect of signal level on data transfer </a:t>
            </a:r>
            <a:r>
              <a:rPr lang="en-ZW" dirty="0" smtClean="0"/>
              <a:t>rates:</a:t>
            </a:r>
          </a:p>
          <a:p>
            <a:pPr>
              <a:buNone/>
            </a:pPr>
            <a:r>
              <a:rPr lang="en-ZW" dirty="0" smtClean="0"/>
              <a:t>-  </a:t>
            </a:r>
            <a:r>
              <a:rPr lang="en-ZW" dirty="0"/>
              <a:t>we increase the number of signal levels from two to 4. This means that for each level two bits are transmitted. </a:t>
            </a:r>
            <a:endParaRPr lang="en-US" dirty="0"/>
          </a:p>
          <a:p>
            <a:pPr>
              <a:buNone/>
            </a:pPr>
            <a:r>
              <a:rPr lang="en-ZW" dirty="0"/>
              <a:t>Consider the same noiseless channel but with 4 signal level.</a:t>
            </a:r>
            <a:endParaRPr lang="en-US" dirty="0"/>
          </a:p>
          <a:p>
            <a:pPr>
              <a:buNone/>
            </a:pPr>
            <a:r>
              <a:rPr lang="en-ZW" dirty="0"/>
              <a:t>The theoretical maximum bit rate can be calculated as: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    </a:t>
            </a:r>
            <a:r>
              <a:rPr lang="en-ZW" dirty="0" smtClean="0"/>
              <a:t>D </a:t>
            </a:r>
            <a:r>
              <a:rPr lang="en-ZW" dirty="0"/>
              <a:t>= 2 B log</a:t>
            </a:r>
            <a:r>
              <a:rPr lang="en-ZW" baseline="-25000" dirty="0"/>
              <a:t>2</a:t>
            </a:r>
            <a:r>
              <a:rPr lang="en-ZW" dirty="0"/>
              <a:t>4</a:t>
            </a:r>
            <a:endParaRPr lang="en-US" dirty="0"/>
          </a:p>
          <a:p>
            <a:pPr>
              <a:buNone/>
            </a:pPr>
            <a:r>
              <a:rPr lang="en-ZW" dirty="0"/>
              <a:t>   </a:t>
            </a:r>
            <a:r>
              <a:rPr lang="en-ZW" dirty="0" smtClean="0"/>
              <a:t>            </a:t>
            </a:r>
            <a:r>
              <a:rPr lang="en-ZW" dirty="0"/>
              <a:t>= 2 x 3000 x log</a:t>
            </a:r>
            <a:r>
              <a:rPr lang="en-ZW" baseline="-25000" dirty="0"/>
              <a:t>2</a:t>
            </a:r>
            <a:r>
              <a:rPr lang="en-ZW" dirty="0"/>
              <a:t>4</a:t>
            </a:r>
            <a:endParaRPr lang="en-US" dirty="0"/>
          </a:p>
          <a:p>
            <a:pPr>
              <a:buNone/>
            </a:pPr>
            <a:r>
              <a:rPr lang="en-ZW" dirty="0"/>
              <a:t>   </a:t>
            </a:r>
            <a:r>
              <a:rPr lang="en-ZW" dirty="0" smtClean="0"/>
              <a:t>            </a:t>
            </a:r>
            <a:r>
              <a:rPr lang="en-ZW" dirty="0"/>
              <a:t>= 2 x 3000 x 2</a:t>
            </a:r>
            <a:endParaRPr lang="en-US" dirty="0"/>
          </a:p>
          <a:p>
            <a:pPr>
              <a:buNone/>
            </a:pPr>
            <a:r>
              <a:rPr lang="en-ZW" dirty="0"/>
              <a:t>   </a:t>
            </a:r>
            <a:r>
              <a:rPr lang="en-ZW" dirty="0" smtClean="0"/>
              <a:t>            </a:t>
            </a:r>
            <a:r>
              <a:rPr lang="en-ZW" dirty="0"/>
              <a:t>= 12000bps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1314" t="25021" r="29167" b="30199"/>
          <a:stretch>
            <a:fillRect/>
          </a:stretch>
        </p:blipFill>
        <p:spPr bwMode="auto">
          <a:xfrm>
            <a:off x="533400" y="1905000"/>
            <a:ext cx="761999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/>
              <a:t>It is also possible to calculate the signal levels given the channel capacity</a:t>
            </a:r>
            <a:r>
              <a:rPr lang="en-ZW" dirty="0" smtClean="0"/>
              <a:t>.</a:t>
            </a:r>
          </a:p>
          <a:p>
            <a:pPr>
              <a:buNone/>
            </a:pPr>
            <a:r>
              <a:rPr lang="en-ZW" dirty="0" smtClean="0"/>
              <a:t> </a:t>
            </a:r>
            <a:r>
              <a:rPr lang="en-ZW" dirty="0"/>
              <a:t>For example, assume  a communications engineer needs to transmit data at a transfer rate of 265kbps over a noiseless channel with a bandwidth of 20 kHz. How many signal levels will he need?</a:t>
            </a: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D = 2 B log</a:t>
            </a:r>
            <a:r>
              <a:rPr lang="en-ZW" baseline="-25000" dirty="0"/>
              <a:t>2</a:t>
            </a:r>
            <a:r>
              <a:rPr lang="en-ZW" dirty="0"/>
              <a:t>K</a:t>
            </a:r>
            <a:endParaRPr lang="en-US" dirty="0"/>
          </a:p>
          <a:p>
            <a:r>
              <a:rPr lang="en-ZW" dirty="0"/>
              <a:t>265,000 = 2 x 20,000 x log</a:t>
            </a:r>
            <a:r>
              <a:rPr lang="en-ZW" baseline="-25000" dirty="0"/>
              <a:t>2</a:t>
            </a:r>
            <a:r>
              <a:rPr lang="en-ZW" dirty="0"/>
              <a:t>K</a:t>
            </a:r>
            <a:endParaRPr lang="en-US" dirty="0"/>
          </a:p>
          <a:p>
            <a:r>
              <a:rPr lang="en-ZW" dirty="0"/>
              <a:t>Log</a:t>
            </a:r>
            <a:r>
              <a:rPr lang="en-ZW" baseline="-25000" dirty="0"/>
              <a:t>2 </a:t>
            </a:r>
            <a:r>
              <a:rPr lang="en-ZW" dirty="0"/>
              <a:t>K = 265,000/40,000 = 6.625</a:t>
            </a:r>
            <a:endParaRPr lang="en-US" dirty="0"/>
          </a:p>
          <a:p>
            <a:r>
              <a:rPr lang="en-ZW" dirty="0"/>
              <a:t>K = 2</a:t>
            </a:r>
            <a:r>
              <a:rPr lang="en-ZW" baseline="30000" dirty="0"/>
              <a:t>6.625</a:t>
            </a:r>
            <a:endParaRPr lang="en-US" dirty="0"/>
          </a:p>
          <a:p>
            <a:r>
              <a:rPr lang="en-ZW" dirty="0"/>
              <a:t>    = 98.7K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/>
              <a:t>The signal levels values are always a power of 2 but the above result of K is not a power of 2. </a:t>
            </a:r>
            <a:endParaRPr lang="en-ZW" dirty="0" smtClean="0"/>
          </a:p>
          <a:p>
            <a:pPr>
              <a:buNone/>
            </a:pPr>
            <a:r>
              <a:rPr lang="en-ZW" dirty="0" smtClean="0"/>
              <a:t>There </a:t>
            </a:r>
            <a:r>
              <a:rPr lang="en-ZW" dirty="0"/>
              <a:t>is need to either increase the number of levels or reduce the bit rate. </a:t>
            </a:r>
            <a:endParaRPr lang="en-ZW" dirty="0" smtClean="0"/>
          </a:p>
          <a:p>
            <a:pPr>
              <a:buNone/>
            </a:pPr>
            <a:r>
              <a:rPr lang="en-ZW" dirty="0" smtClean="0"/>
              <a:t>If </a:t>
            </a:r>
            <a:r>
              <a:rPr lang="en-ZW" dirty="0"/>
              <a:t>128 levels are chosen, the bit rate will be 280Kbps. If a lover value is used say 64 levels is used, the bit rate will be 240 k bps.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>The effect of noise on a communication channel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 err="1" smtClean="0"/>
              <a:t>Nyquist</a:t>
            </a:r>
            <a:r>
              <a:rPr lang="en-ZW" dirty="0" smtClean="0"/>
              <a:t> </a:t>
            </a:r>
            <a:r>
              <a:rPr lang="en-ZW" dirty="0"/>
              <a:t>theorem gives an absolute maximum that is not achievable in </a:t>
            </a:r>
            <a:r>
              <a:rPr lang="en-ZW" dirty="0" smtClean="0"/>
              <a:t>practice</a:t>
            </a:r>
          </a:p>
          <a:p>
            <a:r>
              <a:rPr lang="en-ZW" dirty="0" smtClean="0"/>
              <a:t> </a:t>
            </a:r>
            <a:r>
              <a:rPr lang="en-ZW" dirty="0"/>
              <a:t>This is because a communication channel is subject to some small amounts of electrical noise which cannot be eliminated. </a:t>
            </a:r>
            <a:endParaRPr lang="en-ZW" dirty="0" smtClean="0"/>
          </a:p>
          <a:p>
            <a:r>
              <a:rPr lang="en-ZW" dirty="0" smtClean="0"/>
              <a:t>Such </a:t>
            </a:r>
            <a:r>
              <a:rPr lang="en-ZW" dirty="0"/>
              <a:t>noise makes it impossible to achieve the theoretical maximum transmission rate.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 smtClean="0"/>
              <a:t>Claude Shannon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 smtClean="0"/>
              <a:t>Shannon extended </a:t>
            </a:r>
            <a:r>
              <a:rPr lang="en-ZW" dirty="0" err="1" smtClean="0"/>
              <a:t>Nyquist</a:t>
            </a:r>
            <a:r>
              <a:rPr lang="en-ZW" dirty="0" smtClean="0"/>
              <a:t> theorem to specify maximum data rate that could be achieved over a transmission channel that experiences noise. This is known as Shannon’s theorem, and can be expressed as:</a:t>
            </a:r>
          </a:p>
          <a:p>
            <a:pPr>
              <a:buNone/>
            </a:pPr>
            <a:r>
              <a:rPr lang="en-ZW" dirty="0"/>
              <a:t>C = B log</a:t>
            </a:r>
            <a:r>
              <a:rPr lang="en-ZW" baseline="-25000" dirty="0"/>
              <a:t>2 </a:t>
            </a:r>
            <a:r>
              <a:rPr lang="en-ZW" dirty="0"/>
              <a:t>(1 + (S/N)), where C is the effect limit on the channel capacity in bits per second; B is the hardware bandwidth and S/N is the signal to noise ratio.</a:t>
            </a: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Example of calculating channel capacity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 smtClean="0"/>
              <a:t>Consider a transmission medium that has a bandwidth of 1 kHz, an average signal to power of 70 units and an average noise power of 10 units. Calculate channel capacity.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Channel capacity C is calculated as:</a:t>
            </a:r>
            <a:endParaRPr lang="en-US" dirty="0" smtClean="0"/>
          </a:p>
          <a:p>
            <a:r>
              <a:rPr lang="en-ZW" dirty="0" smtClean="0"/>
              <a:t>C = B log</a:t>
            </a:r>
            <a:r>
              <a:rPr lang="en-ZW" baseline="-25000" dirty="0" smtClean="0"/>
              <a:t>2</a:t>
            </a:r>
            <a:r>
              <a:rPr lang="en-ZW" dirty="0" smtClean="0"/>
              <a:t> (1 + S/N)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      =  10</a:t>
            </a:r>
            <a:r>
              <a:rPr lang="en-ZW" baseline="30000" dirty="0" smtClean="0"/>
              <a:t>3</a:t>
            </a:r>
            <a:r>
              <a:rPr lang="en-ZW" dirty="0" smtClean="0"/>
              <a:t> x log</a:t>
            </a:r>
            <a:r>
              <a:rPr lang="en-ZW" baseline="-25000" dirty="0" smtClean="0"/>
              <a:t>2</a:t>
            </a:r>
            <a:r>
              <a:rPr lang="en-ZW" dirty="0" smtClean="0"/>
              <a:t> (1 + 7) = 10</a:t>
            </a:r>
            <a:r>
              <a:rPr lang="en-ZW" baseline="30000" dirty="0" smtClean="0"/>
              <a:t>3</a:t>
            </a:r>
            <a:r>
              <a:rPr lang="en-ZW" dirty="0" smtClean="0"/>
              <a:t> x 3 = 3000 bps.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The signal to noise ratio is often expressed in decibel(dB) and a decibel is defined as a measure of the difference between two power levels, for example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 l="23878" t="26235" r="26442" b="46390"/>
          <a:stretch>
            <a:fillRect/>
          </a:stretch>
        </p:blipFill>
        <p:spPr bwMode="auto">
          <a:xfrm>
            <a:off x="533400" y="2286000"/>
            <a:ext cx="762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The use of decibels as a measure is favoured in some instances because of the following reasons:</a:t>
            </a:r>
            <a:endParaRPr lang="en-US" dirty="0" smtClean="0"/>
          </a:p>
          <a:p>
            <a:pPr lvl="0">
              <a:buFontTx/>
              <a:buChar char="-"/>
            </a:pPr>
            <a:r>
              <a:rPr lang="en-ZW" dirty="0" smtClean="0"/>
              <a:t>A negative dB value means that there has been signal attenuation and</a:t>
            </a:r>
          </a:p>
          <a:p>
            <a:pPr lvl="0">
              <a:buFontTx/>
              <a:buChar char="-"/>
            </a:pPr>
            <a:r>
              <a:rPr lang="en-ZW" dirty="0" smtClean="0"/>
              <a:t> a positive dB value means that there has been signal amplification.</a:t>
            </a:r>
            <a:endParaRPr lang="en-US" dirty="0" smtClean="0"/>
          </a:p>
          <a:p>
            <a:pPr lvl="0"/>
            <a:r>
              <a:rPr lang="en-ZW" dirty="0" smtClean="0"/>
              <a:t>If a communication system has multiple components arranged in sequence, the decibel measures can be summed up to produce a measure of the overall system.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The telephone system has a signal to noise ratio of approximately 30 dB and an </a:t>
            </a:r>
            <a:r>
              <a:rPr lang="en-ZW" dirty="0" err="1" smtClean="0"/>
              <a:t>analog</a:t>
            </a:r>
            <a:r>
              <a:rPr lang="en-ZW" dirty="0" smtClean="0"/>
              <a:t> bandwidth of 3000Hz (3 kHz). </a:t>
            </a:r>
          </a:p>
          <a:p>
            <a:pPr>
              <a:buFont typeface="Arial" pitchFamily="34" charset="0"/>
              <a:buChar char="•"/>
            </a:pPr>
            <a:r>
              <a:rPr lang="en-ZW" dirty="0" smtClean="0"/>
              <a:t>To convert a signal to noise ratio in decibels into a simple fraction, divide by 10 and use the result as a power of 10, for example to convert 30 dB into a simple fraction: ( 30/10 = 3 and 10</a:t>
            </a:r>
            <a:r>
              <a:rPr lang="en-ZW" baseline="30000" dirty="0" smtClean="0"/>
              <a:t>3</a:t>
            </a:r>
            <a:r>
              <a:rPr lang="en-ZW" dirty="0" smtClean="0"/>
              <a:t> = 1000) so the signal to noise ratio is 1000. This is important when calculations are carried out when the signal to noise is given in decibels.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Shannon’s theorem can be used to calculate/determine the maximum number of bits that can be transmitted across the telephone network as follows: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   C = B log</a:t>
            </a:r>
            <a:r>
              <a:rPr lang="en-ZW" baseline="-25000" dirty="0" smtClean="0"/>
              <a:t>2</a:t>
            </a:r>
            <a:r>
              <a:rPr lang="en-ZW" dirty="0" smtClean="0"/>
              <a:t> (1 + S/N)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       = 3000 x log</a:t>
            </a:r>
            <a:r>
              <a:rPr lang="en-ZW" baseline="-25000" dirty="0" smtClean="0"/>
              <a:t>2</a:t>
            </a:r>
            <a:r>
              <a:rPr lang="en-ZW" dirty="0" smtClean="0"/>
              <a:t> (1+1000) ≈ 30,000 bps.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ZW" b="1" dirty="0" smtClean="0"/>
              <a:t>Example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A channel has a bandwidth of 1 MHz and a signal to noise ratio of 63. Calculate the appropriate bit rate and signal levels.</a:t>
            </a:r>
            <a:endParaRPr lang="en-US" dirty="0" smtClean="0"/>
          </a:p>
          <a:p>
            <a:pPr>
              <a:buNone/>
            </a:pPr>
            <a:r>
              <a:rPr lang="en-ZW" b="1" dirty="0" smtClean="0"/>
              <a:t>Solution</a:t>
            </a:r>
            <a:endParaRPr lang="en-US" dirty="0" smtClean="0"/>
          </a:p>
          <a:p>
            <a:r>
              <a:rPr lang="en-ZW" dirty="0" smtClean="0"/>
              <a:t>Use Shannon’s theorem to find the maximum limit: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C = B log</a:t>
            </a:r>
            <a:r>
              <a:rPr lang="en-ZW" baseline="-25000" dirty="0" smtClean="0"/>
              <a:t>2</a:t>
            </a:r>
            <a:r>
              <a:rPr lang="en-ZW" dirty="0" smtClean="0"/>
              <a:t> (1+S/N) = 10</a:t>
            </a:r>
            <a:r>
              <a:rPr lang="en-ZW" baseline="30000" dirty="0" smtClean="0"/>
              <a:t>6 </a:t>
            </a:r>
            <a:r>
              <a:rPr lang="en-ZW" dirty="0" smtClean="0"/>
              <a:t>log</a:t>
            </a:r>
            <a:r>
              <a:rPr lang="en-ZW" baseline="-25000" dirty="0" smtClean="0"/>
              <a:t>2</a:t>
            </a:r>
            <a:r>
              <a:rPr lang="en-ZW" dirty="0" smtClean="0"/>
              <a:t> (1 + 63) = 10</a:t>
            </a:r>
            <a:r>
              <a:rPr lang="en-ZW" baseline="30000" dirty="0" smtClean="0"/>
              <a:t>6 </a:t>
            </a:r>
            <a:r>
              <a:rPr lang="en-ZW" dirty="0" smtClean="0"/>
              <a:t>log</a:t>
            </a:r>
            <a:r>
              <a:rPr lang="en-ZW" baseline="-25000" dirty="0" smtClean="0"/>
              <a:t>2</a:t>
            </a:r>
            <a:r>
              <a:rPr lang="en-ZW" dirty="0" smtClean="0"/>
              <a:t>64 = 10</a:t>
            </a:r>
            <a:r>
              <a:rPr lang="en-ZW" baseline="30000" dirty="0" smtClean="0"/>
              <a:t>6</a:t>
            </a:r>
            <a:r>
              <a:rPr lang="en-ZW" dirty="0" smtClean="0"/>
              <a:t> x 6 = </a:t>
            </a:r>
            <a:r>
              <a:rPr lang="en-ZW" dirty="0" err="1" smtClean="0"/>
              <a:t>6</a:t>
            </a:r>
            <a:r>
              <a:rPr lang="en-ZW" dirty="0" smtClean="0"/>
              <a:t> Mbps</a:t>
            </a:r>
            <a:endParaRPr lang="en-US" dirty="0" smtClean="0"/>
          </a:p>
          <a:p>
            <a:pPr>
              <a:buNone/>
            </a:pPr>
            <a:endParaRPr lang="en-ZW" dirty="0" smtClean="0"/>
          </a:p>
          <a:p>
            <a:pPr>
              <a:buNone/>
            </a:pPr>
            <a:r>
              <a:rPr lang="en-ZW" dirty="0" smtClean="0"/>
              <a:t>Shannon’s theorem gives 6 Mbps, as the maximum of the channel. A lower upper limit such as    4 Mbps is preferred for a better channel performance. Shannon’s theorem does not operate with signal levels so </a:t>
            </a:r>
            <a:r>
              <a:rPr lang="en-ZW" dirty="0" err="1" smtClean="0"/>
              <a:t>Nyquist</a:t>
            </a:r>
            <a:r>
              <a:rPr lang="en-ZW" dirty="0" smtClean="0"/>
              <a:t> theorem is used to calculate the signal levels.</a:t>
            </a:r>
            <a:endParaRPr lang="en-US" dirty="0" smtClean="0"/>
          </a:p>
          <a:p>
            <a:r>
              <a:rPr lang="en-ZW" dirty="0" smtClean="0"/>
              <a:t>4 Mbps = 2 x 1 MHz log</a:t>
            </a:r>
            <a:r>
              <a:rPr lang="en-ZW" baseline="-25000" dirty="0" smtClean="0"/>
              <a:t>2</a:t>
            </a:r>
            <a:r>
              <a:rPr lang="en-ZW" dirty="0" smtClean="0"/>
              <a:t>K</a:t>
            </a:r>
            <a:endParaRPr lang="en-US" dirty="0" smtClean="0"/>
          </a:p>
          <a:p>
            <a:r>
              <a:rPr lang="en-ZW" dirty="0" smtClean="0"/>
              <a:t>Log</a:t>
            </a:r>
            <a:r>
              <a:rPr lang="en-ZW" baseline="-25000" dirty="0" smtClean="0"/>
              <a:t>2 </a:t>
            </a:r>
            <a:r>
              <a:rPr lang="en-ZW" dirty="0" smtClean="0"/>
              <a:t>K  = </a:t>
            </a:r>
            <a:endParaRPr lang="en-US" dirty="0" smtClean="0"/>
          </a:p>
          <a:p>
            <a:r>
              <a:rPr lang="en-ZW" dirty="0" smtClean="0"/>
              <a:t>            = 2</a:t>
            </a:r>
            <a:endParaRPr lang="en-US" dirty="0" smtClean="0"/>
          </a:p>
          <a:p>
            <a:r>
              <a:rPr lang="en-ZW" dirty="0" smtClean="0"/>
              <a:t>Log</a:t>
            </a:r>
            <a:r>
              <a:rPr lang="en-ZW" baseline="-25000" dirty="0" smtClean="0"/>
              <a:t>2</a:t>
            </a:r>
            <a:r>
              <a:rPr lang="en-ZW" dirty="0" smtClean="0"/>
              <a:t>K = 2</a:t>
            </a:r>
            <a:endParaRPr lang="en-US" dirty="0" smtClean="0"/>
          </a:p>
          <a:p>
            <a:r>
              <a:rPr lang="en-ZW" dirty="0" smtClean="0"/>
              <a:t>K = 2</a:t>
            </a:r>
            <a:r>
              <a:rPr lang="en-ZW" baseline="30000" dirty="0" smtClean="0"/>
              <a:t>2</a:t>
            </a:r>
            <a:r>
              <a:rPr lang="en-ZW" dirty="0" smtClean="0"/>
              <a:t>  = 4 signal levels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Significance of </a:t>
            </a:r>
            <a:r>
              <a:rPr lang="en-US" dirty="0" err="1" smtClean="0"/>
              <a:t>Nyquist</a:t>
            </a:r>
            <a:r>
              <a:rPr lang="en-US" dirty="0" smtClean="0"/>
              <a:t> and Shannon ‘s theorems to DC engineers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Harry </a:t>
            </a:r>
            <a:r>
              <a:rPr lang="en-ZW" dirty="0" err="1" smtClean="0"/>
              <a:t>Nyquist</a:t>
            </a:r>
            <a:r>
              <a:rPr lang="en-ZW" dirty="0" smtClean="0"/>
              <a:t> and Claude Shannon’s theorems have consequences for engineers who design data communication networks.</a:t>
            </a:r>
          </a:p>
          <a:p>
            <a:pPr>
              <a:buFont typeface="Arial" pitchFamily="34" charset="0"/>
              <a:buChar char="•"/>
            </a:pPr>
            <a:r>
              <a:rPr lang="en-ZW" dirty="0" err="1" smtClean="0"/>
              <a:t>Nyquist</a:t>
            </a:r>
            <a:r>
              <a:rPr lang="en-ZW" dirty="0" smtClean="0"/>
              <a:t> theorem has provided an incentive to explore complex or clever ways to encode bits on signals because a clever way of encoding allows more bits to be transmitted per unit time.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ZW" smtClean="0"/>
          </a:p>
          <a:p>
            <a:pPr>
              <a:buNone/>
            </a:pPr>
            <a:r>
              <a:rPr lang="en-ZW" smtClean="0"/>
              <a:t>Shannon’s </a:t>
            </a:r>
            <a:r>
              <a:rPr lang="en-ZW" dirty="0" smtClean="0"/>
              <a:t>theorem is more fundamental as it informs engineers that no amount of clever encoding can overcome the laws of physics that place a fundamental limit on the number of bits per second that can be transmitted in a real communication system.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1005</TotalTime>
  <Words>1260</Words>
  <Application>Microsoft Office PowerPoint</Application>
  <PresentationFormat>On-screen Show (4:3)</PresentationFormat>
  <Paragraphs>125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Flow</vt:lpstr>
      <vt:lpstr>LECTURE 6: Transmission modes in  communication channels</vt:lpstr>
      <vt:lpstr>Simplex transmission mode</vt:lpstr>
      <vt:lpstr>PowerPoint Presentation</vt:lpstr>
      <vt:lpstr>Half duplex transmission </vt:lpstr>
      <vt:lpstr>Typical examples</vt:lpstr>
      <vt:lpstr>PowerPoint Presentation</vt:lpstr>
      <vt:lpstr>PowerPoint Presentation</vt:lpstr>
      <vt:lpstr>Full duplex (Duplex) transmission </vt:lpstr>
      <vt:lpstr>   Limitation of  real hardware in  data transmission                        </vt:lpstr>
      <vt:lpstr>PowerPoint Presentation</vt:lpstr>
      <vt:lpstr>PowerPoint Presentation</vt:lpstr>
      <vt:lpstr>PowerPoint Presentation</vt:lpstr>
      <vt:lpstr>Example: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The effect of noise on a communication channel </vt:lpstr>
      <vt:lpstr>Claude Shannon</vt:lpstr>
      <vt:lpstr>      Example of calculating channel capacity</vt:lpstr>
      <vt:lpstr>PowerPoint Presentation</vt:lpstr>
      <vt:lpstr>PowerPoint Presentation</vt:lpstr>
      <vt:lpstr>   Example</vt:lpstr>
      <vt:lpstr>PowerPoint Presentation</vt:lpstr>
      <vt:lpstr>PowerPoint Presentation</vt:lpstr>
      <vt:lpstr> Significance of Nyquist and Shannon ‘s theorems to DC engineers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langstone.shumba</dc:creator>
  <cp:lastModifiedBy>Langtone Shumba</cp:lastModifiedBy>
  <cp:revision>10</cp:revision>
  <dcterms:created xsi:type="dcterms:W3CDTF">2017-09-19T12:23:59Z</dcterms:created>
  <dcterms:modified xsi:type="dcterms:W3CDTF">2020-07-09T13:16:39Z</dcterms:modified>
</cp:coreProperties>
</file>