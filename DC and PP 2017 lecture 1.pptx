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52" autoAdjust="0"/>
  </p:normalViewPr>
  <p:slideViewPr>
    <p:cSldViewPr>
      <p:cViewPr varScale="1">
        <p:scale>
          <a:sx n="66" d="100"/>
          <a:sy n="66" d="100"/>
        </p:scale>
        <p:origin x="1280"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12960B8-B6F0-4CCC-B8F7-A99AA41E1750}"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0576AB-476C-4AE2-B81F-0378D2EEDCD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2960B8-B6F0-4CCC-B8F7-A99AA41E1750}"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0576AB-476C-4AE2-B81F-0378D2EEDCD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12960B8-B6F0-4CCC-B8F7-A99AA41E1750}"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0576AB-476C-4AE2-B81F-0378D2EEDCD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12960B8-B6F0-4CCC-B8F7-A99AA41E1750}"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0576AB-476C-4AE2-B81F-0378D2EEDCD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12960B8-B6F0-4CCC-B8F7-A99AA41E1750}" type="datetimeFigureOut">
              <a:rPr lang="en-US" smtClean="0"/>
              <a:pPr/>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0576AB-476C-4AE2-B81F-0378D2EEDCD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12960B8-B6F0-4CCC-B8F7-A99AA41E1750}" type="datetimeFigureOut">
              <a:rPr lang="en-US" smtClean="0"/>
              <a:pPr/>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0576AB-476C-4AE2-B81F-0378D2EEDCD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2960B8-B6F0-4CCC-B8F7-A99AA41E1750}" type="datetimeFigureOut">
              <a:rPr lang="en-US" smtClean="0"/>
              <a:pPr/>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0576AB-476C-4AE2-B81F-0378D2EEDCD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2960B8-B6F0-4CCC-B8F7-A99AA41E1750}"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0576AB-476C-4AE2-B81F-0378D2EEDCD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2960B8-B6F0-4CCC-B8F7-A99AA41E1750}"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0576AB-476C-4AE2-B81F-0378D2EEDCD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2960B8-B6F0-4CCC-B8F7-A99AA41E1750}"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0576AB-476C-4AE2-B81F-0378D2EEDCD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2960B8-B6F0-4CCC-B8F7-A99AA41E1750}"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0576AB-476C-4AE2-B81F-0378D2EEDCD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2960B8-B6F0-4CCC-B8F7-A99AA41E1750}" type="datetimeFigureOut">
              <a:rPr lang="en-US" smtClean="0"/>
              <a:pPr/>
              <a:t>1/12/2026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0576AB-476C-4AE2-B81F-0378D2EEDCD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earchcio-midmarket.techtarget.com/definition/curren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earchmobilecomputing.techtarget.com/definition/hertz"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DC and PP lecture 1</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ZW" b="1" dirty="0"/>
              <a:t>Historic motivation of networking</a:t>
            </a:r>
            <a:endParaRPr lang="en-US" b="1" dirty="0"/>
          </a:p>
          <a:p>
            <a:pPr>
              <a:buNone/>
            </a:pPr>
            <a:r>
              <a:rPr lang="en-US" dirty="0"/>
              <a:t>The historic </a:t>
            </a:r>
            <a:r>
              <a:rPr lang="en-US" dirty="0" smtClean="0"/>
              <a:t>motivation: </a:t>
            </a:r>
          </a:p>
          <a:p>
            <a:r>
              <a:rPr lang="en-US" dirty="0" smtClean="0"/>
              <a:t>not </a:t>
            </a:r>
            <a:r>
              <a:rPr lang="en-US" dirty="0"/>
              <a:t>to transmit data from one source to a </a:t>
            </a:r>
            <a:r>
              <a:rPr lang="en-US" dirty="0" smtClean="0"/>
              <a:t>destination</a:t>
            </a:r>
          </a:p>
          <a:p>
            <a:r>
              <a:rPr lang="en-US" dirty="0" smtClean="0"/>
              <a:t>was </a:t>
            </a:r>
            <a:r>
              <a:rPr lang="en-US" dirty="0"/>
              <a:t>as a desire to share expensive computer resources</a:t>
            </a:r>
            <a:r>
              <a:rPr lang="en-US" dirty="0" smtClean="0"/>
              <a:t>.</a:t>
            </a:r>
          </a:p>
          <a:p>
            <a:r>
              <a:rPr lang="en-US" dirty="0" smtClean="0"/>
              <a:t> </a:t>
            </a:r>
            <a:r>
              <a:rPr lang="en-US" dirty="0"/>
              <a:t>early computers were large centralized and were very expensive to own</a:t>
            </a:r>
            <a:r>
              <a:rPr lang="en-US" dirty="0" smtClean="0"/>
              <a:t>.</a:t>
            </a:r>
          </a:p>
          <a:p>
            <a:r>
              <a:rPr lang="en-US" dirty="0" smtClean="0"/>
              <a:t> </a:t>
            </a:r>
            <a:r>
              <a:rPr lang="en-US" dirty="0"/>
              <a:t>Only a few big companies could afford them </a:t>
            </a:r>
            <a:r>
              <a:rPr lang="en-US" dirty="0" smtClean="0"/>
              <a:t>e.g. the </a:t>
            </a:r>
            <a:r>
              <a:rPr lang="en-US" dirty="0"/>
              <a:t>U S army, IBM   and Government departments such as Salary Service Bureau and others. </a:t>
            </a:r>
            <a:endParaRPr lang="en-US" dirty="0" smtClean="0"/>
          </a:p>
          <a:p>
            <a:r>
              <a:rPr lang="en-US" dirty="0" smtClean="0"/>
              <a:t>Computer </a:t>
            </a:r>
            <a:r>
              <a:rPr lang="en-US" dirty="0"/>
              <a:t>programs took long to run and computers could not be found everywhere as is the case now.</a:t>
            </a:r>
          </a:p>
          <a:p>
            <a:pPr>
              <a:buNone/>
            </a:pP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a:t>History of networking</a:t>
            </a:r>
            <a:r>
              <a:rPr lang="en-US" b="1" dirty="0"/>
              <a:t/>
            </a:r>
            <a:br>
              <a:rPr lang="en-US" b="1" dirty="0"/>
            </a:b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ZW" dirty="0"/>
              <a:t>Advanced research projects agency (ARPA) initiated the project to connect researchers with computers. A new technology such as packet switching was adopted for transmitting data over a networking arrangement. Such early packet technology includes Asynchronous Transfer mode (ATM), Frame relay and Integrated Services Digital Network (ISDN).  This new technology resulted in systems accessing remote expensive computing resources. This system of internetworking was called </a:t>
            </a:r>
            <a:r>
              <a:rPr lang="en-ZW" dirty="0" err="1"/>
              <a:t>ARPANet</a:t>
            </a:r>
            <a:r>
              <a:rPr lang="en-ZW" dirty="0"/>
              <a:t> and it started the late 1960s. Arpanet was not using the Transmission Control Protocol (TCP)/Internet Protocol but was using Network Control Program (NCP).</a:t>
            </a:r>
            <a:endParaRPr lang="en-US" dirty="0"/>
          </a:p>
          <a:p>
            <a:pPr>
              <a:buNone/>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Networking value addition</a:t>
            </a:r>
            <a:endParaRPr lang="en-US" dirty="0"/>
          </a:p>
        </p:txBody>
      </p:sp>
      <p:sp>
        <p:nvSpPr>
          <p:cNvPr id="3" name="Content Placeholder 2"/>
          <p:cNvSpPr>
            <a:spLocks noGrp="1"/>
          </p:cNvSpPr>
          <p:nvPr>
            <p:ph idx="1"/>
          </p:nvPr>
        </p:nvSpPr>
        <p:spPr/>
        <p:txBody>
          <a:bodyPr/>
          <a:lstStyle/>
          <a:p>
            <a:r>
              <a:rPr lang="en-US" dirty="0" smtClean="0"/>
              <a:t>Networking brought with itself networking value addition such as:</a:t>
            </a:r>
          </a:p>
          <a:p>
            <a:pPr lvl="0"/>
            <a:r>
              <a:rPr lang="en-US" dirty="0" smtClean="0"/>
              <a:t>Resource sharing</a:t>
            </a:r>
          </a:p>
          <a:p>
            <a:pPr lvl="0"/>
            <a:r>
              <a:rPr lang="en-US" dirty="0" smtClean="0"/>
              <a:t>Data sharing</a:t>
            </a:r>
          </a:p>
          <a:p>
            <a:pPr lvl="0"/>
            <a:r>
              <a:rPr lang="en-US" dirty="0" smtClean="0"/>
              <a:t>Easy coordinated communication</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smtClean="0"/>
              <a:t>Terminology</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pPr>
              <a:buNone/>
            </a:pPr>
            <a:r>
              <a:rPr lang="en-ZW" b="1" dirty="0" smtClean="0"/>
              <a:t>Frequency</a:t>
            </a:r>
            <a:r>
              <a:rPr lang="en-ZW" dirty="0" smtClean="0"/>
              <a:t> </a:t>
            </a:r>
          </a:p>
          <a:p>
            <a:r>
              <a:rPr lang="en-ZW" dirty="0" smtClean="0"/>
              <a:t>number </a:t>
            </a:r>
            <a:r>
              <a:rPr lang="en-ZW" dirty="0"/>
              <a:t>of waves that pass through a fixed place in a given amount of time for example if the time it takes for a wave to pass is ½ a second, then the frequency is 2 per second</a:t>
            </a:r>
            <a:r>
              <a:rPr lang="en-ZW" dirty="0" smtClean="0"/>
              <a:t>.</a:t>
            </a:r>
          </a:p>
          <a:p>
            <a:r>
              <a:rPr lang="en-US" dirty="0" smtClean="0"/>
              <a:t>  </a:t>
            </a:r>
            <a:r>
              <a:rPr lang="en-US" dirty="0"/>
              <a:t>For the alternating/ varying </a:t>
            </a:r>
            <a:r>
              <a:rPr lang="en-US" u="sng" dirty="0">
                <a:hlinkClick r:id="rId2"/>
              </a:rPr>
              <a:t>current</a:t>
            </a:r>
            <a:r>
              <a:rPr lang="en-US" dirty="0"/>
              <a:t>, frequency is the number of complete cycles per second in alternating current direction. </a:t>
            </a:r>
          </a:p>
          <a:p>
            <a:pPr>
              <a:buNone/>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smtClean="0"/>
              <a:t>Frequency is measured in </a:t>
            </a:r>
            <a:r>
              <a:rPr lang="en-US" u="sng" dirty="0" smtClean="0">
                <a:hlinkClick r:id="rId2"/>
              </a:rPr>
              <a:t>hertz</a:t>
            </a:r>
            <a:r>
              <a:rPr lang="en-US" dirty="0" smtClean="0"/>
              <a:t> (Hz) .If a current completes one cycle per second, then the frequency is 1 Hz. </a:t>
            </a:r>
          </a:p>
          <a:p>
            <a:r>
              <a:rPr lang="en-US" dirty="0" smtClean="0"/>
              <a:t>If current completes 80 cycles per second, this equals 80 Hz. </a:t>
            </a:r>
          </a:p>
          <a:p>
            <a:r>
              <a:rPr lang="en-US" dirty="0" smtClean="0"/>
              <a:t>Larger units of frequency include kilohertz (kHz) 1000’s cycles per second, Megahertz (MHz) millions of cycles per second , Gigahertz(GHz) billions of cycles per second</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Wavelength</a:t>
            </a:r>
            <a:endParaRPr lang="en-US" dirty="0"/>
          </a:p>
        </p:txBody>
      </p:sp>
      <p:pic>
        <p:nvPicPr>
          <p:cNvPr id="4" name="img" descr="http://www.billavista.com/atv/Articles/Offroad_Radios_and_Comms/images/2EM/Sine%20wave.jpg"/>
          <p:cNvPicPr>
            <a:picLocks noGrp="1"/>
          </p:cNvPicPr>
          <p:nvPr>
            <p:ph idx="1"/>
          </p:nvPr>
        </p:nvPicPr>
        <p:blipFill>
          <a:blip r:embed="rId2" cstate="print"/>
          <a:srcRect/>
          <a:stretch>
            <a:fillRect/>
          </a:stretch>
        </p:blipFill>
        <p:spPr bwMode="auto">
          <a:xfrm>
            <a:off x="1320590" y="1600200"/>
            <a:ext cx="6502820" cy="4525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a:bodyPr>
          <a:lstStyle/>
          <a:p>
            <a:r>
              <a:rPr lang="en-US" dirty="0"/>
              <a:t>defined as the distance from a particular height on the wave to the next spot on the wave where it is at the same height and going in the same direction. (See diagram</a:t>
            </a:r>
            <a:r>
              <a:rPr lang="en-US" dirty="0" smtClean="0"/>
              <a:t>).</a:t>
            </a:r>
          </a:p>
          <a:p>
            <a:r>
              <a:rPr lang="en-US" dirty="0" smtClean="0"/>
              <a:t> wavelength </a:t>
            </a:r>
            <a:r>
              <a:rPr lang="en-US" dirty="0"/>
              <a:t>is designated by the symbol lambda (ƛ). </a:t>
            </a:r>
            <a:endParaRPr lang="en-US" dirty="0" smtClean="0"/>
          </a:p>
          <a:p>
            <a:r>
              <a:rPr lang="en-US" dirty="0" smtClean="0"/>
              <a:t>Frequency </a:t>
            </a:r>
            <a:r>
              <a:rPr lang="en-US" dirty="0"/>
              <a:t>and wavelength are inversely proportional to each other (i.e. as one </a:t>
            </a:r>
            <a:r>
              <a:rPr lang="en-US" dirty="0" smtClean="0"/>
              <a:t>increases, </a:t>
            </a:r>
            <a:r>
              <a:rPr lang="en-US" dirty="0"/>
              <a:t>the other decreases and </a:t>
            </a:r>
            <a:r>
              <a:rPr lang="en-US" dirty="0" smtClean="0"/>
              <a:t>vice-a-versa). </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The relationship can also be established via speed, e g.</a:t>
            </a:r>
            <a:r>
              <a:rPr lang="en-US" b="1" dirty="0" smtClean="0"/>
              <a:t>	</a:t>
            </a:r>
            <a:endParaRPr lang="en-US" dirty="0" smtClean="0"/>
          </a:p>
          <a:p>
            <a:pPr>
              <a:buNone/>
            </a:pPr>
            <a:r>
              <a:rPr lang="en-US" dirty="0" smtClean="0"/>
              <a:t>F= 1/T, v = f,	ƛ = v/f : f = ƛ</a:t>
            </a:r>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Baud rate</a:t>
            </a:r>
            <a:endParaRPr lang="en-US" dirty="0"/>
          </a:p>
        </p:txBody>
      </p:sp>
      <p:sp>
        <p:nvSpPr>
          <p:cNvPr id="3" name="Content Placeholder 2"/>
          <p:cNvSpPr>
            <a:spLocks noGrp="1"/>
          </p:cNvSpPr>
          <p:nvPr>
            <p:ph idx="1"/>
          </p:nvPr>
        </p:nvSpPr>
        <p:spPr/>
        <p:txBody>
          <a:bodyPr/>
          <a:lstStyle/>
          <a:p>
            <a:r>
              <a:rPr lang="en-US" dirty="0" smtClean="0"/>
              <a:t> </a:t>
            </a:r>
            <a:r>
              <a:rPr lang="en-US" dirty="0"/>
              <a:t>is the number of signals or symbol changes that occur per second</a:t>
            </a:r>
            <a:r>
              <a:rPr lang="en-US" dirty="0" smtClean="0"/>
              <a:t>.</a:t>
            </a:r>
          </a:p>
          <a:p>
            <a:r>
              <a:rPr lang="en-US" dirty="0" smtClean="0"/>
              <a:t> </a:t>
            </a:r>
            <a:r>
              <a:rPr lang="en-US" dirty="0"/>
              <a:t>A symbol is one of </a:t>
            </a:r>
            <a:r>
              <a:rPr lang="en-US" dirty="0" smtClean="0"/>
              <a:t>several:</a:t>
            </a:r>
          </a:p>
          <a:p>
            <a:pPr>
              <a:buFontTx/>
              <a:buChar char="-"/>
            </a:pPr>
            <a:r>
              <a:rPr lang="en-US" dirty="0" smtClean="0"/>
              <a:t>can </a:t>
            </a:r>
            <a:r>
              <a:rPr lang="en-US" dirty="0"/>
              <a:t>be </a:t>
            </a:r>
            <a:r>
              <a:rPr lang="en-US" dirty="0" smtClean="0"/>
              <a:t>voltage</a:t>
            </a:r>
          </a:p>
          <a:p>
            <a:pPr>
              <a:buFontTx/>
              <a:buChar char="-"/>
            </a:pPr>
            <a:r>
              <a:rPr lang="en-US" dirty="0" smtClean="0"/>
              <a:t> </a:t>
            </a:r>
            <a:r>
              <a:rPr lang="en-US" dirty="0"/>
              <a:t>frequency or phase change. </a:t>
            </a:r>
            <a:endParaRPr lang="en-US" dirty="0" smtClean="0"/>
          </a:p>
          <a:p>
            <a:pPr>
              <a:buFontTx/>
              <a:buChar char="-"/>
            </a:pPr>
            <a:r>
              <a:rPr lang="en-US" dirty="0" smtClean="0"/>
              <a:t>Bit </a:t>
            </a:r>
            <a:r>
              <a:rPr lang="en-US" dirty="0"/>
              <a:t>rate is the speed of data expressed in bits per second (bps).</a:t>
            </a:r>
          </a:p>
          <a:p>
            <a:pPr>
              <a:buNone/>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dirty="0"/>
              <a:t>The data rate (R) is a function of the duration of the bit or bit time. R = 1/T</a:t>
            </a:r>
            <a:r>
              <a:rPr lang="en-US" baseline="-25000" dirty="0"/>
              <a:t>B </a:t>
            </a:r>
            <a:r>
              <a:rPr lang="en-US" dirty="0"/>
              <a:t>bits/s. The Rate is also called the channel capacity(C). If the bit time is 10 nanoseconds, the data rate:</a:t>
            </a:r>
          </a:p>
          <a:p>
            <a:pPr>
              <a:buNone/>
            </a:pPr>
            <a:r>
              <a:rPr lang="en-US" dirty="0"/>
              <a:t> R = 1/10 x10</a:t>
            </a:r>
            <a:r>
              <a:rPr lang="en-US" baseline="30000" dirty="0"/>
              <a:t>-9</a:t>
            </a:r>
            <a:r>
              <a:rPr lang="en-US" dirty="0"/>
              <a:t> = 100 million bits per second. This is usually expressed as 100M bps.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In the Non Return to Zero (NRZ) transmission code, the bit rate and the baud rate are equal.</a:t>
            </a:r>
          </a:p>
          <a:p>
            <a:r>
              <a:rPr lang="en-US" dirty="0" smtClean="0"/>
              <a:t> For example in the NRZ, data switches between two levels, such as +3v for a binary 1 and +0,2v for a binary 0.</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
            </a:r>
            <a:r>
              <a:rPr lang="en-US" dirty="0" smtClean="0"/>
              <a:t>andwidth</a:t>
            </a:r>
            <a:endParaRPr lang="en-US" dirty="0"/>
          </a:p>
        </p:txBody>
      </p:sp>
      <p:sp>
        <p:nvSpPr>
          <p:cNvPr id="3" name="Content Placeholder 2"/>
          <p:cNvSpPr>
            <a:spLocks noGrp="1"/>
          </p:cNvSpPr>
          <p:nvPr>
            <p:ph idx="1"/>
          </p:nvPr>
        </p:nvSpPr>
        <p:spPr/>
        <p:txBody>
          <a:bodyPr/>
          <a:lstStyle/>
          <a:p>
            <a:r>
              <a:rPr lang="en-US" b="1" dirty="0"/>
              <a:t>Bandwidth </a:t>
            </a:r>
            <a:r>
              <a:rPr lang="en-US" dirty="0"/>
              <a:t>is the range of frequencies between the upper and lower frequencies in a continuous set of frequencies.</a:t>
            </a:r>
          </a:p>
          <a:p>
            <a:pPr>
              <a:buNone/>
            </a:pPr>
            <a:r>
              <a:rPr lang="en-US" b="1" dirty="0"/>
              <a:t> </a:t>
            </a:r>
            <a:endParaRPr lang="en-US" dirty="0"/>
          </a:p>
          <a:p>
            <a:pPr>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Transmission Media</a:t>
            </a:r>
            <a:endParaRPr lang="en-US" dirty="0"/>
          </a:p>
        </p:txBody>
      </p:sp>
      <p:sp>
        <p:nvSpPr>
          <p:cNvPr id="3" name="Content Placeholder 2"/>
          <p:cNvSpPr>
            <a:spLocks noGrp="1"/>
          </p:cNvSpPr>
          <p:nvPr>
            <p:ph idx="1"/>
          </p:nvPr>
        </p:nvSpPr>
        <p:spPr/>
        <p:txBody>
          <a:bodyPr>
            <a:normAutofit fontScale="85000" lnSpcReduction="10000"/>
          </a:bodyPr>
          <a:lstStyle/>
          <a:p>
            <a:r>
              <a:rPr lang="en-ZW" dirty="0"/>
              <a:t>Data communication, also commonly called computer networking is the transfer of information between a source (transmitter) and a destination (receiver</a:t>
            </a:r>
            <a:r>
              <a:rPr lang="en-ZW" dirty="0" smtClean="0"/>
              <a:t>).</a:t>
            </a:r>
          </a:p>
          <a:p>
            <a:pPr>
              <a:buNone/>
            </a:pPr>
            <a:r>
              <a:rPr lang="en-ZW" dirty="0" smtClean="0"/>
              <a:t> </a:t>
            </a:r>
            <a:r>
              <a:rPr lang="en-ZW" dirty="0"/>
              <a:t>A data communication system has five major components, that is:</a:t>
            </a:r>
            <a:endParaRPr lang="en-US" dirty="0"/>
          </a:p>
          <a:p>
            <a:pPr lvl="0">
              <a:buNone/>
            </a:pPr>
            <a:r>
              <a:rPr lang="en-ZW" dirty="0" smtClean="0"/>
              <a:t>- Message</a:t>
            </a:r>
            <a:endParaRPr lang="en-US" dirty="0"/>
          </a:p>
          <a:p>
            <a:pPr lvl="0">
              <a:buNone/>
            </a:pPr>
            <a:r>
              <a:rPr lang="en-ZW" dirty="0" smtClean="0"/>
              <a:t>- Sender </a:t>
            </a:r>
            <a:r>
              <a:rPr lang="en-ZW" dirty="0"/>
              <a:t>(transmitter)</a:t>
            </a:r>
            <a:endParaRPr lang="en-US" dirty="0"/>
          </a:p>
          <a:p>
            <a:pPr lvl="0">
              <a:buNone/>
            </a:pPr>
            <a:r>
              <a:rPr lang="en-ZW" dirty="0" smtClean="0"/>
              <a:t>- Receiver</a:t>
            </a:r>
            <a:endParaRPr lang="en-US" dirty="0"/>
          </a:p>
          <a:p>
            <a:pPr lvl="0">
              <a:buNone/>
            </a:pPr>
            <a:r>
              <a:rPr lang="en-ZW" dirty="0" smtClean="0"/>
              <a:t>- Transmission </a:t>
            </a:r>
            <a:r>
              <a:rPr lang="en-ZW" dirty="0"/>
              <a:t>medium or communication channel</a:t>
            </a:r>
            <a:endParaRPr lang="en-US" dirty="0"/>
          </a:p>
          <a:p>
            <a:pPr lvl="0">
              <a:buNone/>
            </a:pPr>
            <a:r>
              <a:rPr lang="en-ZW" dirty="0" smtClean="0"/>
              <a:t>- Protocol </a:t>
            </a:r>
            <a:r>
              <a:rPr lang="en-ZW" dirty="0"/>
              <a:t>(Encoder and Decoder)</a:t>
            </a:r>
            <a:endParaRPr lang="en-US" dirty="0"/>
          </a:p>
          <a:p>
            <a:pPr>
              <a:buNone/>
            </a:pP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Data Communication System components</a:t>
            </a:r>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a:p>
          <a:p>
            <a:pPr>
              <a:buNone/>
            </a:pPr>
            <a:endParaRPr lang="en-US" dirty="0" smtClean="0"/>
          </a:p>
          <a:p>
            <a:pPr>
              <a:buNone/>
            </a:pPr>
            <a:r>
              <a:rPr lang="en-US" dirty="0"/>
              <a:t>	</a:t>
            </a:r>
            <a:r>
              <a:rPr lang="en-US" dirty="0" smtClean="0"/>
              <a:t>	</a:t>
            </a:r>
            <a:endParaRPr lang="en-US" dirty="0"/>
          </a:p>
        </p:txBody>
      </p:sp>
      <p:pic>
        <p:nvPicPr>
          <p:cNvPr id="4" name="Picture 3"/>
          <p:cNvPicPr/>
          <p:nvPr/>
        </p:nvPicPr>
        <p:blipFill>
          <a:blip r:embed="rId2" cstate="print"/>
          <a:srcRect l="22773" t="59948" r="25080" b="19113"/>
          <a:stretch>
            <a:fillRect/>
          </a:stretch>
        </p:blipFill>
        <p:spPr bwMode="auto">
          <a:xfrm>
            <a:off x="381000" y="1600200"/>
            <a:ext cx="7315200" cy="3429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a:t>
            </a:r>
            <a:endParaRPr lang="en-US" dirty="0"/>
          </a:p>
        </p:txBody>
      </p:sp>
      <p:sp>
        <p:nvSpPr>
          <p:cNvPr id="3" name="Content Placeholder 2"/>
          <p:cNvSpPr>
            <a:spLocks noGrp="1"/>
          </p:cNvSpPr>
          <p:nvPr>
            <p:ph idx="1"/>
          </p:nvPr>
        </p:nvSpPr>
        <p:spPr/>
        <p:txBody>
          <a:bodyPr>
            <a:normAutofit lnSpcReduction="10000"/>
          </a:bodyPr>
          <a:lstStyle/>
          <a:p>
            <a:r>
              <a:rPr lang="en-US" dirty="0" smtClean="0"/>
              <a:t> </a:t>
            </a:r>
            <a:r>
              <a:rPr lang="en-US" dirty="0"/>
              <a:t>all the components are equally important. None is better than the other. </a:t>
            </a:r>
            <a:endParaRPr lang="en-US" dirty="0" smtClean="0"/>
          </a:p>
          <a:p>
            <a:r>
              <a:rPr lang="en-US" dirty="0" smtClean="0"/>
              <a:t>the </a:t>
            </a:r>
            <a:r>
              <a:rPr lang="en-US" dirty="0"/>
              <a:t>objective is to send as much data as possible in the shortest time. </a:t>
            </a:r>
            <a:endParaRPr lang="en-US" dirty="0" smtClean="0"/>
          </a:p>
          <a:p>
            <a:r>
              <a:rPr lang="en-US" dirty="0" smtClean="0"/>
              <a:t>To </a:t>
            </a:r>
            <a:r>
              <a:rPr lang="en-US" dirty="0"/>
              <a:t>be able to achieve this, the communications channel must have a high data transfer rate</a:t>
            </a:r>
            <a:r>
              <a:rPr lang="en-US" dirty="0" smtClean="0"/>
              <a:t>.</a:t>
            </a:r>
          </a:p>
          <a:p>
            <a:r>
              <a:rPr lang="en-US" dirty="0" smtClean="0"/>
              <a:t> </a:t>
            </a:r>
            <a:r>
              <a:rPr lang="en-US" dirty="0"/>
              <a:t>Sender generates the message(can be a personal computer or telephone</a:t>
            </a:r>
            <a:r>
              <a:rPr lang="en-US" dirty="0" smtClean="0"/>
              <a:t>).</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functions</a:t>
            </a:r>
            <a:endParaRPr lang="en-US" dirty="0"/>
          </a:p>
        </p:txBody>
      </p:sp>
      <p:sp>
        <p:nvSpPr>
          <p:cNvPr id="3" name="Content Placeholder 2"/>
          <p:cNvSpPr>
            <a:spLocks noGrp="1"/>
          </p:cNvSpPr>
          <p:nvPr>
            <p:ph idx="1"/>
          </p:nvPr>
        </p:nvSpPr>
        <p:spPr/>
        <p:txBody>
          <a:bodyPr/>
          <a:lstStyle/>
          <a:p>
            <a:pPr>
              <a:buNone/>
            </a:pPr>
            <a:r>
              <a:rPr lang="en-US" dirty="0" smtClean="0"/>
              <a:t>The encoder converts the message into a suitable form for transmission over the communications channel. At the receiver the message is decoded back to the original form for human use. </a:t>
            </a:r>
          </a:p>
          <a:p>
            <a:pPr>
              <a:buNone/>
            </a:pP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smtClean="0"/>
              <a:t>Transmission Media</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r>
              <a:rPr lang="en-ZW" dirty="0" smtClean="0"/>
              <a:t>In </a:t>
            </a:r>
            <a:r>
              <a:rPr lang="en-ZW" dirty="0"/>
              <a:t>data communication, the basic idea is to encode data (message) as energy and then transmit the energy. </a:t>
            </a:r>
            <a:endParaRPr lang="en-ZW" dirty="0" smtClean="0"/>
          </a:p>
          <a:p>
            <a:r>
              <a:rPr lang="en-ZW" dirty="0" smtClean="0"/>
              <a:t>At </a:t>
            </a:r>
            <a:r>
              <a:rPr lang="en-ZW" dirty="0"/>
              <a:t>the destination (receiver) the energy is decoded back into data (message). </a:t>
            </a:r>
            <a:endParaRPr lang="en-ZW" dirty="0" smtClean="0"/>
          </a:p>
          <a:p>
            <a:r>
              <a:rPr lang="en-ZW" dirty="0" smtClean="0"/>
              <a:t>The </a:t>
            </a:r>
            <a:r>
              <a:rPr lang="en-ZW" dirty="0"/>
              <a:t>energy can be: electrical (current, voltage, light, radio waves or sound waves).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Transmission media categories</a:t>
            </a:r>
            <a:endParaRPr lang="en-US" dirty="0"/>
          </a:p>
        </p:txBody>
      </p:sp>
      <p:sp>
        <p:nvSpPr>
          <p:cNvPr id="3" name="Content Placeholder 2"/>
          <p:cNvSpPr>
            <a:spLocks noGrp="1"/>
          </p:cNvSpPr>
          <p:nvPr>
            <p:ph idx="1"/>
          </p:nvPr>
        </p:nvSpPr>
        <p:spPr/>
        <p:txBody>
          <a:bodyPr/>
          <a:lstStyle/>
          <a:p>
            <a:r>
              <a:rPr lang="en-ZW" dirty="0" smtClean="0"/>
              <a:t>There are two broad categories of transmission media:</a:t>
            </a:r>
            <a:endParaRPr lang="en-US" dirty="0" smtClean="0"/>
          </a:p>
          <a:p>
            <a:pPr lvl="0">
              <a:buNone/>
            </a:pPr>
            <a:r>
              <a:rPr lang="en-ZW" dirty="0" smtClean="0"/>
              <a:t>- Guided</a:t>
            </a:r>
            <a:endParaRPr lang="en-US" dirty="0" smtClean="0"/>
          </a:p>
          <a:p>
            <a:pPr lvl="0">
              <a:buNone/>
            </a:pPr>
            <a:r>
              <a:rPr lang="en-ZW" dirty="0" smtClean="0"/>
              <a:t>- Unguided</a:t>
            </a:r>
            <a:endParaRPr lang="en-US" dirty="0" smtClean="0"/>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Guided Transmission media</a:t>
            </a:r>
            <a:endParaRPr lang="en-US" dirty="0"/>
          </a:p>
        </p:txBody>
      </p:sp>
      <p:sp>
        <p:nvSpPr>
          <p:cNvPr id="3" name="Content Placeholder 2"/>
          <p:cNvSpPr>
            <a:spLocks noGrp="1"/>
          </p:cNvSpPr>
          <p:nvPr>
            <p:ph idx="1"/>
          </p:nvPr>
        </p:nvSpPr>
        <p:spPr/>
        <p:txBody>
          <a:bodyPr>
            <a:normAutofit lnSpcReduction="10000"/>
          </a:bodyPr>
          <a:lstStyle/>
          <a:p>
            <a:endParaRPr lang="en-US" dirty="0"/>
          </a:p>
          <a:p>
            <a:pPr>
              <a:buNone/>
            </a:pPr>
            <a:r>
              <a:rPr lang="en-ZW" dirty="0" smtClean="0"/>
              <a:t>In </a:t>
            </a:r>
            <a:r>
              <a:rPr lang="en-ZW" dirty="0"/>
              <a:t>the guided transmission media</a:t>
            </a:r>
            <a:r>
              <a:rPr lang="en-ZW" dirty="0" smtClean="0"/>
              <a:t>,</a:t>
            </a:r>
          </a:p>
          <a:p>
            <a:r>
              <a:rPr lang="en-ZW" dirty="0" smtClean="0"/>
              <a:t> </a:t>
            </a:r>
            <a:r>
              <a:rPr lang="en-ZW" dirty="0"/>
              <a:t>the signal follows a specific path such as a wire. </a:t>
            </a:r>
            <a:endParaRPr lang="en-ZW" dirty="0" smtClean="0"/>
          </a:p>
          <a:p>
            <a:r>
              <a:rPr lang="en-ZW" dirty="0" smtClean="0"/>
              <a:t>The </a:t>
            </a:r>
            <a:r>
              <a:rPr lang="en-ZW" dirty="0"/>
              <a:t>form of energy used here is electrical energy. </a:t>
            </a:r>
            <a:endParaRPr lang="en-ZW" dirty="0" smtClean="0"/>
          </a:p>
          <a:p>
            <a:r>
              <a:rPr lang="en-ZW" dirty="0" smtClean="0"/>
              <a:t>The </a:t>
            </a:r>
            <a:r>
              <a:rPr lang="en-ZW" dirty="0"/>
              <a:t>guided transmission media category is further subdivided into open wire, twisted pair, coaxial, and optical.</a:t>
            </a:r>
            <a:r>
              <a:rPr lang="en-US" dirty="0" smtClean="0"/>
              <a:t> </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Categories of guided transmission media</a:t>
            </a:r>
            <a:endParaRPr lang="en-US" dirty="0"/>
          </a:p>
        </p:txBody>
      </p:sp>
      <p:pic>
        <p:nvPicPr>
          <p:cNvPr id="4" name="Content Placeholder 3"/>
          <p:cNvPicPr>
            <a:picLocks noGrp="1"/>
          </p:cNvPicPr>
          <p:nvPr>
            <p:ph idx="1"/>
          </p:nvPr>
        </p:nvPicPr>
        <p:blipFill>
          <a:blip r:embed="rId2" cstate="print"/>
          <a:srcRect l="24106" t="43257" r="24145" b="31286"/>
          <a:stretch>
            <a:fillRect/>
          </a:stretch>
        </p:blipFill>
        <p:spPr bwMode="auto">
          <a:xfrm>
            <a:off x="609600" y="1828800"/>
            <a:ext cx="7328970" cy="35814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Open wire</a:t>
            </a:r>
            <a:r>
              <a:rPr lang="en-US" b="1" dirty="0"/>
              <a:t/>
            </a:r>
            <a:br>
              <a:rPr lang="en-US" b="1" dirty="0"/>
            </a:br>
            <a:endParaRPr lang="en-US" dirty="0"/>
          </a:p>
        </p:txBody>
      </p:sp>
      <p:sp>
        <p:nvSpPr>
          <p:cNvPr id="3" name="Content Placeholder 2"/>
          <p:cNvSpPr>
            <a:spLocks noGrp="1"/>
          </p:cNvSpPr>
          <p:nvPr>
            <p:ph idx="1"/>
          </p:nvPr>
        </p:nvSpPr>
        <p:spPr/>
        <p:txBody>
          <a:bodyPr/>
          <a:lstStyle/>
          <a:p>
            <a:r>
              <a:rPr lang="en-GB" dirty="0"/>
              <a:t>Open wire is traditionally used to describe electrical wires strung power poles. </a:t>
            </a:r>
            <a:endParaRPr lang="en-GB" dirty="0" smtClean="0"/>
          </a:p>
          <a:p>
            <a:r>
              <a:rPr lang="en-GB" dirty="0" smtClean="0"/>
              <a:t>There </a:t>
            </a:r>
            <a:r>
              <a:rPr lang="en-GB" dirty="0"/>
              <a:t>can be a single wire or two strung between poles. </a:t>
            </a:r>
            <a:endParaRPr lang="en-GB" dirty="0" smtClean="0"/>
          </a:p>
          <a:p>
            <a:r>
              <a:rPr lang="en-GB" dirty="0" smtClean="0"/>
              <a:t>In </a:t>
            </a:r>
            <a:r>
              <a:rPr lang="en-GB" dirty="0"/>
              <a:t>this arrangement no shielding or protection from noise interference is used.</a:t>
            </a:r>
            <a:endParaRPr lang="en-US" b="1" dirty="0"/>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r>
              <a:rPr lang="en-US" dirty="0" smtClean="0"/>
              <a:t>			</a:t>
            </a:r>
            <a:endParaRPr lang="en-US" dirty="0"/>
          </a:p>
        </p:txBody>
      </p:sp>
      <p:pic>
        <p:nvPicPr>
          <p:cNvPr id="4" name="Picture 3"/>
          <p:cNvPicPr/>
          <p:nvPr/>
        </p:nvPicPr>
        <p:blipFill>
          <a:blip r:embed="rId2" cstate="print"/>
          <a:srcRect l="23209" t="40827" r="20173" b="27377"/>
          <a:stretch>
            <a:fillRect/>
          </a:stretch>
        </p:blipFill>
        <p:spPr bwMode="auto">
          <a:xfrm>
            <a:off x="609600" y="2057400"/>
            <a:ext cx="7162800" cy="3352799"/>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By convention, any data signal path without shielding or protection against noise interference is considered open wire</a:t>
            </a:r>
            <a:r>
              <a:rPr lang="en-US" dirty="0" smtClean="0"/>
              <a:t>.</a:t>
            </a:r>
          </a:p>
          <a:p>
            <a:r>
              <a:rPr lang="en-US" dirty="0" smtClean="0"/>
              <a:t> </a:t>
            </a:r>
            <a:r>
              <a:rPr lang="en-US" dirty="0"/>
              <a:t>This Transmission media is susceptible to a large degree of noise and interference and consequently not acceptable for data transmission except for short distances under 20 ft (6.096 meters).</a:t>
            </a:r>
          </a:p>
          <a:p>
            <a:pPr>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Twisted Pair</a:t>
            </a:r>
            <a:r>
              <a:rPr lang="en-US" b="1" dirty="0"/>
              <a:t/>
            </a:r>
            <a:br>
              <a:rPr lang="en-US" b="1" dirty="0"/>
            </a:br>
            <a:endParaRPr lang="en-US" dirty="0"/>
          </a:p>
        </p:txBody>
      </p:sp>
      <p:sp>
        <p:nvSpPr>
          <p:cNvPr id="3" name="Content Placeholder 2"/>
          <p:cNvSpPr>
            <a:spLocks noGrp="1"/>
          </p:cNvSpPr>
          <p:nvPr>
            <p:ph idx="1"/>
          </p:nvPr>
        </p:nvSpPr>
        <p:spPr/>
        <p:txBody>
          <a:bodyPr>
            <a:normAutofit/>
          </a:bodyPr>
          <a:lstStyle/>
          <a:p>
            <a:r>
              <a:rPr lang="en-US" dirty="0"/>
              <a:t>The wires are twisted together in pairs</a:t>
            </a:r>
            <a:r>
              <a:rPr lang="en-US" dirty="0" smtClean="0"/>
              <a:t>.</a:t>
            </a:r>
          </a:p>
          <a:p>
            <a:r>
              <a:rPr lang="en-US" dirty="0" smtClean="0"/>
              <a:t> </a:t>
            </a:r>
            <a:r>
              <a:rPr lang="en-US" dirty="0"/>
              <a:t>Each pair consist of a wire used for the positive (+</a:t>
            </a:r>
            <a:r>
              <a:rPr lang="en-US" dirty="0" err="1"/>
              <a:t>ve</a:t>
            </a:r>
            <a:r>
              <a:rPr lang="en-US" dirty="0"/>
              <a:t> data signal) and a wire used for the negative (-</a:t>
            </a:r>
            <a:r>
              <a:rPr lang="en-US" dirty="0" err="1"/>
              <a:t>ve</a:t>
            </a:r>
            <a:r>
              <a:rPr lang="en-US" dirty="0"/>
              <a:t> data signal). </a:t>
            </a:r>
            <a:endParaRPr lang="en-US" dirty="0" smtClean="0"/>
          </a:p>
          <a:p>
            <a:r>
              <a:rPr lang="en-US" dirty="0" smtClean="0"/>
              <a:t>Any </a:t>
            </a:r>
            <a:r>
              <a:rPr lang="en-US" dirty="0"/>
              <a:t>noise that appears on one wire of the pair would occur on the other wire. </a:t>
            </a:r>
            <a:endParaRPr lang="en-US" dirty="0" smtClean="0"/>
          </a:p>
          <a:p>
            <a:r>
              <a:rPr lang="en-US" dirty="0" smtClean="0"/>
              <a:t>The </a:t>
            </a:r>
            <a:r>
              <a:rPr lang="en-US" dirty="0"/>
              <a:t>wires are of opposite polarities, and are 180 degrees out of phase. </a:t>
            </a:r>
          </a:p>
          <a:p>
            <a:pPr>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When the noise appears on both wires, it cancels or nulls itself out at the receiving end.</a:t>
            </a:r>
          </a:p>
          <a:p>
            <a:r>
              <a:rPr lang="en-US" dirty="0"/>
              <a:t>The wires are often shielded to prevent electromagnetic interference</a:t>
            </a:r>
            <a:r>
              <a:rPr lang="en-US" dirty="0" smtClean="0"/>
              <a:t>.</a:t>
            </a:r>
          </a:p>
          <a:p>
            <a:r>
              <a:rPr lang="en-US" dirty="0" smtClean="0"/>
              <a:t> </a:t>
            </a:r>
            <a:r>
              <a:rPr lang="en-US" dirty="0"/>
              <a:t>The twisted pairs were used very much in old telephone networks and in data communication</a:t>
            </a:r>
          </a:p>
          <a:p>
            <a:pPr>
              <a:buNone/>
            </a:pPr>
            <a:endParaRPr lang="en-US"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Unshielded twisted pair</a:t>
            </a:r>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a:p>
          <a:p>
            <a:pPr>
              <a:buNone/>
            </a:pPr>
            <a:r>
              <a:rPr lang="en-US" dirty="0" smtClean="0"/>
              <a:t>			</a:t>
            </a:r>
            <a:endParaRPr lang="en-US" dirty="0"/>
          </a:p>
        </p:txBody>
      </p:sp>
      <p:pic>
        <p:nvPicPr>
          <p:cNvPr id="4" name="Picture 3"/>
          <p:cNvPicPr/>
          <p:nvPr/>
        </p:nvPicPr>
        <p:blipFill>
          <a:blip r:embed="rId2" cstate="print"/>
          <a:srcRect l="23209" t="25840" r="26708" b="46770"/>
          <a:stretch>
            <a:fillRect/>
          </a:stretch>
        </p:blipFill>
        <p:spPr bwMode="auto">
          <a:xfrm>
            <a:off x="1143000" y="1447800"/>
            <a:ext cx="7543800" cy="38100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The degree of reduction in noise interference is determined specifically by the number of turns per foot</a:t>
            </a:r>
            <a:r>
              <a:rPr lang="en-US" dirty="0" smtClean="0"/>
              <a:t>.</a:t>
            </a:r>
          </a:p>
          <a:p>
            <a:r>
              <a:rPr lang="en-US" dirty="0" smtClean="0"/>
              <a:t> </a:t>
            </a:r>
            <a:r>
              <a:rPr lang="en-US" dirty="0"/>
              <a:t>Increasing the number of turns per foot reduces the noise interference. </a:t>
            </a:r>
            <a:endParaRPr lang="en-US" dirty="0" smtClean="0"/>
          </a:p>
          <a:p>
            <a:r>
              <a:rPr lang="en-US" dirty="0" smtClean="0"/>
              <a:t>To </a:t>
            </a:r>
            <a:r>
              <a:rPr lang="en-US" dirty="0"/>
              <a:t>further improve noise rejection, a foil or wire braid shield is woven around the twisted pairs. </a:t>
            </a:r>
          </a:p>
          <a:p>
            <a:pPr>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This "shield" can be woven around individual pairs or around a multi-pair conductor (several pairs).</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Shielded twisted pair</a:t>
            </a:r>
            <a:endParaRPr lang="en-US" dirty="0"/>
          </a:p>
        </p:txBody>
      </p:sp>
      <p:sp>
        <p:nvSpPr>
          <p:cNvPr id="3" name="Content Placeholder 2"/>
          <p:cNvSpPr>
            <a:spLocks noGrp="1"/>
          </p:cNvSpPr>
          <p:nvPr>
            <p:ph idx="1"/>
          </p:nvPr>
        </p:nvSpPr>
        <p:spPr/>
        <p:txBody>
          <a:bodyPr>
            <a:normAutofit/>
          </a:bodyPr>
          <a:lstStyle/>
          <a:p>
            <a:r>
              <a:rPr lang="en-US" dirty="0"/>
              <a:t>Cables with a shield are called shielded twisted pair and commonly abbreviated STP</a:t>
            </a:r>
            <a:r>
              <a:rPr lang="en-US" dirty="0" smtClean="0"/>
              <a:t>.</a:t>
            </a:r>
          </a:p>
          <a:p>
            <a:r>
              <a:rPr lang="en-US" dirty="0" smtClean="0"/>
              <a:t> </a:t>
            </a:r>
            <a:r>
              <a:rPr lang="en-US" dirty="0"/>
              <a:t>Cables without a shield are called unshielded twisted pair or UTP. </a:t>
            </a:r>
            <a:endParaRPr lang="en-US" dirty="0" smtClean="0"/>
          </a:p>
          <a:p>
            <a:r>
              <a:rPr lang="en-US" dirty="0" smtClean="0"/>
              <a:t>Twisting </a:t>
            </a:r>
            <a:r>
              <a:rPr lang="en-US" dirty="0"/>
              <a:t>the wires together results in characteristic impedance for the cable. </a:t>
            </a:r>
            <a:endParaRPr lang="en-US" dirty="0" smtClean="0"/>
          </a:p>
          <a:p>
            <a:r>
              <a:rPr lang="en-US" dirty="0" smtClean="0"/>
              <a:t>Typical </a:t>
            </a:r>
            <a:r>
              <a:rPr lang="en-US" dirty="0"/>
              <a:t>impedance for UTP is 100 ohm for Ethernet 10BaseT cable. </a:t>
            </a:r>
            <a:r>
              <a:rPr lang="en-US" dirty="0" smtClean="0"/>
              <a:t> </a:t>
            </a:r>
            <a:endParaRPr lang="en-US" dirty="0"/>
          </a:p>
          <a:p>
            <a:pPr>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UTP or Unshielded Twisted Pair cable is used on Ethernet 10BaseT and can also be used with Token Ring. </a:t>
            </a:r>
          </a:p>
          <a:p>
            <a:r>
              <a:rPr lang="en-US" dirty="0" smtClean="0"/>
              <a:t>It uses the RJ line of connectors (RJ45, RJ11, etc..)</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endParaRPr lang="en-US" dirty="0" smtClean="0"/>
          </a:p>
          <a:p>
            <a:pPr>
              <a:buNone/>
            </a:pPr>
            <a:endParaRPr lang="en-US" dirty="0"/>
          </a:p>
          <a:p>
            <a:pPr>
              <a:buNone/>
            </a:pPr>
            <a:endParaRPr lang="en-US" dirty="0" smtClean="0"/>
          </a:p>
          <a:p>
            <a:pPr>
              <a:buNone/>
            </a:pPr>
            <a:r>
              <a:rPr lang="en-US" dirty="0"/>
              <a:t>	</a:t>
            </a:r>
            <a:r>
              <a:rPr lang="en-US" dirty="0" smtClean="0"/>
              <a:t>		</a:t>
            </a:r>
            <a:endParaRPr lang="en-US" dirty="0"/>
          </a:p>
        </p:txBody>
      </p:sp>
      <p:pic>
        <p:nvPicPr>
          <p:cNvPr id="4" name="Picture 3"/>
          <p:cNvPicPr/>
          <p:nvPr/>
        </p:nvPicPr>
        <p:blipFill>
          <a:blip r:embed="rId2" cstate="print"/>
          <a:srcRect l="22183" t="32041" r="41854" b="41344"/>
          <a:stretch>
            <a:fillRect/>
          </a:stretch>
        </p:blipFill>
        <p:spPr bwMode="auto">
          <a:xfrm>
            <a:off x="228600" y="1524000"/>
            <a:ext cx="6781800" cy="39624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a:bodyPr>
          <a:lstStyle/>
          <a:p>
            <a:r>
              <a:rPr lang="en-US" dirty="0"/>
              <a:t>Interference is determined specifically by the number of turns per foot. </a:t>
            </a:r>
            <a:endParaRPr lang="en-US" dirty="0" smtClean="0"/>
          </a:p>
          <a:p>
            <a:r>
              <a:rPr lang="en-US" dirty="0" smtClean="0"/>
              <a:t>Increasing </a:t>
            </a:r>
            <a:r>
              <a:rPr lang="en-US" dirty="0"/>
              <a:t>the number of turns per foot reduces the noise interference. </a:t>
            </a:r>
            <a:endParaRPr lang="en-US" dirty="0" smtClean="0"/>
          </a:p>
          <a:p>
            <a:r>
              <a:rPr lang="en-US" dirty="0" smtClean="0"/>
              <a:t>To </a:t>
            </a:r>
            <a:r>
              <a:rPr lang="en-US" dirty="0"/>
              <a:t>further improve noise rejection, a foil or wire braid shield is woven around the twisted pairs. </a:t>
            </a:r>
            <a:endParaRPr lang="en-US" dirty="0" smtClean="0"/>
          </a:p>
          <a:p>
            <a:r>
              <a:rPr lang="en-US" dirty="0" smtClean="0"/>
              <a:t>This </a:t>
            </a:r>
            <a:r>
              <a:rPr lang="en-US" dirty="0"/>
              <a:t>"shield" can be woven around individual pairs or around a multi-pair conductor (several pairs).  </a:t>
            </a:r>
          </a:p>
          <a:p>
            <a:pPr>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Shielded is more heavier and difficult to manufacture than unshielded </a:t>
            </a:r>
          </a:p>
          <a:p>
            <a:r>
              <a:rPr lang="en-US" dirty="0" smtClean="0"/>
              <a:t>but it can greatly improve the signaling rate in a given transmission scheme.</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Coaxial cable</a:t>
            </a:r>
            <a:endParaRPr lang="en-US" dirty="0"/>
          </a:p>
        </p:txBody>
      </p:sp>
      <p:sp>
        <p:nvSpPr>
          <p:cNvPr id="3" name="Content Placeholder 2"/>
          <p:cNvSpPr>
            <a:spLocks noGrp="1"/>
          </p:cNvSpPr>
          <p:nvPr>
            <p:ph idx="1"/>
          </p:nvPr>
        </p:nvSpPr>
        <p:spPr/>
        <p:txBody>
          <a:bodyPr>
            <a:normAutofit fontScale="92500"/>
          </a:bodyPr>
          <a:lstStyle/>
          <a:p>
            <a:r>
              <a:rPr lang="en-GB" dirty="0"/>
              <a:t>A coaxial cable is a two conductor electrical cable consisting of a centre conductor (copper core) and an outer conductor (braided conductor) with insulating space between the two. </a:t>
            </a:r>
            <a:endParaRPr lang="en-GB" dirty="0" smtClean="0"/>
          </a:p>
          <a:p>
            <a:r>
              <a:rPr lang="en-GB" dirty="0" smtClean="0"/>
              <a:t>The </a:t>
            </a:r>
            <a:r>
              <a:rPr lang="en-GB" dirty="0"/>
              <a:t>coaxial cable offers longer distances and better speeds than twisted pair due to better shielding. </a:t>
            </a:r>
            <a:endParaRPr lang="en-GB" dirty="0" smtClean="0"/>
          </a:p>
          <a:p>
            <a:r>
              <a:rPr lang="en-GB" dirty="0" smtClean="0"/>
              <a:t>The </a:t>
            </a:r>
            <a:r>
              <a:rPr lang="en-GB" dirty="0"/>
              <a:t>coaxial cable is mainly used for cable TV and in local area networks. </a:t>
            </a:r>
            <a:endParaRPr lang="en-US" b="1" dirty="0"/>
          </a:p>
          <a:p>
            <a:pPr>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GB" dirty="0" smtClean="0"/>
              <a:t>It as also been used widely in telephone systems.</a:t>
            </a:r>
          </a:p>
          <a:p>
            <a:pPr>
              <a:buNone/>
            </a:pPr>
            <a:endParaRPr lang="en-GB" dirty="0"/>
          </a:p>
          <a:p>
            <a:pPr>
              <a:buNone/>
            </a:pPr>
            <a:endParaRPr lang="en-GB" dirty="0" smtClean="0"/>
          </a:p>
          <a:p>
            <a:pPr>
              <a:buNone/>
            </a:pPr>
            <a:r>
              <a:rPr lang="en-GB" dirty="0"/>
              <a:t>	</a:t>
            </a:r>
            <a:r>
              <a:rPr lang="en-GB" dirty="0" smtClean="0"/>
              <a:t>	</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a:p>
          <a:p>
            <a:pPr>
              <a:buNone/>
            </a:pPr>
            <a:endParaRPr lang="en-US" dirty="0" smtClean="0"/>
          </a:p>
          <a:p>
            <a:pPr>
              <a:buNone/>
            </a:pPr>
            <a:r>
              <a:rPr lang="en-US" dirty="0"/>
              <a:t>	</a:t>
            </a:r>
            <a:r>
              <a:rPr lang="en-US" dirty="0" smtClean="0"/>
              <a:t>		</a:t>
            </a:r>
            <a:endParaRPr lang="en-US" dirty="0"/>
          </a:p>
        </p:txBody>
      </p:sp>
      <p:pic>
        <p:nvPicPr>
          <p:cNvPr id="4" name="Picture 3"/>
          <p:cNvPicPr/>
          <p:nvPr/>
        </p:nvPicPr>
        <p:blipFill>
          <a:blip r:embed="rId2" cstate="print"/>
          <a:srcRect l="23088" t="29873" r="35778" b="37454"/>
          <a:stretch>
            <a:fillRect/>
          </a:stretch>
        </p:blipFill>
        <p:spPr bwMode="auto">
          <a:xfrm>
            <a:off x="914400" y="1676400"/>
            <a:ext cx="7391400" cy="41910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10000"/>
          </a:bodyPr>
          <a:lstStyle/>
          <a:p>
            <a:pPr>
              <a:buNone/>
            </a:pPr>
            <a:r>
              <a:rPr lang="en-GB" dirty="0"/>
              <a:t>There are two types of coaxial cables:</a:t>
            </a:r>
            <a:endParaRPr lang="en-US" b="1" dirty="0"/>
          </a:p>
          <a:p>
            <a:pPr lvl="0"/>
            <a:r>
              <a:rPr lang="en-GB" dirty="0"/>
              <a:t>Baseband coaxial cable 50 ohms</a:t>
            </a:r>
            <a:endParaRPr lang="en-US" b="1" dirty="0"/>
          </a:p>
          <a:p>
            <a:pPr lvl="0"/>
            <a:r>
              <a:rPr lang="en-GB" dirty="0"/>
              <a:t>Broadband coaxial cable 75 ohms</a:t>
            </a:r>
            <a:endParaRPr lang="en-US" b="1" dirty="0"/>
          </a:p>
          <a:p>
            <a:pPr>
              <a:buNone/>
            </a:pPr>
            <a:r>
              <a:rPr lang="en-US" dirty="0"/>
              <a:t>The baseband coaxial cable is commonly used for digital data transmission and the broadband is commonly used for analog transmission. </a:t>
            </a:r>
          </a:p>
          <a:p>
            <a:r>
              <a:rPr lang="en-US" dirty="0"/>
              <a:t>Baseband can carry only a single signal whilst a broadband medium can be made to carry many signals at once by apportioning its total bandwidth into many independent channels, each of which carries only a specific range of frequencies.</a:t>
            </a:r>
          </a:p>
          <a:p>
            <a:pPr>
              <a:buNone/>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http://ecomputernotes.com/images/Broadband-versus-Baseband.jpg"/>
          <p:cNvPicPr>
            <a:picLocks noGrp="1"/>
          </p:cNvPicPr>
          <p:nvPr>
            <p:ph idx="1"/>
          </p:nvPr>
        </p:nvPicPr>
        <p:blipFill>
          <a:blip r:embed="rId2" cstate="print"/>
          <a:srcRect/>
          <a:stretch>
            <a:fillRect/>
          </a:stretch>
        </p:blipFill>
        <p:spPr bwMode="auto">
          <a:xfrm>
            <a:off x="1219200" y="1828800"/>
            <a:ext cx="6248400" cy="3962399"/>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TotalTime>
  <Words>1518</Words>
  <Application>Microsoft Office PowerPoint</Application>
  <PresentationFormat>On-screen Show (4:3)</PresentationFormat>
  <Paragraphs>133</Paragraphs>
  <Slides>39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DC and PP lecture 1</vt:lpstr>
      <vt:lpstr>History of networking </vt:lpstr>
      <vt:lpstr>Networking value addition</vt:lpstr>
      <vt:lpstr>Terminology </vt:lpstr>
      <vt:lpstr>PowerPoint Presentation</vt:lpstr>
      <vt:lpstr>Wavelength</vt:lpstr>
      <vt:lpstr>PowerPoint Presentation</vt:lpstr>
      <vt:lpstr>PowerPoint Presentation</vt:lpstr>
      <vt:lpstr>Baud rate</vt:lpstr>
      <vt:lpstr>PowerPoint Presentation</vt:lpstr>
      <vt:lpstr>PowerPoint Presentation</vt:lpstr>
      <vt:lpstr>Bandwidth</vt:lpstr>
      <vt:lpstr>Transmission Media</vt:lpstr>
      <vt:lpstr>Data Communication System components</vt:lpstr>
      <vt:lpstr>Components</vt:lpstr>
      <vt:lpstr>Components functions</vt:lpstr>
      <vt:lpstr>Transmission Media </vt:lpstr>
      <vt:lpstr>Transmission media categories</vt:lpstr>
      <vt:lpstr>Guided Transmission media</vt:lpstr>
      <vt:lpstr>Categories of guided transmission media</vt:lpstr>
      <vt:lpstr>Open wire </vt:lpstr>
      <vt:lpstr>PowerPoint Presentation</vt:lpstr>
      <vt:lpstr>PowerPoint Presentation</vt:lpstr>
      <vt:lpstr>Twisted Pair </vt:lpstr>
      <vt:lpstr>PowerPoint Presentation</vt:lpstr>
      <vt:lpstr>Unshielded twisted pair</vt:lpstr>
      <vt:lpstr>PowerPoint Presentation</vt:lpstr>
      <vt:lpstr>PowerPoint Presentation</vt:lpstr>
      <vt:lpstr>Shielded twisted pair</vt:lpstr>
      <vt:lpstr>PowerPoint Presentation</vt:lpstr>
      <vt:lpstr>PowerPoint Presentation</vt:lpstr>
      <vt:lpstr>PowerPoint Presentation</vt:lpstr>
      <vt:lpstr>PowerPoint Presentation</vt:lpstr>
      <vt:lpstr>Coaxial cable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 and PP lecture 1</dc:title>
  <dc:creator>langstone.shumba</dc:creator>
  <cp:lastModifiedBy>Tapiwa</cp:lastModifiedBy>
  <cp:revision>10</cp:revision>
  <dcterms:created xsi:type="dcterms:W3CDTF">2017-08-30T09:20:40Z</dcterms:created>
  <dcterms:modified xsi:type="dcterms:W3CDTF">2026-01-12T18:18:22Z</dcterms:modified>
</cp:coreProperties>
</file>