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9189E9-F601-457B-9208-7887DD3E21C0}" type="datetimeFigureOut">
              <a:rPr lang="en-US" smtClean="0"/>
              <a:t>10/5/2020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195D09-7E9D-442A-A0FD-F27E24850D3D}" type="slidenum">
              <a:rPr lang="en-US" smtClean="0"/>
              <a:t>‹#›</a:t>
            </a:fld>
            <a:endParaRPr lang="en-US"/>
          </a:p>
        </p:txBody>
      </p:sp>
    </p:spTree>
    <p:extLst>
      <p:ext uri="{BB962C8B-B14F-4D97-AF65-F5344CB8AC3E}">
        <p14:creationId xmlns:p14="http://schemas.microsoft.com/office/powerpoint/2010/main" val="229915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8195D09-7E9D-442A-A0FD-F27E24850D3D}" type="slidenum">
              <a:rPr lang="en-US" smtClean="0"/>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9A9468-CDBB-41C7-B00B-EC0B935A84EB}" type="datetimeFigureOut">
              <a:rPr lang="en-US" smtClean="0"/>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9A9468-CDBB-41C7-B00B-EC0B935A84EB}" type="datetimeFigureOut">
              <a:rPr lang="en-US" smtClean="0"/>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9A9468-CDBB-41C7-B00B-EC0B935A84EB}" type="datetimeFigureOut">
              <a:rPr lang="en-US" smtClean="0"/>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9A9468-CDBB-41C7-B00B-EC0B935A84EB}" type="datetimeFigureOut">
              <a:rPr lang="en-US" smtClean="0"/>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9A9468-CDBB-41C7-B00B-EC0B935A84EB}" type="datetimeFigureOut">
              <a:rPr lang="en-US" smtClean="0"/>
              <a:t>10/5/2020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9A9468-CDBB-41C7-B00B-EC0B935A84EB}" type="datetimeFigureOut">
              <a:rPr lang="en-US" smtClean="0"/>
              <a:t>10/5/2020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9A9468-CDBB-41C7-B00B-EC0B935A84EB}" type="datetimeFigureOut">
              <a:rPr lang="en-US" smtClean="0"/>
              <a:t>10/5/2020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9A9468-CDBB-41C7-B00B-EC0B935A84EB}" type="datetimeFigureOut">
              <a:rPr lang="en-US" smtClean="0"/>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9A9468-CDBB-41C7-B00B-EC0B935A84EB}" type="datetimeFigureOut">
              <a:rPr lang="en-US" smtClean="0"/>
              <a:t>10/5/2020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9A9468-CDBB-41C7-B00B-EC0B935A84EB}" type="datetimeFigureOut">
              <a:rPr lang="en-US" smtClean="0"/>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9A9468-CDBB-41C7-B00B-EC0B935A84EB}" type="datetimeFigureOut">
              <a:rPr lang="en-US" smtClean="0"/>
              <a:t>10/5/2020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D3BAA2-DA2F-4A1F-9540-228676CB4CB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9A9468-CDBB-41C7-B00B-EC0B935A84EB}" type="datetimeFigureOut">
              <a:rPr lang="en-US" smtClean="0"/>
              <a:t>10/5/2020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D3BAA2-DA2F-4A1F-9540-228676CB4CB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earchnetworking.techtarget.com/definition/Mbp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Lecture 13 </a:t>
            </a:r>
            <a:r>
              <a:rPr lang="en-ZW" b="1" dirty="0" smtClean="0"/>
              <a:t>LAN </a:t>
            </a:r>
            <a:r>
              <a:rPr lang="en-ZW" b="1" dirty="0"/>
              <a:t>TECHNOLOGIES AND NETWORK TOPOLOGIES</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ZW" dirty="0" smtClean="0"/>
              <a:t>LAN - </a:t>
            </a:r>
            <a:r>
              <a:rPr lang="en-ZW" dirty="0"/>
              <a:t>computer network that interconnects computers in a limited geographical area such as a school, campus, computer laboratory, single building and others.</a:t>
            </a:r>
            <a:endParaRPr lang="en-US" dirty="0"/>
          </a:p>
          <a:p>
            <a:pPr>
              <a:buNone/>
            </a:pPr>
            <a:r>
              <a:rPr lang="en-ZW" dirty="0"/>
              <a:t>LANs:</a:t>
            </a:r>
            <a:endParaRPr lang="en-US" dirty="0"/>
          </a:p>
          <a:p>
            <a:pPr lvl="0"/>
            <a:r>
              <a:rPr lang="en-ZW" dirty="0"/>
              <a:t>Are private owned</a:t>
            </a:r>
            <a:endParaRPr lang="en-US" dirty="0"/>
          </a:p>
          <a:p>
            <a:pPr lvl="0"/>
            <a:r>
              <a:rPr lang="en-ZW" dirty="0"/>
              <a:t>Do not use leased telecommunication lines</a:t>
            </a:r>
            <a:endParaRPr lang="en-US" dirty="0"/>
          </a:p>
          <a:p>
            <a:pPr lvl="0"/>
            <a:r>
              <a:rPr lang="en-ZW" dirty="0"/>
              <a:t>Distance is limited to a kilometre</a:t>
            </a:r>
            <a:endParaRPr lang="en-US" dirty="0"/>
          </a:p>
          <a:p>
            <a:r>
              <a:rPr lang="en-ZW" dirty="0"/>
              <a:t>Ethernet over twisted pair cabling and Wi-Fi are the two most common technologies currently used to build LANs</a:t>
            </a:r>
            <a:r>
              <a:rPr lang="en-ZW" dirty="0" smtClean="0"/>
              <a: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Early</a:t>
            </a:r>
            <a:endParaRPr lang="en-US" dirty="0"/>
          </a:p>
        </p:txBody>
      </p:sp>
      <p:sp>
        <p:nvSpPr>
          <p:cNvPr id="3" name="Content Placeholder 2"/>
          <p:cNvSpPr>
            <a:spLocks noGrp="1"/>
          </p:cNvSpPr>
          <p:nvPr>
            <p:ph idx="1"/>
          </p:nvPr>
        </p:nvSpPr>
        <p:spPr/>
        <p:txBody>
          <a:bodyPr>
            <a:normAutofit fontScale="77500" lnSpcReduction="20000"/>
          </a:bodyPr>
          <a:lstStyle/>
          <a:p>
            <a:r>
              <a:rPr lang="en-ZW" sz="3500" dirty="0" smtClean="0">
                <a:latin typeface="Times New Roman" pitchFamily="18" charset="0"/>
                <a:cs typeface="Times New Roman" pitchFamily="18" charset="0"/>
              </a:rPr>
              <a:t>Early LANs used dedicated links between each pair of computers. </a:t>
            </a:r>
          </a:p>
          <a:p>
            <a:pPr>
              <a:buNone/>
            </a:pPr>
            <a:r>
              <a:rPr lang="en-ZW" sz="3500" dirty="0" smtClean="0">
                <a:latin typeface="Times New Roman" pitchFamily="18" charset="0"/>
                <a:cs typeface="Times New Roman" pitchFamily="18" charset="0"/>
              </a:rPr>
              <a:t>These would form a mesh or point to point connection. </a:t>
            </a:r>
          </a:p>
          <a:p>
            <a:pPr>
              <a:buNone/>
            </a:pPr>
            <a:r>
              <a:rPr lang="en-ZW" sz="3500" dirty="0" smtClean="0">
                <a:latin typeface="Times New Roman" pitchFamily="18" charset="0"/>
                <a:cs typeface="Times New Roman" pitchFamily="18" charset="0"/>
              </a:rPr>
              <a:t>Advantages of dedicated links were:</a:t>
            </a:r>
            <a:endParaRPr lang="en-US" sz="3500" dirty="0" smtClean="0">
              <a:latin typeface="Times New Roman" pitchFamily="18" charset="0"/>
              <a:cs typeface="Times New Roman" pitchFamily="18" charset="0"/>
            </a:endParaRPr>
          </a:p>
          <a:p>
            <a:pPr lvl="0"/>
            <a:r>
              <a:rPr lang="en-ZW" sz="3500" dirty="0" smtClean="0">
                <a:latin typeface="Times New Roman" pitchFamily="18" charset="0"/>
                <a:cs typeface="Times New Roman" pitchFamily="18" charset="0"/>
              </a:rPr>
              <a:t>Allowed flexibility in communication hardware and packet formats (could be tailored)</a:t>
            </a:r>
            <a:endParaRPr lang="en-US" sz="3500" dirty="0" smtClean="0">
              <a:latin typeface="Times New Roman" pitchFamily="18" charset="0"/>
              <a:cs typeface="Times New Roman" pitchFamily="18" charset="0"/>
            </a:endParaRPr>
          </a:p>
          <a:p>
            <a:pPr lvl="0"/>
            <a:r>
              <a:rPr lang="en-ZW" sz="3500" dirty="0" smtClean="0">
                <a:latin typeface="Times New Roman" pitchFamily="18" charset="0"/>
                <a:cs typeface="Times New Roman" pitchFamily="18" charset="0"/>
              </a:rPr>
              <a:t>Provided security and privacy because communication channel was not shared. </a:t>
            </a:r>
            <a:endParaRPr lang="en-US" sz="3500" dirty="0" smtClean="0">
              <a:latin typeface="Times New Roman" pitchFamily="18" charset="0"/>
              <a:cs typeface="Times New Roman" pitchFamily="18" charset="0"/>
            </a:endParaRPr>
          </a:p>
          <a:p>
            <a:r>
              <a:rPr lang="en-ZW" sz="3500" dirty="0" smtClean="0">
                <a:latin typeface="Times New Roman" pitchFamily="18" charset="0"/>
                <a:cs typeface="Times New Roman" pitchFamily="18" charset="0"/>
              </a:rPr>
              <a:t>Flexibility in communication hardware and packets formats was achieved because hardware and frame detail could be tailored for each link.</a:t>
            </a:r>
            <a:endParaRPr lang="en-US" sz="3500"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pPr>
              <a:buNone/>
            </a:pPr>
            <a:r>
              <a:rPr lang="en-ZW" dirty="0" smtClean="0"/>
              <a:t>  The </a:t>
            </a:r>
            <a:r>
              <a:rPr lang="en-ZW" dirty="0"/>
              <a:t>major disadvantage of point to point connections is that the numbers of wires (connection links) grow as the square of the number of computers. </a:t>
            </a:r>
            <a:r>
              <a:rPr lang="en-ZW" dirty="0" smtClean="0"/>
              <a:t>This </a:t>
            </a:r>
            <a:r>
              <a:rPr lang="en-ZW" dirty="0"/>
              <a:t>results in poor scalability. </a:t>
            </a:r>
            <a:endParaRPr lang="en-US" dirty="0"/>
          </a:p>
        </p:txBody>
      </p:sp>
      <p:pic>
        <p:nvPicPr>
          <p:cNvPr id="4" name="Picture 3"/>
          <p:cNvPicPr/>
          <p:nvPr/>
        </p:nvPicPr>
        <p:blipFill>
          <a:blip r:embed="rId2" cstate="print"/>
          <a:srcRect l="27010" t="55021" r="33669" b="40643"/>
          <a:stretch>
            <a:fillRect/>
          </a:stretch>
        </p:blipFill>
        <p:spPr bwMode="auto">
          <a:xfrm>
            <a:off x="990600" y="4191000"/>
            <a:ext cx="7391400" cy="12192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Dedicated links</a:t>
            </a:r>
            <a:endParaRPr lang="en-US" dirty="0"/>
          </a:p>
        </p:txBody>
      </p:sp>
      <p:pic>
        <p:nvPicPr>
          <p:cNvPr id="6" name="Content Placeholder 5"/>
          <p:cNvPicPr>
            <a:picLocks noGrp="1"/>
          </p:cNvPicPr>
          <p:nvPr>
            <p:ph idx="1"/>
          </p:nvPr>
        </p:nvPicPr>
        <p:blipFill>
          <a:blip r:embed="rId2" cstate="print"/>
          <a:srcRect l="26846" t="31778" r="27648" b="26531"/>
          <a:stretch>
            <a:fillRect/>
          </a:stretch>
        </p:blipFill>
        <p:spPr bwMode="auto">
          <a:xfrm>
            <a:off x="457200" y="1143000"/>
            <a:ext cx="8305800" cy="54864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p:cNvPicPr>
          <p:nvPr>
            <p:ph idx="1"/>
          </p:nvPr>
        </p:nvPicPr>
        <p:blipFill>
          <a:blip r:embed="rId2" cstate="print"/>
          <a:srcRect l="26355" t="26531" r="22210" b="8746"/>
          <a:stretch>
            <a:fillRect/>
          </a:stretch>
        </p:blipFill>
        <p:spPr bwMode="auto">
          <a:xfrm>
            <a:off x="304800" y="228600"/>
            <a:ext cx="8610600" cy="64008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Rise in demand for networking</a:t>
            </a:r>
            <a:endParaRPr lang="en-US" dirty="0"/>
          </a:p>
        </p:txBody>
      </p:sp>
      <p:sp>
        <p:nvSpPr>
          <p:cNvPr id="3" name="Content Placeholder 2"/>
          <p:cNvSpPr>
            <a:spLocks noGrp="1"/>
          </p:cNvSpPr>
          <p:nvPr>
            <p:ph idx="1"/>
          </p:nvPr>
        </p:nvSpPr>
        <p:spPr/>
        <p:txBody>
          <a:bodyPr>
            <a:normAutofit/>
          </a:bodyPr>
          <a:lstStyle/>
          <a:p>
            <a:pPr>
              <a:buNone/>
            </a:pPr>
            <a:r>
              <a:rPr lang="en-US" dirty="0"/>
              <a:t>As demand for networking grew in universities, the challenge was to reduce the number of communication channels so as to reduce costs and at the same time improve on channel capacity utilization. Key idea was to reduce the number of connections by sharing</a:t>
            </a:r>
            <a:r>
              <a:rPr lang="en-ZW" dirty="0"/>
              <a:t> connections among many computers. There also arose the need to coordinate computer access to shared media</a:t>
            </a:r>
            <a:r>
              <a:rPr lang="en-ZW"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Multiplexing technique</a:t>
            </a:r>
            <a:endParaRPr lang="en-US" dirty="0"/>
          </a:p>
        </p:txBody>
      </p:sp>
      <p:sp>
        <p:nvSpPr>
          <p:cNvPr id="3" name="Content Placeholder 2"/>
          <p:cNvSpPr>
            <a:spLocks noGrp="1"/>
          </p:cNvSpPr>
          <p:nvPr>
            <p:ph idx="1"/>
          </p:nvPr>
        </p:nvSpPr>
        <p:spPr/>
        <p:txBody>
          <a:bodyPr/>
          <a:lstStyle/>
          <a:p>
            <a:r>
              <a:rPr lang="en-ZW" sz="4000" dirty="0" smtClean="0">
                <a:latin typeface="Times New Roman" pitchFamily="18" charset="0"/>
                <a:cs typeface="Times New Roman" pitchFamily="18" charset="0"/>
              </a:rPr>
              <a:t>Time division multiplexing was the prominent technique used to share communication media and it also includes techniques of synchronizing communication channel use.</a:t>
            </a:r>
            <a:endParaRPr lang="en-US" sz="4000" dirty="0" smtClean="0">
              <a:latin typeface="Times New Roman" pitchFamily="18" charset="0"/>
              <a:cs typeface="Times New Roman" pitchFamily="18" charset="0"/>
            </a:endParaRPr>
          </a:p>
          <a:p>
            <a:pPr>
              <a:buNone/>
            </a:pPr>
            <a:endParaRPr lang="en-US" sz="4000"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Locality of reference</a:t>
            </a:r>
            <a:endParaRPr lang="en-US" dirty="0"/>
          </a:p>
        </p:txBody>
      </p:sp>
      <p:sp>
        <p:nvSpPr>
          <p:cNvPr id="3" name="Content Placeholder 2"/>
          <p:cNvSpPr>
            <a:spLocks noGrp="1"/>
          </p:cNvSpPr>
          <p:nvPr>
            <p:ph idx="1"/>
          </p:nvPr>
        </p:nvSpPr>
        <p:spPr/>
        <p:txBody>
          <a:bodyPr/>
          <a:lstStyle/>
          <a:p>
            <a:pPr>
              <a:buNone/>
            </a:pPr>
            <a:r>
              <a:rPr lang="en-ZW" sz="3600" dirty="0">
                <a:latin typeface="Times New Roman" pitchFamily="18" charset="0"/>
                <a:cs typeface="Times New Roman" pitchFamily="18" charset="0"/>
              </a:rPr>
              <a:t>LANs these days connect more computers than any other form of network. </a:t>
            </a:r>
            <a:endParaRPr lang="en-ZW" sz="3600" dirty="0" smtClean="0">
              <a:latin typeface="Times New Roman" pitchFamily="18" charset="0"/>
              <a:cs typeface="Times New Roman" pitchFamily="18" charset="0"/>
            </a:endParaRPr>
          </a:p>
          <a:p>
            <a:pPr>
              <a:buNone/>
            </a:pPr>
            <a:r>
              <a:rPr lang="en-ZW" sz="3600" dirty="0" smtClean="0">
                <a:latin typeface="Times New Roman" pitchFamily="18" charset="0"/>
                <a:cs typeface="Times New Roman" pitchFamily="18" charset="0"/>
              </a:rPr>
              <a:t>The </a:t>
            </a:r>
            <a:r>
              <a:rPr lang="en-ZW" sz="3600" dirty="0">
                <a:latin typeface="Times New Roman" pitchFamily="18" charset="0"/>
                <a:cs typeface="Times New Roman" pitchFamily="18" charset="0"/>
              </a:rPr>
              <a:t>reason for their popularity is due to the principle of locality of reference. This principle helps to predict computer communication patterns.</a:t>
            </a:r>
            <a:endParaRPr lang="en-US" sz="36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Locality of reference manifestation</a:t>
            </a:r>
            <a:endParaRPr lang="en-US" dirty="0"/>
          </a:p>
        </p:txBody>
      </p:sp>
      <p:sp>
        <p:nvSpPr>
          <p:cNvPr id="3" name="Content Placeholder 2"/>
          <p:cNvSpPr>
            <a:spLocks noGrp="1"/>
          </p:cNvSpPr>
          <p:nvPr>
            <p:ph idx="1"/>
          </p:nvPr>
        </p:nvSpPr>
        <p:spPr/>
        <p:txBody>
          <a:bodyPr>
            <a:normAutofit fontScale="92500"/>
          </a:bodyPr>
          <a:lstStyle/>
          <a:p>
            <a:pPr>
              <a:buNone/>
            </a:pPr>
            <a:r>
              <a:rPr lang="en-ZW" dirty="0"/>
              <a:t>Locality of reference principle manifests itself as:</a:t>
            </a:r>
            <a:endParaRPr lang="en-US" dirty="0"/>
          </a:p>
          <a:p>
            <a:r>
              <a:rPr lang="en-ZW" dirty="0"/>
              <a:t>Spatial (or physical) locality of reference which states that computers are likely to communicate with other computers that are located nearby</a:t>
            </a:r>
            <a:endParaRPr lang="en-US" dirty="0"/>
          </a:p>
          <a:p>
            <a:r>
              <a:rPr lang="en-ZW" dirty="0"/>
              <a:t>Temporal locality of reference which states that computers are likely to communicate with the same computers repeatedly</a:t>
            </a:r>
            <a:endParaRPr lang="en-US" dirty="0"/>
          </a:p>
          <a:p>
            <a:r>
              <a:rPr lang="en-ZW" dirty="0"/>
              <a:t>These two give an insight into which computers should be on a LAN.</a:t>
            </a:r>
            <a:endParaRPr lang="en-US" dirty="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latin typeface="Times New Roman" pitchFamily="18" charset="0"/>
                <a:cs typeface="Times New Roman" pitchFamily="18" charset="0"/>
              </a:rPr>
              <a:t>LAN Topologies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ZW" sz="3300" dirty="0" smtClean="0">
                <a:latin typeface="Times New Roman" pitchFamily="18" charset="0"/>
                <a:cs typeface="Times New Roman" pitchFamily="18" charset="0"/>
              </a:rPr>
              <a:t>LANs </a:t>
            </a:r>
            <a:r>
              <a:rPr lang="en-ZW" sz="3300" dirty="0">
                <a:latin typeface="Times New Roman" pitchFamily="18" charset="0"/>
                <a:cs typeface="Times New Roman" pitchFamily="18" charset="0"/>
              </a:rPr>
              <a:t>can be organized into various different structures called topologies. These structures can be:</a:t>
            </a:r>
            <a:endParaRPr lang="en-US" sz="3300" dirty="0">
              <a:latin typeface="Times New Roman" pitchFamily="18" charset="0"/>
              <a:cs typeface="Times New Roman" pitchFamily="18" charset="0"/>
            </a:endParaRPr>
          </a:p>
          <a:p>
            <a:r>
              <a:rPr lang="en-ZW" sz="3300" dirty="0">
                <a:latin typeface="Times New Roman" pitchFamily="18" charset="0"/>
                <a:cs typeface="Times New Roman" pitchFamily="18" charset="0"/>
              </a:rPr>
              <a:t>Physical topologies – which show how wires are organized in a LAN</a:t>
            </a:r>
            <a:endParaRPr lang="en-US" sz="3300" dirty="0">
              <a:latin typeface="Times New Roman" pitchFamily="18" charset="0"/>
              <a:cs typeface="Times New Roman" pitchFamily="18" charset="0"/>
            </a:endParaRPr>
          </a:p>
          <a:p>
            <a:r>
              <a:rPr lang="en-ZW" sz="3300" dirty="0">
                <a:latin typeface="Times New Roman" pitchFamily="18" charset="0"/>
                <a:cs typeface="Times New Roman" pitchFamily="18" charset="0"/>
              </a:rPr>
              <a:t>Logical topologies – show how a network behaves logically</a:t>
            </a:r>
            <a:endParaRPr lang="en-US" sz="3300" dirty="0">
              <a:latin typeface="Times New Roman" pitchFamily="18" charset="0"/>
              <a:cs typeface="Times New Roman" pitchFamily="18" charset="0"/>
            </a:endParaRPr>
          </a:p>
          <a:p>
            <a:pPr>
              <a:buNone/>
            </a:pPr>
            <a:r>
              <a:rPr lang="en-ZW" sz="3300" dirty="0">
                <a:latin typeface="Times New Roman" pitchFamily="18" charset="0"/>
                <a:cs typeface="Times New Roman" pitchFamily="18" charset="0"/>
              </a:rPr>
              <a:t>Three primary physical topologies are:</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Bus</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Star</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Ring</a:t>
            </a:r>
            <a:endParaRPr lang="en-US" sz="33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Linear </a:t>
            </a:r>
            <a:r>
              <a:rPr lang="en-ZW" b="1" dirty="0"/>
              <a:t>Bus Topology</a:t>
            </a:r>
            <a:r>
              <a:rPr lang="en-US" b="1" dirty="0"/>
              <a:t/>
            </a:r>
            <a:br>
              <a:rPr lang="en-US" b="1" dirty="0"/>
            </a:br>
            <a:endParaRPr lang="en-US" dirty="0"/>
          </a:p>
        </p:txBody>
      </p:sp>
      <p:pic>
        <p:nvPicPr>
          <p:cNvPr id="4" name="Content Placeholder 3"/>
          <p:cNvPicPr>
            <a:picLocks noGrp="1"/>
          </p:cNvPicPr>
          <p:nvPr>
            <p:ph idx="1"/>
          </p:nvPr>
        </p:nvPicPr>
        <p:blipFill>
          <a:blip r:embed="rId2" cstate="print"/>
          <a:srcRect l="27337" t="35569" r="32359" b="28280"/>
          <a:stretch>
            <a:fillRect/>
          </a:stretch>
        </p:blipFill>
        <p:spPr bwMode="auto">
          <a:xfrm>
            <a:off x="381000" y="914400"/>
            <a:ext cx="8382000" cy="53340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bus topology components</a:t>
            </a:r>
            <a:endParaRPr lang="en-US" dirty="0"/>
          </a:p>
        </p:txBody>
      </p:sp>
      <p:sp>
        <p:nvSpPr>
          <p:cNvPr id="3" name="Content Placeholder 2"/>
          <p:cNvSpPr>
            <a:spLocks noGrp="1"/>
          </p:cNvSpPr>
          <p:nvPr>
            <p:ph idx="1"/>
          </p:nvPr>
        </p:nvSpPr>
        <p:spPr/>
        <p:txBody>
          <a:bodyPr>
            <a:normAutofit/>
          </a:bodyPr>
          <a:lstStyle/>
          <a:p>
            <a:pPr>
              <a:buNone/>
            </a:pPr>
            <a:r>
              <a:rPr lang="en-ZW" dirty="0">
                <a:latin typeface="Times New Roman" pitchFamily="18" charset="0"/>
                <a:cs typeface="Times New Roman" pitchFamily="18" charset="0"/>
              </a:rPr>
              <a:t>The linear bus topology consists of a main run cable with a terminator at each end</a:t>
            </a:r>
            <a:r>
              <a:rPr lang="en-ZW" dirty="0" smtClean="0">
                <a:latin typeface="Times New Roman" pitchFamily="18" charset="0"/>
                <a:cs typeface="Times New Roman" pitchFamily="18" charset="0"/>
              </a:rPr>
              <a:t>.</a:t>
            </a:r>
          </a:p>
          <a:p>
            <a:pPr>
              <a:buNone/>
            </a:pPr>
            <a:r>
              <a:rPr lang="en-ZW" dirty="0" smtClean="0">
                <a:latin typeface="Times New Roman" pitchFamily="18" charset="0"/>
                <a:cs typeface="Times New Roman" pitchFamily="18" charset="0"/>
              </a:rPr>
              <a:t> </a:t>
            </a:r>
            <a:r>
              <a:rPr lang="en-ZW" dirty="0">
                <a:latin typeface="Times New Roman" pitchFamily="18" charset="0"/>
                <a:cs typeface="Times New Roman" pitchFamily="18" charset="0"/>
              </a:rPr>
              <a:t>All nodes (server, workstations, and printer) </a:t>
            </a:r>
            <a:r>
              <a:rPr lang="en-ZW" dirty="0" smtClean="0">
                <a:latin typeface="Times New Roman" pitchFamily="18" charset="0"/>
                <a:cs typeface="Times New Roman" pitchFamily="18" charset="0"/>
              </a:rPr>
              <a:t>are connected </a:t>
            </a:r>
            <a:r>
              <a:rPr lang="en-ZW" dirty="0">
                <a:latin typeface="Times New Roman" pitchFamily="18" charset="0"/>
                <a:cs typeface="Times New Roman" pitchFamily="18" charset="0"/>
              </a:rPr>
              <a:t>to the linear cable</a:t>
            </a:r>
            <a:r>
              <a:rPr lang="en-ZW" dirty="0" smtClean="0">
                <a:latin typeface="Times New Roman" pitchFamily="18" charset="0"/>
                <a:cs typeface="Times New Roman" pitchFamily="18" charset="0"/>
              </a:rPr>
              <a:t>.</a:t>
            </a:r>
          </a:p>
          <a:p>
            <a:pPr>
              <a:buNone/>
            </a:pPr>
            <a:endParaRPr lang="en-US" b="1" dirty="0"/>
          </a:p>
          <a:p>
            <a:pPr>
              <a:buNone/>
            </a:pPr>
            <a:endParaRPr lang="en-US"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Characteristics of bus topology</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sz="3500" dirty="0" smtClean="0">
                <a:latin typeface="Times New Roman" pitchFamily="18" charset="0"/>
                <a:cs typeface="Times New Roman" pitchFamily="18" charset="0"/>
              </a:rPr>
              <a:t>Failure of the bus cable disrupts all communication</a:t>
            </a:r>
          </a:p>
          <a:p>
            <a:pPr lvl="0"/>
            <a:r>
              <a:rPr lang="en-US" sz="3500" dirty="0" smtClean="0">
                <a:latin typeface="Times New Roman" pitchFamily="18" charset="0"/>
                <a:cs typeface="Times New Roman" pitchFamily="18" charset="0"/>
              </a:rPr>
              <a:t>Failure of devices does not affect entire network</a:t>
            </a:r>
          </a:p>
          <a:p>
            <a:pPr lvl="0"/>
            <a:r>
              <a:rPr lang="en-US" sz="3500" dirty="0" smtClean="0">
                <a:latin typeface="Times New Roman" pitchFamily="18" charset="0"/>
                <a:cs typeface="Times New Roman" pitchFamily="18" charset="0"/>
              </a:rPr>
              <a:t>There is a limit on the length of the network (devices do not amplify/repeat the signal)</a:t>
            </a:r>
          </a:p>
          <a:p>
            <a:pPr lvl="0"/>
            <a:r>
              <a:rPr lang="en-US" sz="3500" dirty="0" smtClean="0">
                <a:latin typeface="Times New Roman" pitchFamily="18" charset="0"/>
                <a:cs typeface="Times New Roman" pitchFamily="18" charset="0"/>
              </a:rPr>
              <a:t>Propagation delay is not affected by the number of devices that are attached to the cable</a:t>
            </a:r>
          </a:p>
          <a:p>
            <a:pPr>
              <a:buNone/>
            </a:pPr>
            <a:r>
              <a:rPr lang="en-GB" dirty="0" smtClean="0"/>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&amp; disadvantages</a:t>
            </a:r>
            <a:endParaRPr lang="en-US" dirty="0"/>
          </a:p>
        </p:txBody>
      </p:sp>
      <p:sp>
        <p:nvSpPr>
          <p:cNvPr id="3" name="Content Placeholder 2"/>
          <p:cNvSpPr>
            <a:spLocks noGrp="1"/>
          </p:cNvSpPr>
          <p:nvPr>
            <p:ph idx="1"/>
          </p:nvPr>
        </p:nvSpPr>
        <p:spPr/>
        <p:txBody>
          <a:bodyPr>
            <a:normAutofit fontScale="92500" lnSpcReduction="20000"/>
          </a:bodyPr>
          <a:lstStyle/>
          <a:p>
            <a:r>
              <a:rPr lang="en-GB" b="1" dirty="0"/>
              <a:t>Advantages of linear bus</a:t>
            </a:r>
            <a:endParaRPr lang="en-US" b="1" dirty="0"/>
          </a:p>
          <a:p>
            <a:pPr lvl="0"/>
            <a:r>
              <a:rPr lang="en-US" dirty="0"/>
              <a:t>Easy to connect a computer or peripheral device once cable is laid down</a:t>
            </a:r>
          </a:p>
          <a:p>
            <a:pPr lvl="0"/>
            <a:r>
              <a:rPr lang="en-US" dirty="0"/>
              <a:t>Require less cable length than a star topology</a:t>
            </a:r>
          </a:p>
          <a:p>
            <a:r>
              <a:rPr lang="en-US" b="1" dirty="0"/>
              <a:t>Disadvantages</a:t>
            </a:r>
            <a:endParaRPr lang="en-US" dirty="0"/>
          </a:p>
          <a:p>
            <a:pPr lvl="0"/>
            <a:r>
              <a:rPr lang="en-US" dirty="0"/>
              <a:t>Entire network shuts down if there is a break in the main cable</a:t>
            </a:r>
          </a:p>
          <a:p>
            <a:pPr lvl="0"/>
            <a:r>
              <a:rPr lang="en-US" dirty="0"/>
              <a:t>Terminators are required at both ends</a:t>
            </a:r>
          </a:p>
          <a:p>
            <a:pPr lvl="0"/>
            <a:r>
              <a:rPr lang="en-US" dirty="0"/>
              <a:t>Difficult to identify a problem if the entire network shuts down</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Star Topology</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ZW" sz="3600" dirty="0" smtClean="0">
                <a:latin typeface="Times New Roman" pitchFamily="18" charset="0"/>
                <a:cs typeface="Times New Roman" pitchFamily="18" charset="0"/>
              </a:rPr>
              <a:t>In </a:t>
            </a:r>
            <a:r>
              <a:rPr lang="en-ZW" sz="3600" dirty="0">
                <a:latin typeface="Times New Roman" pitchFamily="18" charset="0"/>
                <a:cs typeface="Times New Roman" pitchFamily="18" charset="0"/>
              </a:rPr>
              <a:t>this topology all nodes are connected directly to a central network hub, switch or concentrator. </a:t>
            </a:r>
            <a:endParaRPr lang="en-ZW" sz="3600" dirty="0" smtClean="0">
              <a:latin typeface="Times New Roman" pitchFamily="18" charset="0"/>
              <a:cs typeface="Times New Roman" pitchFamily="18" charset="0"/>
            </a:endParaRPr>
          </a:p>
          <a:p>
            <a:r>
              <a:rPr lang="en-ZW" sz="3600" dirty="0" smtClean="0">
                <a:latin typeface="Times New Roman" pitchFamily="18" charset="0"/>
                <a:cs typeface="Times New Roman" pitchFamily="18" charset="0"/>
              </a:rPr>
              <a:t>Data </a:t>
            </a:r>
            <a:r>
              <a:rPr lang="en-ZW" sz="3600" dirty="0">
                <a:latin typeface="Times New Roman" pitchFamily="18" charset="0"/>
                <a:cs typeface="Times New Roman" pitchFamily="18" charset="0"/>
              </a:rPr>
              <a:t>passes through the hub before continuing to its destination. The hub, switch or concentrator manages and controls all functions of the network. </a:t>
            </a:r>
            <a:endParaRPr lang="en-ZW" sz="3600" dirty="0" smtClean="0">
              <a:latin typeface="Times New Roman" pitchFamily="18" charset="0"/>
              <a:cs typeface="Times New Roman" pitchFamily="18" charset="0"/>
            </a:endParaRPr>
          </a:p>
          <a:p>
            <a:r>
              <a:rPr lang="en-ZW" sz="3600" dirty="0" smtClean="0">
                <a:latin typeface="Times New Roman" pitchFamily="18" charset="0"/>
                <a:cs typeface="Times New Roman" pitchFamily="18" charset="0"/>
              </a:rPr>
              <a:t>It </a:t>
            </a:r>
            <a:r>
              <a:rPr lang="en-ZW" sz="3600" dirty="0">
                <a:latin typeface="Times New Roman" pitchFamily="18" charset="0"/>
                <a:cs typeface="Times New Roman" pitchFamily="18" charset="0"/>
              </a:rPr>
              <a:t>also acts as a repeater for the data flow. </a:t>
            </a:r>
            <a:endParaRPr lang="en-US" sz="36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 topology diagram</a:t>
            </a:r>
            <a:endParaRPr lang="en-US" dirty="0"/>
          </a:p>
        </p:txBody>
      </p:sp>
      <p:pic>
        <p:nvPicPr>
          <p:cNvPr id="4" name="img" descr="http://fcit.usf.edu/network/chap5/pics/star.gif"/>
          <p:cNvPicPr>
            <a:picLocks noGrp="1"/>
          </p:cNvPicPr>
          <p:nvPr>
            <p:ph idx="1"/>
          </p:nvPr>
        </p:nvPicPr>
        <p:blipFill>
          <a:blip r:embed="rId2" cstate="print"/>
          <a:srcRect/>
          <a:stretch>
            <a:fillRect/>
          </a:stretch>
        </p:blipFill>
        <p:spPr bwMode="auto">
          <a:xfrm>
            <a:off x="304800" y="1524000"/>
            <a:ext cx="7696200" cy="43434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&amp; Disadvantages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sz="3600" dirty="0">
                <a:latin typeface="Times New Roman" pitchFamily="18" charset="0"/>
                <a:cs typeface="Times New Roman" pitchFamily="18" charset="0"/>
              </a:rPr>
              <a:t>The above configuration is common with twisted pair cables.</a:t>
            </a:r>
          </a:p>
          <a:p>
            <a:pPr>
              <a:buNone/>
            </a:pPr>
            <a:r>
              <a:rPr lang="en-US" sz="3600" b="1" dirty="0">
                <a:latin typeface="Times New Roman" pitchFamily="18" charset="0"/>
                <a:cs typeface="Times New Roman" pitchFamily="18" charset="0"/>
              </a:rPr>
              <a:t>Advantages</a:t>
            </a:r>
            <a:endParaRPr lang="en-US" sz="3600" dirty="0">
              <a:latin typeface="Times New Roman" pitchFamily="18" charset="0"/>
              <a:cs typeface="Times New Roman" pitchFamily="18" charset="0"/>
            </a:endParaRPr>
          </a:p>
          <a:p>
            <a:pPr lvl="0"/>
            <a:r>
              <a:rPr lang="en-US" sz="3600" dirty="0">
                <a:latin typeface="Times New Roman" pitchFamily="18" charset="0"/>
                <a:cs typeface="Times New Roman" pitchFamily="18" charset="0"/>
              </a:rPr>
              <a:t>Easy to install and wire</a:t>
            </a:r>
          </a:p>
          <a:p>
            <a:pPr lvl="0"/>
            <a:r>
              <a:rPr lang="en-US" sz="3600" dirty="0">
                <a:latin typeface="Times New Roman" pitchFamily="18" charset="0"/>
                <a:cs typeface="Times New Roman" pitchFamily="18" charset="0"/>
              </a:rPr>
              <a:t>No disruptions to the network when connecting or removing devices</a:t>
            </a:r>
          </a:p>
          <a:p>
            <a:pPr lvl="0"/>
            <a:r>
              <a:rPr lang="en-US" sz="3600" dirty="0">
                <a:latin typeface="Times New Roman" pitchFamily="18" charset="0"/>
                <a:cs typeface="Times New Roman" pitchFamily="18" charset="0"/>
              </a:rPr>
              <a:t>East to detect faults and remove parts</a:t>
            </a:r>
          </a:p>
          <a:p>
            <a:pPr>
              <a:buNone/>
            </a:pPr>
            <a:r>
              <a:rPr lang="en-US" sz="3600" b="1" dirty="0">
                <a:latin typeface="Times New Roman" pitchFamily="18" charset="0"/>
                <a:cs typeface="Times New Roman" pitchFamily="18" charset="0"/>
              </a:rPr>
              <a:t>Disadvantages</a:t>
            </a:r>
            <a:endParaRPr lang="en-US" sz="3600" dirty="0">
              <a:latin typeface="Times New Roman" pitchFamily="18" charset="0"/>
              <a:cs typeface="Times New Roman" pitchFamily="18" charset="0"/>
            </a:endParaRPr>
          </a:p>
          <a:p>
            <a:pPr lvl="0"/>
            <a:r>
              <a:rPr lang="en-US" sz="3600" dirty="0">
                <a:latin typeface="Times New Roman" pitchFamily="18" charset="0"/>
                <a:cs typeface="Times New Roman" pitchFamily="18" charset="0"/>
              </a:rPr>
              <a:t>Requires more cable length compared to linear bus</a:t>
            </a:r>
          </a:p>
          <a:p>
            <a:pPr lvl="0"/>
            <a:r>
              <a:rPr lang="en-US" sz="3600" dirty="0">
                <a:latin typeface="Times New Roman" pitchFamily="18" charset="0"/>
                <a:cs typeface="Times New Roman" pitchFamily="18" charset="0"/>
              </a:rPr>
              <a:t>If hub/switch/concentrator fails, nodes attached are all disabled</a:t>
            </a:r>
          </a:p>
          <a:p>
            <a:pPr lvl="0"/>
            <a:r>
              <a:rPr lang="en-US" sz="3600" dirty="0">
                <a:latin typeface="Times New Roman" pitchFamily="18" charset="0"/>
                <a:cs typeface="Times New Roman" pitchFamily="18" charset="0"/>
              </a:rPr>
              <a:t>More expensive compared to linear bus topologies because of the cost of hubs/concentrators/switches.</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ZW" b="1" dirty="0" smtClean="0"/>
              <a:t>Tree or expanded star topology</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ZW" dirty="0" smtClean="0"/>
              <a:t>The </a:t>
            </a:r>
            <a:r>
              <a:rPr lang="en-ZW" dirty="0"/>
              <a:t>tree topology combines the characteristics of a linear bus and star topologies. </a:t>
            </a:r>
            <a:endParaRPr lang="en-ZW" dirty="0" smtClean="0"/>
          </a:p>
          <a:p>
            <a:r>
              <a:rPr lang="en-ZW" dirty="0" smtClean="0"/>
              <a:t>Star </a:t>
            </a:r>
            <a:r>
              <a:rPr lang="en-ZW" dirty="0"/>
              <a:t>configured workstations are connected to a linear bus backbone cable. </a:t>
            </a:r>
            <a:endParaRPr lang="en-ZW" dirty="0" smtClean="0"/>
          </a:p>
          <a:p>
            <a:r>
              <a:rPr lang="en-ZW" dirty="0" smtClean="0"/>
              <a:t>Tree </a:t>
            </a:r>
            <a:r>
              <a:rPr lang="en-ZW" dirty="0"/>
              <a:t>topologies allow the expansion of an existing network and allow schools to configure a network to meet their needs.</a:t>
            </a:r>
            <a:endParaRPr lang="en-US" dirty="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Advantages&amp; Disadvantages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ZW" sz="3300" b="1" dirty="0">
                <a:latin typeface="Times New Roman" pitchFamily="18" charset="0"/>
                <a:cs typeface="Times New Roman" pitchFamily="18" charset="0"/>
              </a:rPr>
              <a:t>Advantages </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Point to point wiring of individual segments</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Supported by several hardware and software vendors</a:t>
            </a:r>
            <a:endParaRPr lang="en-US" sz="3300" dirty="0">
              <a:latin typeface="Times New Roman" pitchFamily="18" charset="0"/>
              <a:cs typeface="Times New Roman" pitchFamily="18" charset="0"/>
            </a:endParaRPr>
          </a:p>
          <a:p>
            <a:pPr>
              <a:buNone/>
            </a:pPr>
            <a:r>
              <a:rPr lang="en-ZW" sz="3300" b="1" dirty="0" smtClean="0">
                <a:latin typeface="Times New Roman" pitchFamily="18" charset="0"/>
                <a:cs typeface="Times New Roman" pitchFamily="18" charset="0"/>
              </a:rPr>
              <a:t>Disadvantages</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Overall length of each segment is limited by the type of cabling used</a:t>
            </a:r>
            <a:r>
              <a:rPr lang="en-ZW" sz="3300" b="1" dirty="0">
                <a:latin typeface="Times New Roman" pitchFamily="18" charset="0"/>
                <a:cs typeface="Times New Roman" pitchFamily="18" charset="0"/>
              </a:rPr>
              <a:t> </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If the backbone cable breaks down, the entire segment goes down</a:t>
            </a:r>
            <a:endParaRPr lang="en-US" sz="3300" dirty="0">
              <a:latin typeface="Times New Roman" pitchFamily="18" charset="0"/>
              <a:cs typeface="Times New Roman" pitchFamily="18" charset="0"/>
            </a:endParaRPr>
          </a:p>
          <a:p>
            <a:pPr lvl="0"/>
            <a:r>
              <a:rPr lang="en-ZW" sz="3300" dirty="0">
                <a:latin typeface="Times New Roman" pitchFamily="18" charset="0"/>
                <a:cs typeface="Times New Roman" pitchFamily="18" charset="0"/>
              </a:rPr>
              <a:t>More difficult to configure and wire than other topologies</a:t>
            </a:r>
            <a:endParaRPr lang="en-US" sz="33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topology structure</a:t>
            </a:r>
            <a:endParaRPr lang="en-US" dirty="0"/>
          </a:p>
        </p:txBody>
      </p:sp>
      <p:pic>
        <p:nvPicPr>
          <p:cNvPr id="4" name="Content Placeholder 3"/>
          <p:cNvPicPr>
            <a:picLocks noGrp="1"/>
          </p:cNvPicPr>
          <p:nvPr>
            <p:ph idx="1"/>
          </p:nvPr>
        </p:nvPicPr>
        <p:blipFill>
          <a:blip r:embed="rId3" cstate="print"/>
          <a:srcRect l="27992" t="37609" r="37268" b="13411"/>
          <a:stretch>
            <a:fillRect/>
          </a:stretch>
        </p:blipFill>
        <p:spPr bwMode="auto">
          <a:xfrm>
            <a:off x="457200" y="1219200"/>
            <a:ext cx="7391400" cy="533399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The 5-4-3 Rule</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This </a:t>
            </a:r>
            <a:r>
              <a:rPr lang="en-US" dirty="0"/>
              <a:t>rule is used when setting up a tree topology using Ethernet protocol. </a:t>
            </a:r>
            <a:endParaRPr lang="en-US" dirty="0" smtClean="0"/>
          </a:p>
          <a:p>
            <a:r>
              <a:rPr lang="en-US" dirty="0" smtClean="0"/>
              <a:t>One </a:t>
            </a:r>
            <a:r>
              <a:rPr lang="en-US" dirty="0"/>
              <a:t>aspect of the Ethernet protocol requires that a signal sent out on the network cable reach every part of the network within specified length of time. </a:t>
            </a:r>
            <a:endParaRPr lang="en-US" dirty="0" smtClean="0"/>
          </a:p>
          <a:p>
            <a:r>
              <a:rPr lang="en-US" dirty="0" smtClean="0"/>
              <a:t>From </a:t>
            </a:r>
            <a:r>
              <a:rPr lang="en-US" dirty="0"/>
              <a:t>each concentrator/repeater a signal goes through adds a small amount of time. </a:t>
            </a:r>
            <a:endParaRPr lang="en-US" dirty="0" smtClean="0"/>
          </a:p>
          <a:p>
            <a:r>
              <a:rPr lang="en-US" dirty="0" smtClean="0"/>
              <a:t>This </a:t>
            </a:r>
            <a:r>
              <a:rPr lang="en-US" dirty="0"/>
              <a:t>leads to the rule that between any two nodes on the network there can only be a maximum of 5 segments, connected through 4 repeaters/concentrators. In addition only 3 of the segments may be populated segments if they are made of coaxial cable.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sz="3600" dirty="0" smtClean="0">
                <a:latin typeface="Times New Roman" pitchFamily="18" charset="0"/>
                <a:cs typeface="Times New Roman" pitchFamily="18" charset="0"/>
              </a:rPr>
              <a:t>The 5-4-3 rule does not apply to other network protocols or Ethernet networks where all </a:t>
            </a:r>
            <a:r>
              <a:rPr lang="en-US" sz="3600" dirty="0" err="1" smtClean="0">
                <a:latin typeface="Times New Roman" pitchFamily="18" charset="0"/>
                <a:cs typeface="Times New Roman" pitchFamily="18" charset="0"/>
              </a:rPr>
              <a:t>fibre</a:t>
            </a:r>
            <a:r>
              <a:rPr lang="en-US" sz="3600" dirty="0" smtClean="0">
                <a:latin typeface="Times New Roman" pitchFamily="18" charset="0"/>
                <a:cs typeface="Times New Roman" pitchFamily="18" charset="0"/>
              </a:rPr>
              <a:t> optic cabling or a combination of a </a:t>
            </a:r>
            <a:r>
              <a:rPr lang="en-US" sz="3600" dirty="0" err="1" smtClean="0">
                <a:latin typeface="Times New Roman" pitchFamily="18" charset="0"/>
                <a:cs typeface="Times New Roman" pitchFamily="18" charset="0"/>
              </a:rPr>
              <a:t>fibre</a:t>
            </a:r>
            <a:r>
              <a:rPr lang="en-US" sz="3600" dirty="0" smtClean="0">
                <a:latin typeface="Times New Roman" pitchFamily="18" charset="0"/>
                <a:cs typeface="Times New Roman" pitchFamily="18" charset="0"/>
              </a:rPr>
              <a:t> backbone with UTP cabling is used.</a:t>
            </a:r>
          </a:p>
          <a:p>
            <a:r>
              <a:rPr lang="en-US" sz="3600" dirty="0" smtClean="0">
                <a:latin typeface="Times New Roman" pitchFamily="18" charset="0"/>
                <a:cs typeface="Times New Roman" pitchFamily="18" charset="0"/>
              </a:rPr>
              <a:t> If there is a combination of optic </a:t>
            </a:r>
            <a:r>
              <a:rPr lang="en-US" sz="3600" dirty="0" err="1" smtClean="0">
                <a:latin typeface="Times New Roman" pitchFamily="18" charset="0"/>
                <a:cs typeface="Times New Roman" pitchFamily="18" charset="0"/>
              </a:rPr>
              <a:t>fibre</a:t>
            </a:r>
            <a:r>
              <a:rPr lang="en-US" sz="3600" dirty="0" smtClean="0">
                <a:latin typeface="Times New Roman" pitchFamily="18" charset="0"/>
                <a:cs typeface="Times New Roman" pitchFamily="18" charset="0"/>
              </a:rPr>
              <a:t> backbone and UTP cabling the rule translates to a 7-6-5.</a:t>
            </a:r>
          </a:p>
          <a:p>
            <a:pPr>
              <a:buNone/>
            </a:pPr>
            <a:endParaRPr lang="en-US" dirty="0" smtClean="0"/>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4900" b="1" dirty="0" smtClean="0">
                <a:latin typeface="Times New Roman" pitchFamily="18" charset="0"/>
                <a:cs typeface="Times New Roman" pitchFamily="18" charset="0"/>
              </a:rPr>
              <a:t>Ring Topology</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US" sz="4000" dirty="0" smtClean="0">
                <a:latin typeface="Times New Roman" pitchFamily="18" charset="0"/>
                <a:cs typeface="Times New Roman" pitchFamily="18" charset="0"/>
              </a:rPr>
              <a:t>A </a:t>
            </a:r>
            <a:r>
              <a:rPr lang="en-US" sz="4000" dirty="0">
                <a:latin typeface="Times New Roman" pitchFamily="18" charset="0"/>
                <a:cs typeface="Times New Roman" pitchFamily="18" charset="0"/>
              </a:rPr>
              <a:t>ring network is network topology in which each node connects exactly to two other nodes forming a single continuous pathway for signals through each node. </a:t>
            </a:r>
            <a:endParaRPr lang="en-US" sz="4000" dirty="0" smtClean="0">
              <a:latin typeface="Times New Roman" pitchFamily="18" charset="0"/>
              <a:cs typeface="Times New Roman" pitchFamily="18" charset="0"/>
            </a:endParaRPr>
          </a:p>
          <a:p>
            <a:r>
              <a:rPr lang="en-US" sz="4000" dirty="0" smtClean="0">
                <a:latin typeface="Times New Roman" pitchFamily="18" charset="0"/>
                <a:cs typeface="Times New Roman" pitchFamily="18" charset="0"/>
              </a:rPr>
              <a:t>Data </a:t>
            </a:r>
            <a:r>
              <a:rPr lang="en-US" sz="4000" dirty="0">
                <a:latin typeface="Times New Roman" pitchFamily="18" charset="0"/>
                <a:cs typeface="Times New Roman" pitchFamily="18" charset="0"/>
              </a:rPr>
              <a:t>travels from node to node along the way handling every packet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Ring network</a:t>
            </a:r>
            <a:endParaRPr lang="en-US" dirty="0"/>
          </a:p>
        </p:txBody>
      </p:sp>
      <p:pic>
        <p:nvPicPr>
          <p:cNvPr id="4" name="Content Placeholder 3"/>
          <p:cNvPicPr>
            <a:picLocks noGrp="1"/>
          </p:cNvPicPr>
          <p:nvPr>
            <p:ph idx="1"/>
          </p:nvPr>
        </p:nvPicPr>
        <p:blipFill>
          <a:blip r:embed="rId2" cstate="print"/>
          <a:srcRect l="27010" t="27114" r="57421" b="48396"/>
          <a:stretch>
            <a:fillRect/>
          </a:stretch>
        </p:blipFill>
        <p:spPr bwMode="auto">
          <a:xfrm>
            <a:off x="1600200" y="1905000"/>
            <a:ext cx="5181600" cy="42672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sz="3900" dirty="0">
                <a:latin typeface="Times New Roman" pitchFamily="18" charset="0"/>
                <a:cs typeface="Times New Roman" pitchFamily="18" charset="0"/>
              </a:rPr>
              <a:t>In a single ring information flow is in one direction only and only one station/computer can use the ring at a time. </a:t>
            </a:r>
            <a:endParaRPr lang="en-US" sz="3900" dirty="0" smtClean="0">
              <a:latin typeface="Times New Roman" pitchFamily="18" charset="0"/>
              <a:cs typeface="Times New Roman" pitchFamily="18" charset="0"/>
            </a:endParaRPr>
          </a:p>
          <a:p>
            <a:pPr>
              <a:buNone/>
            </a:pPr>
            <a:r>
              <a:rPr lang="en-US" sz="3900" dirty="0" smtClean="0">
                <a:latin typeface="Times New Roman" pitchFamily="18" charset="0"/>
                <a:cs typeface="Times New Roman" pitchFamily="18" charset="0"/>
              </a:rPr>
              <a:t>There </a:t>
            </a:r>
            <a:r>
              <a:rPr lang="en-US" sz="3900" dirty="0">
                <a:latin typeface="Times New Roman" pitchFamily="18" charset="0"/>
                <a:cs typeface="Times New Roman" pitchFamily="18" charset="0"/>
              </a:rPr>
              <a:t>is no central controlling device but the stations take turns to control transmission. </a:t>
            </a:r>
            <a:endParaRPr lang="en-US" sz="3900" dirty="0" smtClean="0">
              <a:latin typeface="Times New Roman" pitchFamily="18" charset="0"/>
              <a:cs typeface="Times New Roman" pitchFamily="18" charset="0"/>
            </a:endParaRPr>
          </a:p>
          <a:p>
            <a:pPr>
              <a:buNone/>
            </a:pPr>
            <a:r>
              <a:rPr lang="en-US" sz="3900" dirty="0" smtClean="0">
                <a:latin typeface="Times New Roman" pitchFamily="18" charset="0"/>
                <a:cs typeface="Times New Roman" pitchFamily="18" charset="0"/>
              </a:rPr>
              <a:t>They </a:t>
            </a:r>
            <a:r>
              <a:rPr lang="en-US" sz="3900" dirty="0">
                <a:latin typeface="Times New Roman" pitchFamily="18" charset="0"/>
                <a:cs typeface="Times New Roman" pitchFamily="18" charset="0"/>
              </a:rPr>
              <a:t>make use of a token which gives a particular station the right to use the ring. A token is just like a time slice given to a particular station. After transmitting its data it passes the token to the next station.</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buNone/>
            </a:pPr>
            <a:r>
              <a:rPr lang="en-US" sz="3600" dirty="0">
                <a:latin typeface="Times New Roman" pitchFamily="18" charset="0"/>
                <a:cs typeface="Times New Roman" pitchFamily="18" charset="0"/>
              </a:rPr>
              <a:t>A ring network may be disrupted by failure of a single link. </a:t>
            </a:r>
            <a:endParaRPr lang="en-US" sz="3600" dirty="0" smtClean="0">
              <a:latin typeface="Times New Roman" pitchFamily="18" charset="0"/>
              <a:cs typeface="Times New Roman" pitchFamily="18" charset="0"/>
            </a:endParaRPr>
          </a:p>
          <a:p>
            <a:pPr>
              <a:buNone/>
            </a:pPr>
            <a:r>
              <a:rPr lang="en-US" sz="3600" dirty="0" smtClean="0">
                <a:latin typeface="Times New Roman" pitchFamily="18" charset="0"/>
                <a:cs typeface="Times New Roman" pitchFamily="18" charset="0"/>
              </a:rPr>
              <a:t>A </a:t>
            </a:r>
            <a:r>
              <a:rPr lang="en-US" sz="3600" dirty="0">
                <a:latin typeface="Times New Roman" pitchFamily="18" charset="0"/>
                <a:cs typeface="Times New Roman" pitchFamily="18" charset="0"/>
              </a:rPr>
              <a:t>node failure or cable break might isolate every node attached to the ring. </a:t>
            </a:r>
            <a:endParaRPr lang="en-US" sz="3600" dirty="0" smtClean="0">
              <a:latin typeface="Times New Roman" pitchFamily="18" charset="0"/>
              <a:cs typeface="Times New Roman" pitchFamily="18" charset="0"/>
            </a:endParaRPr>
          </a:p>
          <a:p>
            <a:pPr>
              <a:buNone/>
            </a:pPr>
            <a:r>
              <a:rPr lang="en-US" sz="3600" dirty="0" smtClean="0">
                <a:latin typeface="Times New Roman" pitchFamily="18" charset="0"/>
                <a:cs typeface="Times New Roman" pitchFamily="18" charset="0"/>
              </a:rPr>
              <a:t>A </a:t>
            </a:r>
            <a:r>
              <a:rPr lang="en-US" sz="3600" dirty="0">
                <a:latin typeface="Times New Roman" pitchFamily="18" charset="0"/>
                <a:cs typeface="Times New Roman" pitchFamily="18" charset="0"/>
              </a:rPr>
              <a:t>ring network can be implemented using SONET (Synchronous Optical Network) or FDDI( </a:t>
            </a:r>
            <a:r>
              <a:rPr lang="en-US" sz="3600" dirty="0" err="1">
                <a:latin typeface="Times New Roman" pitchFamily="18" charset="0"/>
                <a:cs typeface="Times New Roman" pitchFamily="18" charset="0"/>
              </a:rPr>
              <a:t>Fibre</a:t>
            </a:r>
            <a:r>
              <a:rPr lang="en-US" sz="3600" dirty="0">
                <a:latin typeface="Times New Roman" pitchFamily="18" charset="0"/>
                <a:cs typeface="Times New Roman" pitchFamily="18" charset="0"/>
              </a:rPr>
              <a:t> distributed Data Interface).</a:t>
            </a:r>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SONET technology</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This </a:t>
            </a:r>
            <a:r>
              <a:rPr lang="en-US" dirty="0"/>
              <a:t>technology uses rings known as ‘self-healing rings</a:t>
            </a:r>
            <a:r>
              <a:rPr lang="en-US" dirty="0" smtClean="0"/>
              <a:t>.</a:t>
            </a:r>
          </a:p>
          <a:p>
            <a:pPr>
              <a:buNone/>
            </a:pPr>
            <a:r>
              <a:rPr lang="en-US" dirty="0" smtClean="0"/>
              <a:t> </a:t>
            </a:r>
            <a:r>
              <a:rPr lang="en-US" dirty="0"/>
              <a:t>It uses two or more transmission paths between network nodes. If there is a break in one line the other line may still be available. </a:t>
            </a:r>
            <a:endParaRPr lang="en-US" dirty="0" smtClean="0"/>
          </a:p>
          <a:p>
            <a:pPr>
              <a:buNone/>
            </a:pPr>
            <a:r>
              <a:rPr lang="en-US" dirty="0" smtClean="0"/>
              <a:t>For </a:t>
            </a:r>
            <a:r>
              <a:rPr lang="en-US" dirty="0"/>
              <a:t>best security against failure a four-</a:t>
            </a:r>
            <a:r>
              <a:rPr lang="en-US" dirty="0" err="1"/>
              <a:t>fibre</a:t>
            </a:r>
            <a:r>
              <a:rPr lang="en-US" dirty="0"/>
              <a:t> bi=-directional ring is used. </a:t>
            </a:r>
            <a:endParaRPr lang="en-US" dirty="0" smtClean="0"/>
          </a:p>
          <a:p>
            <a:pPr>
              <a:buNone/>
            </a:pPr>
            <a:r>
              <a:rPr lang="en-US" dirty="0" smtClean="0"/>
              <a:t>The </a:t>
            </a:r>
            <a:r>
              <a:rPr lang="en-US" dirty="0"/>
              <a:t>SONET ring uses digital cross-connects (DCs) or add/drop multiplexers (ADMs).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SONET ring variation</a:t>
            </a:r>
            <a:endParaRPr lang="en-US" dirty="0"/>
          </a:p>
        </p:txBody>
      </p:sp>
      <p:sp>
        <p:nvSpPr>
          <p:cNvPr id="3" name="Content Placeholder 2"/>
          <p:cNvSpPr>
            <a:spLocks noGrp="1"/>
          </p:cNvSpPr>
          <p:nvPr>
            <p:ph idx="1"/>
          </p:nvPr>
        </p:nvSpPr>
        <p:spPr/>
        <p:txBody>
          <a:bodyPr>
            <a:normAutofit/>
          </a:bodyPr>
          <a:lstStyle/>
          <a:p>
            <a:pPr>
              <a:buNone/>
            </a:pPr>
            <a:r>
              <a:rPr lang="en-US" sz="4000" dirty="0" smtClean="0">
                <a:latin typeface="Times New Roman" pitchFamily="18" charset="0"/>
                <a:cs typeface="Times New Roman" pitchFamily="18" charset="0"/>
              </a:rPr>
              <a:t>The ring can be:</a:t>
            </a:r>
          </a:p>
          <a:p>
            <a:pPr lvl="0"/>
            <a:r>
              <a:rPr lang="en-US" sz="4000" dirty="0" err="1" smtClean="0">
                <a:latin typeface="Times New Roman" pitchFamily="18" charset="0"/>
                <a:cs typeface="Times New Roman" pitchFamily="18" charset="0"/>
              </a:rPr>
              <a:t>Uni</a:t>
            </a:r>
            <a:r>
              <a:rPr lang="en-US" sz="4000" dirty="0" smtClean="0">
                <a:latin typeface="Times New Roman" pitchFamily="18" charset="0"/>
                <a:cs typeface="Times New Roman" pitchFamily="18" charset="0"/>
              </a:rPr>
              <a:t>-directional (two)</a:t>
            </a:r>
          </a:p>
          <a:p>
            <a:pPr lvl="0"/>
            <a:r>
              <a:rPr lang="en-US" sz="4000" dirty="0" smtClean="0">
                <a:latin typeface="Times New Roman" pitchFamily="18" charset="0"/>
                <a:cs typeface="Times New Roman" pitchFamily="18" charset="0"/>
              </a:rPr>
              <a:t>Bi-directional (two)</a:t>
            </a:r>
          </a:p>
          <a:p>
            <a:pPr lvl="0"/>
            <a:r>
              <a:rPr lang="en-US" sz="4000" dirty="0" smtClean="0">
                <a:latin typeface="Times New Roman" pitchFamily="18" charset="0"/>
                <a:cs typeface="Times New Roman" pitchFamily="18" charset="0"/>
              </a:rPr>
              <a:t>Bi-directional (four)</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smtClean="0"/>
              <a:t>Two </a:t>
            </a:r>
            <a:r>
              <a:rPr lang="en-US" dirty="0" err="1"/>
              <a:t>fibre</a:t>
            </a:r>
            <a:r>
              <a:rPr lang="en-US" dirty="0"/>
              <a:t> </a:t>
            </a:r>
            <a:r>
              <a:rPr lang="en-US" dirty="0" err="1"/>
              <a:t>uni</a:t>
            </a:r>
            <a:r>
              <a:rPr lang="en-US" dirty="0"/>
              <a:t>-directional SONET token ring network</a:t>
            </a:r>
            <a:br>
              <a:rPr lang="en-US" dirty="0"/>
            </a:br>
            <a:endParaRPr lang="en-US" dirty="0"/>
          </a:p>
        </p:txBody>
      </p:sp>
      <p:pic>
        <p:nvPicPr>
          <p:cNvPr id="4" name="img" descr="http://common.ziffdavisinternet.com/encyclopedia_images/SONET1.GIF"/>
          <p:cNvPicPr>
            <a:picLocks noGrp="1"/>
          </p:cNvPicPr>
          <p:nvPr>
            <p:ph idx="1"/>
          </p:nvPr>
        </p:nvPicPr>
        <p:blipFill>
          <a:blip r:embed="rId2" cstate="print"/>
          <a:srcRect/>
          <a:stretch>
            <a:fillRect/>
          </a:stretch>
        </p:blipFill>
        <p:spPr bwMode="auto">
          <a:xfrm>
            <a:off x="609600" y="1524000"/>
            <a:ext cx="7696200" cy="48768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Operation</a:t>
            </a:r>
            <a:endParaRPr lang="en-US" dirty="0"/>
          </a:p>
        </p:txBody>
      </p:sp>
      <p:sp>
        <p:nvSpPr>
          <p:cNvPr id="3" name="Content Placeholder 2"/>
          <p:cNvSpPr>
            <a:spLocks noGrp="1"/>
          </p:cNvSpPr>
          <p:nvPr>
            <p:ph idx="1"/>
          </p:nvPr>
        </p:nvSpPr>
        <p:spPr/>
        <p:txBody>
          <a:bodyPr>
            <a:normAutofit/>
          </a:bodyPr>
          <a:lstStyle/>
          <a:p>
            <a:r>
              <a:rPr lang="en-US" sz="4000" dirty="0">
                <a:latin typeface="Times New Roman" pitchFamily="18" charset="0"/>
                <a:cs typeface="Times New Roman" pitchFamily="18" charset="0"/>
              </a:rPr>
              <a:t>The two rings are not used simultaneously. The standby ring is for backup purposes</a:t>
            </a:r>
            <a:r>
              <a:rPr lang="en-US" sz="4000" dirty="0" smtClean="0">
                <a:latin typeface="Times New Roman" pitchFamily="18" charset="0"/>
                <a:cs typeface="Times New Roman" pitchFamily="18" charset="0"/>
              </a:rPr>
              <a:t>.</a:t>
            </a:r>
          </a:p>
          <a:p>
            <a:r>
              <a:rPr lang="en-US" sz="4000" dirty="0" smtClean="0">
                <a:latin typeface="Times New Roman" pitchFamily="18" charset="0"/>
                <a:cs typeface="Times New Roman" pitchFamily="18" charset="0"/>
              </a:rPr>
              <a:t> </a:t>
            </a:r>
            <a:r>
              <a:rPr lang="en-US" sz="4000" dirty="0">
                <a:latin typeface="Times New Roman" pitchFamily="18" charset="0"/>
                <a:cs typeface="Times New Roman" pitchFamily="18" charset="0"/>
              </a:rPr>
              <a:t>For example   if the working ring breaks, the standby ring ‘wraps’ the connection back around the working ring.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
            </a:r>
            <a:br>
              <a:rPr lang="en-GB" b="1" dirty="0" smtClean="0"/>
            </a:br>
            <a:r>
              <a:rPr lang="en-GB" b="1" dirty="0" smtClean="0">
                <a:latin typeface="Times New Roman" pitchFamily="18" charset="0"/>
                <a:cs typeface="Times New Roman" pitchFamily="18" charset="0"/>
              </a:rPr>
              <a:t>Bi-directional </a:t>
            </a:r>
            <a:r>
              <a:rPr lang="en-GB" b="1" dirty="0">
                <a:latin typeface="Times New Roman" pitchFamily="18" charset="0"/>
                <a:cs typeface="Times New Roman" pitchFamily="18" charset="0"/>
              </a:rPr>
              <a:t>(four) SONET ring network</a:t>
            </a:r>
            <a:r>
              <a:rPr lang="en-US" b="1" dirty="0"/>
              <a:t/>
            </a:r>
            <a:br>
              <a:rPr lang="en-US" b="1" dirty="0"/>
            </a:br>
            <a:endParaRPr lang="en-US" dirty="0"/>
          </a:p>
        </p:txBody>
      </p:sp>
      <p:pic>
        <p:nvPicPr>
          <p:cNvPr id="4" name="img" descr="http://cf.ydcdn.net/1.0.1.63/images/computer/SONET3.GIF"/>
          <p:cNvPicPr>
            <a:picLocks noGrp="1"/>
          </p:cNvPicPr>
          <p:nvPr>
            <p:ph idx="1"/>
          </p:nvPr>
        </p:nvPicPr>
        <p:blipFill>
          <a:blip r:embed="rId2" cstate="print"/>
          <a:srcRect/>
          <a:stretch>
            <a:fillRect/>
          </a:stretch>
        </p:blipFill>
        <p:spPr bwMode="auto">
          <a:xfrm>
            <a:off x="609600" y="1371600"/>
            <a:ext cx="8153400" cy="51054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
            </a:r>
            <a:br>
              <a:rPr lang="en-US" b="1" dirty="0" smtClean="0"/>
            </a:br>
            <a:r>
              <a:rPr lang="en-US" b="1" dirty="0" smtClean="0"/>
              <a:t>Fiber Distributed Data Interface (FDDI)</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sz="3500" dirty="0" smtClean="0">
                <a:latin typeface="Times New Roman" pitchFamily="18" charset="0"/>
                <a:cs typeface="Times New Roman" pitchFamily="18" charset="0"/>
              </a:rPr>
              <a:t>FDDI </a:t>
            </a:r>
            <a:r>
              <a:rPr lang="en-US" sz="3500" dirty="0">
                <a:latin typeface="Times New Roman" pitchFamily="18" charset="0"/>
                <a:cs typeface="Times New Roman" pitchFamily="18" charset="0"/>
              </a:rPr>
              <a:t>network contains two token rings, one for possible backup in case the primary ring fails. </a:t>
            </a:r>
            <a:endParaRPr lang="en-US" sz="3500" dirty="0" smtClean="0">
              <a:latin typeface="Times New Roman" pitchFamily="18" charset="0"/>
              <a:cs typeface="Times New Roman" pitchFamily="18" charset="0"/>
            </a:endParaRPr>
          </a:p>
          <a:p>
            <a:r>
              <a:rPr lang="en-US" sz="3500" dirty="0" smtClean="0">
                <a:latin typeface="Times New Roman" pitchFamily="18" charset="0"/>
                <a:cs typeface="Times New Roman" pitchFamily="18" charset="0"/>
              </a:rPr>
              <a:t>The </a:t>
            </a:r>
            <a:r>
              <a:rPr lang="en-US" sz="3500" dirty="0">
                <a:latin typeface="Times New Roman" pitchFamily="18" charset="0"/>
                <a:cs typeface="Times New Roman" pitchFamily="18" charset="0"/>
              </a:rPr>
              <a:t>primary ring can transfer up to 100 </a:t>
            </a:r>
            <a:r>
              <a:rPr lang="en-US" sz="3500" u="sng" dirty="0">
                <a:latin typeface="Times New Roman" pitchFamily="18" charset="0"/>
                <a:cs typeface="Times New Roman" pitchFamily="18" charset="0"/>
                <a:hlinkClick r:id="rId2"/>
              </a:rPr>
              <a:t>Mbps</a:t>
            </a:r>
            <a:r>
              <a:rPr lang="en-US" sz="3500" dirty="0">
                <a:latin typeface="Times New Roman" pitchFamily="18" charset="0"/>
                <a:cs typeface="Times New Roman" pitchFamily="18" charset="0"/>
              </a:rPr>
              <a:t> capacity. If the secondary ring is not needed for backup, it can also carry data, extending capacity to 200 Mbps</a:t>
            </a:r>
            <a:r>
              <a:rPr lang="en-US" sz="3500" dirty="0" smtClean="0">
                <a:latin typeface="Times New Roman" pitchFamily="18" charset="0"/>
                <a:cs typeface="Times New Roman" pitchFamily="18" charset="0"/>
              </a:rPr>
              <a:t>.</a:t>
            </a:r>
          </a:p>
          <a:p>
            <a:r>
              <a:rPr lang="en-US" sz="3500" dirty="0" smtClean="0">
                <a:latin typeface="Times New Roman" pitchFamily="18" charset="0"/>
                <a:cs typeface="Times New Roman" pitchFamily="18" charset="0"/>
              </a:rPr>
              <a:t> </a:t>
            </a:r>
            <a:r>
              <a:rPr lang="en-US" sz="3500" dirty="0">
                <a:latin typeface="Times New Roman" pitchFamily="18" charset="0"/>
                <a:cs typeface="Times New Roman" pitchFamily="18" charset="0"/>
              </a:rPr>
              <a:t>The single ring can extend the maximum distance; a dual ring can extend 100 km (62 miles).</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a:latin typeface="Times New Roman" pitchFamily="18" charset="0"/>
                <a:cs typeface="Times New Roman" pitchFamily="18" charset="0"/>
              </a:rPr>
              <a:t>FDDI token ring network</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img" descr="http://www.logis-edu.com/training/down/2_2_3_26.jpg"/>
          <p:cNvPicPr>
            <a:picLocks noGrp="1"/>
          </p:cNvPicPr>
          <p:nvPr>
            <p:ph idx="1"/>
          </p:nvPr>
        </p:nvPicPr>
        <p:blipFill>
          <a:blip r:embed="rId2" cstate="print"/>
          <a:srcRect/>
          <a:stretch>
            <a:fillRect/>
          </a:stretch>
        </p:blipFill>
        <p:spPr bwMode="auto">
          <a:xfrm>
            <a:off x="381000" y="1600200"/>
            <a:ext cx="7315200" cy="50292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normAutofit fontScale="85000" lnSpcReduction="20000"/>
          </a:bodyPr>
          <a:lstStyle/>
          <a:p>
            <a:pPr lvl="0"/>
            <a:r>
              <a:rPr lang="en-ZW" dirty="0"/>
              <a:t>Orderly, every device has access to the token and the opportunity to transmit</a:t>
            </a:r>
            <a:endParaRPr lang="en-US" dirty="0"/>
          </a:p>
          <a:p>
            <a:pPr lvl="0"/>
            <a:r>
              <a:rPr lang="en-ZW" dirty="0"/>
              <a:t>Performs better than star topology under heavy network load</a:t>
            </a:r>
            <a:endParaRPr lang="en-US" dirty="0"/>
          </a:p>
          <a:p>
            <a:pPr lvl="0"/>
            <a:r>
              <a:rPr lang="en-ZW" dirty="0"/>
              <a:t>Can create much larger network using token ring</a:t>
            </a:r>
            <a:endParaRPr lang="en-US" dirty="0"/>
          </a:p>
          <a:p>
            <a:pPr lvl="0"/>
            <a:r>
              <a:rPr lang="en-ZW" dirty="0"/>
              <a:t>Does not require network server to manage the connectivity between computers</a:t>
            </a:r>
            <a:endParaRPr lang="en-US" dirty="0"/>
          </a:p>
          <a:p>
            <a:pPr lvl="0"/>
            <a:r>
              <a:rPr lang="en-ZW" dirty="0"/>
              <a:t>Prevents data collision because of the media access method</a:t>
            </a:r>
            <a:endParaRPr lang="en-US" dirty="0"/>
          </a:p>
          <a:p>
            <a:pPr lvl="0"/>
            <a:r>
              <a:rPr lang="en-ZW" dirty="0"/>
              <a:t>Additional nodes to the network have little impact on </a:t>
            </a:r>
            <a:r>
              <a:rPr lang="en-ZW" dirty="0" smtClean="0"/>
              <a:t>bandwidth</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Disadvantages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lvl="0"/>
            <a:r>
              <a:rPr lang="en-ZW" sz="3600" dirty="0" smtClean="0">
                <a:latin typeface="Times New Roman" pitchFamily="18" charset="0"/>
                <a:cs typeface="Times New Roman" pitchFamily="18" charset="0"/>
              </a:rPr>
              <a:t>One malfunctioning workstation or bad port in the multi-access unit(MAU) can create problems for the entire network</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Data packets must pass through every computer between the sender and the recipient, this makes it slower</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Moving, adding and changing of devices can affect the network</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Network adapter cards and MAU are much more expensive than Ethernet cards and hubs</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Much slower than Ethernet under normal load</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All network interface cards must operate at the same speed</a:t>
            </a:r>
            <a:endParaRPr lang="en-US" sz="3600" dirty="0" smtClean="0">
              <a:latin typeface="Times New Roman" pitchFamily="18" charset="0"/>
              <a:cs typeface="Times New Roman" pitchFamily="18" charset="0"/>
            </a:endParaRPr>
          </a:p>
          <a:p>
            <a:pPr lvl="0"/>
            <a:r>
              <a:rPr lang="en-ZW" sz="3600" dirty="0" smtClean="0">
                <a:latin typeface="Times New Roman" pitchFamily="18" charset="0"/>
                <a:cs typeface="Times New Roman" pitchFamily="18" charset="0"/>
              </a:rPr>
              <a:t>It is difficult to trouble shoot a ring network</a:t>
            </a:r>
            <a:endParaRPr lang="en-US" sz="3600" dirty="0" smtClean="0">
              <a:latin typeface="Times New Roman" pitchFamily="18" charset="0"/>
              <a:cs typeface="Times New Roman" pitchFamily="18" charset="0"/>
            </a:endParaRPr>
          </a:p>
          <a:p>
            <a:pPr>
              <a:buNone/>
            </a:pPr>
            <a:endParaRPr lang="en-US" dirty="0" smtClean="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1501</Words>
  <Application>Microsoft Office PowerPoint</Application>
  <PresentationFormat>On-screen Show (4:3)</PresentationFormat>
  <Paragraphs>137</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 Lecture 13 LAN TECHNOLOGIES AND NETWORK TOPOLOGIES </vt:lpstr>
      <vt:lpstr>Early</vt:lpstr>
      <vt:lpstr>Disadvantages</vt:lpstr>
      <vt:lpstr>Dedicated links</vt:lpstr>
      <vt:lpstr>PowerPoint Presentation</vt:lpstr>
      <vt:lpstr>Rise in demand for networking</vt:lpstr>
      <vt:lpstr>Multiplexing technique</vt:lpstr>
      <vt:lpstr>Locality of reference</vt:lpstr>
      <vt:lpstr>Locality of reference manifestation</vt:lpstr>
      <vt:lpstr>LAN Topologies </vt:lpstr>
      <vt:lpstr>Linear Bus Topology </vt:lpstr>
      <vt:lpstr>Linear bus topology components</vt:lpstr>
      <vt:lpstr>Characteristics of bus topology </vt:lpstr>
      <vt:lpstr>Advantages &amp; disadvantages</vt:lpstr>
      <vt:lpstr>Star Topology </vt:lpstr>
      <vt:lpstr>Star topology diagram</vt:lpstr>
      <vt:lpstr>Advantages &amp; Disadvantages</vt:lpstr>
      <vt:lpstr>Tree or expanded star topology </vt:lpstr>
      <vt:lpstr>Advantages&amp; Disadvantages</vt:lpstr>
      <vt:lpstr>Tree topology structure</vt:lpstr>
      <vt:lpstr>The 5-4-3 Rule </vt:lpstr>
      <vt:lpstr>PowerPoint Presentation</vt:lpstr>
      <vt:lpstr>Ring Topology </vt:lpstr>
      <vt:lpstr>Ring network</vt:lpstr>
      <vt:lpstr>PowerPoint Presentation</vt:lpstr>
      <vt:lpstr>PowerPoint Presentation</vt:lpstr>
      <vt:lpstr>SONET technology </vt:lpstr>
      <vt:lpstr>SONET ring variation</vt:lpstr>
      <vt:lpstr> Two fibre uni-directional SONET token ring network </vt:lpstr>
      <vt:lpstr>Operation</vt:lpstr>
      <vt:lpstr> Bi-directional (four) SONET ring network </vt:lpstr>
      <vt:lpstr> Fiber Distributed Data Interface (FDDI) </vt:lpstr>
      <vt:lpstr>FDDI token ring network </vt:lpstr>
      <vt:lpstr>Advantages</vt:lpstr>
      <vt:lpstr>Disadvantages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 LAN TECHNOLOGIES AND NETWORK TOPOLOGIES</dc:title>
  <dc:creator>langstone.shumba</dc:creator>
  <cp:lastModifiedBy>Langstone Shumba</cp:lastModifiedBy>
  <cp:revision>4</cp:revision>
  <dcterms:created xsi:type="dcterms:W3CDTF">2018-05-09T11:52:58Z</dcterms:created>
  <dcterms:modified xsi:type="dcterms:W3CDTF">2020-10-05T10:09:01Z</dcterms:modified>
</cp:coreProperties>
</file>