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0F946EB-DA88-4956-8D45-E2FB21995B8A}" type="datetimeFigureOut">
              <a:rPr lang="en-US" smtClean="0"/>
              <a:pPr/>
              <a:t>6/17/2020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946EB-DA88-4956-8D45-E2FB21995B8A}" type="datetimeFigureOut">
              <a:rPr lang="en-US" smtClean="0"/>
              <a:pPr/>
              <a:t>6/17/2020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F946EB-DA88-4956-8D45-E2FB21995B8A}" type="datetimeFigureOut">
              <a:rPr lang="en-US" smtClean="0"/>
              <a:pPr/>
              <a:t>6/17/2020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F946EB-DA88-4956-8D45-E2FB21995B8A}" type="datetimeFigureOut">
              <a:rPr lang="en-US" smtClean="0"/>
              <a:pPr/>
              <a:t>6/17/2020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F946EB-DA88-4956-8D45-E2FB21995B8A}" type="datetimeFigureOut">
              <a:rPr lang="en-US" smtClean="0"/>
              <a:pPr/>
              <a:t>6/17/2020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F946EB-DA88-4956-8D45-E2FB21995B8A}" type="datetimeFigureOut">
              <a:rPr lang="en-US" smtClean="0"/>
              <a:pPr/>
              <a:t>6/17/2020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F946EB-DA88-4956-8D45-E2FB21995B8A}" type="datetimeFigureOut">
              <a:rPr lang="en-US" smtClean="0"/>
              <a:pPr/>
              <a:t>6/17/2020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F946EB-DA88-4956-8D45-E2FB21995B8A}" type="datetimeFigureOut">
              <a:rPr lang="en-US" smtClean="0"/>
              <a:pPr/>
              <a:t>6/17/2020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F946EB-DA88-4956-8D45-E2FB21995B8A}" type="datetimeFigureOut">
              <a:rPr lang="en-US" smtClean="0"/>
              <a:pPr/>
              <a:t>6/17/2020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946EB-DA88-4956-8D45-E2FB21995B8A}" type="datetimeFigureOut">
              <a:rPr lang="en-US" smtClean="0"/>
              <a:pPr/>
              <a:t>6/17/2020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946EB-DA88-4956-8D45-E2FB21995B8A}" type="datetimeFigureOut">
              <a:rPr lang="en-US" smtClean="0"/>
              <a:pPr/>
              <a:t>6/17/2020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B0CEB-1F23-4B41-9B68-837FD8E6EFD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F946EB-DA88-4956-8D45-E2FB21995B8A}" type="datetimeFigureOut">
              <a:rPr lang="en-US" smtClean="0"/>
              <a:pPr/>
              <a:t>6/17/2020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B0CEB-1F23-4B41-9B68-837FD8E6EFD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11: Transmission Errors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ZW" b="1" dirty="0"/>
              <a:t>Sources of Transmission errors</a:t>
            </a:r>
            <a:endParaRPr lang="en-US" b="1" dirty="0"/>
          </a:p>
          <a:p>
            <a:r>
              <a:rPr lang="en-ZW" dirty="0"/>
              <a:t>All data communications systems are vulnerable to transmission errors</a:t>
            </a:r>
            <a:r>
              <a:rPr lang="en-ZW" dirty="0" smtClean="0"/>
              <a:t>.</a:t>
            </a:r>
          </a:p>
          <a:p>
            <a:r>
              <a:rPr lang="en-ZW" dirty="0" smtClean="0"/>
              <a:t> </a:t>
            </a:r>
            <a:r>
              <a:rPr lang="en-ZW" dirty="0"/>
              <a:t>There are several sources of these transmission errors but </a:t>
            </a:r>
            <a:r>
              <a:rPr lang="en-ZW" dirty="0" smtClean="0"/>
              <a:t>we look </a:t>
            </a:r>
            <a:r>
              <a:rPr lang="en-ZW" dirty="0"/>
              <a:t>at the three main sources of transmission errors namely:</a:t>
            </a:r>
            <a:endParaRPr lang="en-US" dirty="0"/>
          </a:p>
          <a:p>
            <a:pPr lvl="0"/>
            <a:r>
              <a:rPr lang="en-ZW" b="1" dirty="0"/>
              <a:t>Interference</a:t>
            </a:r>
            <a:endParaRPr lang="en-US" dirty="0"/>
          </a:p>
          <a:p>
            <a:pPr lvl="0"/>
            <a:r>
              <a:rPr lang="en-ZW" b="1" dirty="0"/>
              <a:t>Distortion</a:t>
            </a:r>
            <a:endParaRPr lang="en-US" dirty="0"/>
          </a:p>
          <a:p>
            <a:pPr lvl="0"/>
            <a:r>
              <a:rPr lang="en-ZW" b="1" dirty="0"/>
              <a:t>Attenuation</a:t>
            </a:r>
            <a:endParaRPr lang="en-US" dirty="0"/>
          </a:p>
          <a:p>
            <a:pPr>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b="1" dirty="0"/>
              <a:t>Interference </a:t>
            </a:r>
            <a:r>
              <a:rPr lang="en-ZW" b="1" dirty="0" smtClean="0"/>
              <a:t>:</a:t>
            </a:r>
          </a:p>
          <a:p>
            <a:r>
              <a:rPr lang="en-ZW" dirty="0" smtClean="0"/>
              <a:t>is </a:t>
            </a:r>
            <a:r>
              <a:rPr lang="en-ZW" dirty="0"/>
              <a:t>caused by electronic magnetic radiation that may be emitted from devices like electronic motors used in the communication </a:t>
            </a:r>
            <a:r>
              <a:rPr lang="en-ZW" dirty="0" smtClean="0"/>
              <a:t>system</a:t>
            </a:r>
          </a:p>
          <a:p>
            <a:r>
              <a:rPr lang="en-ZW" dirty="0" smtClean="0"/>
              <a:t> </a:t>
            </a:r>
            <a:r>
              <a:rPr lang="en-ZW" dirty="0"/>
              <a:t>This can cause noise that disturbs radio transmission and signals travelling across </a:t>
            </a:r>
            <a:r>
              <a:rPr lang="en-ZW" dirty="0" smtClean="0"/>
              <a:t>wires</a:t>
            </a:r>
            <a:endParaRPr lang="en-US" dirty="0"/>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ZW" b="1" dirty="0"/>
              <a:t>Distortion </a:t>
            </a:r>
            <a:r>
              <a:rPr lang="en-ZW" dirty="0"/>
              <a:t>All physical systems distort signals, for example when a pulse travels along optic fibre it disperses. Transmission wires have properties of capacitance and inductance that block signals at some frequencies and also allow signals to filter through at other frequencies, for example placing a transmission wire near a large metal object can change the set of frequencies that can pass through the wire. Metal objects can also block some frequencies of radio waves while allowing others to pass through.</a:t>
            </a:r>
            <a:endParaRPr lang="en-US"/>
          </a:p>
          <a:p>
            <a:pPr>
              <a:buNone/>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ZW" b="1" dirty="0" smtClean="0"/>
              <a:t>Attenuation </a:t>
            </a:r>
          </a:p>
          <a:p>
            <a:r>
              <a:rPr lang="en-ZW" dirty="0" smtClean="0"/>
              <a:t>When a signal passes through a transmission medium it becomes weaker because of resistance and other opposition forces. So signals propagating on wires or optical fibres become weaker over long distances. The same applies to radio signals which become weaker or fade over long distances.</a:t>
            </a:r>
          </a:p>
          <a:p>
            <a:r>
              <a:rPr lang="en-ZW" dirty="0" smtClean="0"/>
              <a:t> Errors cannot be eliminated completely in a communications system but can be detected and in some cases corrected automatically.</a:t>
            </a:r>
            <a:endParaRPr lang="en-US" dirty="0" smtClean="0"/>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In communication systems, the following errors are common:</a:t>
            </a:r>
            <a:endParaRPr lang="en-US" dirty="0" smtClean="0"/>
          </a:p>
          <a:p>
            <a:pPr lvl="0"/>
            <a:r>
              <a:rPr lang="en-ZW" dirty="0" smtClean="0"/>
              <a:t>Single bit error</a:t>
            </a:r>
            <a:endParaRPr lang="en-US" dirty="0" smtClean="0"/>
          </a:p>
          <a:p>
            <a:pPr lvl="0"/>
            <a:r>
              <a:rPr lang="en-ZW" dirty="0" smtClean="0"/>
              <a:t>Burst errors</a:t>
            </a:r>
            <a:endParaRPr lang="en-US" dirty="0" smtClean="0"/>
          </a:p>
          <a:p>
            <a:r>
              <a:rPr lang="en-ZW" dirty="0" smtClean="0"/>
              <a:t>Erasure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smtClean="0"/>
              <a:t>Single bit error is when only one bit changes its value in a character or block of characters</a:t>
            </a:r>
          </a:p>
          <a:p>
            <a:r>
              <a:rPr lang="en-ZW" dirty="0" smtClean="0"/>
              <a:t>burst errors arise when two or more bits change their values in a character or block of characters. </a:t>
            </a:r>
          </a:p>
          <a:p>
            <a:r>
              <a:rPr lang="en-ZW" dirty="0" smtClean="0"/>
              <a:t>The erasure (ambiguity), the signals that arrive at the receiver are ambiguous, that is difficult to tell.</a:t>
            </a:r>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b="1" dirty="0" smtClean="0"/>
              <a:t>Error detection codes  </a:t>
            </a:r>
            <a:endParaRPr lang="en-US" b="1" dirty="0" smtClean="0"/>
          </a:p>
          <a:p>
            <a:r>
              <a:rPr lang="en-ZW" dirty="0" smtClean="0"/>
              <a:t>These are codes that can detect the presence of errors in a transmission without necessarily correcting them (errors). </a:t>
            </a:r>
          </a:p>
          <a:p>
            <a:r>
              <a:rPr lang="en-ZW" dirty="0" smtClean="0"/>
              <a:t>Most popular for single bit errors is the parity bit error detection code, which is either even parity or odd parity.</a:t>
            </a:r>
            <a:endParaRPr lang="en-US" dirty="0" smtClean="0"/>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ZW" b="1" dirty="0" smtClean="0"/>
              <a:t>Even parity</a:t>
            </a:r>
            <a:endParaRPr lang="en-US" dirty="0" smtClean="0"/>
          </a:p>
          <a:p>
            <a:r>
              <a:rPr lang="en-ZW" dirty="0" smtClean="0"/>
              <a:t>In even parity the number of binary ones (1s) must always be even.</a:t>
            </a:r>
          </a:p>
          <a:p>
            <a:r>
              <a:rPr lang="en-ZW" dirty="0" smtClean="0"/>
              <a:t> At the transmitter every parity bit is calculated and is sent (not as part of data) but is transmitted first or last.</a:t>
            </a:r>
          </a:p>
          <a:p>
            <a:r>
              <a:rPr lang="en-ZW" dirty="0" smtClean="0"/>
              <a:t> At the receiver the even parity bit is also calculated and compared with the received parity bit. </a:t>
            </a:r>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If they are the same the assumption is that no errors occurred during transmission see example below:</a:t>
            </a:r>
          </a:p>
          <a:p>
            <a:pPr>
              <a:buNone/>
            </a:pPr>
            <a:endParaRPr lang="en-US" dirty="0"/>
          </a:p>
        </p:txBody>
      </p:sp>
      <p:pic>
        <p:nvPicPr>
          <p:cNvPr id="4" name="Picture 3"/>
          <p:cNvPicPr/>
          <p:nvPr/>
        </p:nvPicPr>
        <p:blipFill>
          <a:blip r:embed="rId2" cstate="print"/>
          <a:srcRect l="24199" t="24786" r="37981" b="46154"/>
          <a:stretch>
            <a:fillRect/>
          </a:stretch>
        </p:blipFill>
        <p:spPr bwMode="auto">
          <a:xfrm>
            <a:off x="990600" y="3200400"/>
            <a:ext cx="7315200" cy="3124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ZW" sz="3600" dirty="0" smtClean="0"/>
              <a:t>The problem with parity bit arises when two bit positions change their values. In this case the parity bit will be correct, so the error is not detected </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b="1" dirty="0" smtClean="0"/>
              <a:t>Odd parity</a:t>
            </a:r>
            <a:endParaRPr lang="en-US" dirty="0" smtClean="0"/>
          </a:p>
          <a:p>
            <a:r>
              <a:rPr lang="en-ZW" dirty="0" smtClean="0"/>
              <a:t>In odd parity, the number of binary ones (1s) must always be odd. If even, the assumption is an error occurred during transmission.</a:t>
            </a:r>
          </a:p>
          <a:p>
            <a:pPr>
              <a:buNone/>
            </a:pPr>
            <a:endParaRPr lang="en-ZW" dirty="0" smtClean="0"/>
          </a:p>
          <a:p>
            <a:pPr>
              <a:buNone/>
            </a:pPr>
            <a:r>
              <a:rPr lang="en-ZW" dirty="0" smtClean="0"/>
              <a:t>		</a:t>
            </a:r>
            <a:endParaRPr lang="en-US" dirty="0" smtClean="0"/>
          </a:p>
          <a:p>
            <a:pPr>
              <a:buNone/>
            </a:pPr>
            <a:endParaRPr lang="en-US" dirty="0"/>
          </a:p>
        </p:txBody>
      </p:sp>
      <p:pic>
        <p:nvPicPr>
          <p:cNvPr id="4" name="Picture 3"/>
          <p:cNvPicPr/>
          <p:nvPr/>
        </p:nvPicPr>
        <p:blipFill>
          <a:blip r:embed="rId2" cstate="print"/>
          <a:srcRect l="24840" t="26211" r="38461" b="43590"/>
          <a:stretch>
            <a:fillRect/>
          </a:stretch>
        </p:blipFill>
        <p:spPr bwMode="auto">
          <a:xfrm>
            <a:off x="304800" y="3657600"/>
            <a:ext cx="7772400" cy="32004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Forward error correction codes      </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ZW" dirty="0" smtClean="0"/>
              <a:t>Forward error correction code allow the error detection mechanism at the receiver to determine exactly which bits have been changed and to compute the correct values</a:t>
            </a:r>
          </a:p>
          <a:p>
            <a:r>
              <a:rPr lang="en-ZW" dirty="0" smtClean="0"/>
              <a:t>See block diagram     </a:t>
            </a:r>
            <a:endParaRPr lang="en-US" dirty="0" smtClean="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Conceptual organization of forward error detection code(block diagram)</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a:p>
        </p:txBody>
      </p:sp>
      <p:pic>
        <p:nvPicPr>
          <p:cNvPr id="4" name="Picture 3"/>
          <p:cNvPicPr/>
          <p:nvPr/>
        </p:nvPicPr>
        <p:blipFill>
          <a:blip r:embed="rId2" cstate="print"/>
          <a:srcRect l="23237" t="29060" r="27244" b="19088"/>
          <a:stretch>
            <a:fillRect/>
          </a:stretch>
        </p:blipFill>
        <p:spPr bwMode="auto">
          <a:xfrm>
            <a:off x="0" y="1539081"/>
            <a:ext cx="8839199" cy="4648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None/>
            </a:pPr>
            <a:r>
              <a:rPr lang="en-ZW" dirty="0" smtClean="0"/>
              <a:t>The conceptual diagram operates as follows:</a:t>
            </a:r>
            <a:endParaRPr lang="en-US" dirty="0" smtClean="0"/>
          </a:p>
          <a:p>
            <a:r>
              <a:rPr lang="en-ZW" dirty="0" smtClean="0"/>
              <a:t>Extra bits are added to the original message to possibly detect the presence of errors in the message to be transmitted. </a:t>
            </a:r>
          </a:p>
          <a:p>
            <a:r>
              <a:rPr lang="en-ZW" dirty="0" smtClean="0"/>
              <a:t>The added bits and the original message form the codeword which is then passed over to the transmission channel to the receiver.  </a:t>
            </a:r>
          </a:p>
          <a:p>
            <a:r>
              <a:rPr lang="en-ZW" dirty="0" smtClean="0"/>
              <a:t>The received codeword is checked for errors and optionally corrected. </a:t>
            </a:r>
          </a:p>
          <a:p>
            <a:r>
              <a:rPr lang="en-ZW" dirty="0" smtClean="0"/>
              <a:t>When the errors cannot be corrected, the message is discarded and a re- transmission is requested.</a:t>
            </a:r>
            <a:endParaRPr lang="en-US" dirty="0" smtClean="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ZW" b="1" dirty="0" smtClean="0"/>
              <a:t>Block Error Correction Codes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a:t>
            </a:r>
          </a:p>
          <a:p>
            <a:r>
              <a:rPr lang="en-ZW" dirty="0" smtClean="0"/>
              <a:t>Block error correction is implementing by placing a string of bits to be transmitted in an array of rows and columns.</a:t>
            </a:r>
          </a:p>
          <a:p>
            <a:r>
              <a:rPr lang="en-ZW" dirty="0" smtClean="0"/>
              <a:t> Consider a data word made up of 12 bits. Instead of taking the bits as a single string, they can be arranged in an array of three (3) rows and four (4) columns with a parity bit added for each row and for each column.</a:t>
            </a:r>
            <a:endParaRPr lang="en-US" dirty="0" smtClean="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Consider </a:t>
            </a:r>
            <a:r>
              <a:rPr lang="en-ZW" dirty="0" smtClean="0"/>
              <a:t>the bit stream to be transmitted: 101100101010. </a:t>
            </a:r>
          </a:p>
          <a:p>
            <a:pPr>
              <a:buNone/>
            </a:pPr>
            <a:r>
              <a:rPr lang="en-ZW" dirty="0" smtClean="0"/>
              <a:t>It is then arranged in a 3 x 4 array</a:t>
            </a:r>
          </a:p>
          <a:p>
            <a:pPr>
              <a:buNone/>
            </a:pPr>
            <a:endParaRPr lang="en-ZW" dirty="0" smtClean="0"/>
          </a:p>
          <a:p>
            <a:pPr>
              <a:buNone/>
            </a:pPr>
            <a:endParaRPr lang="en-ZW" dirty="0" smtClean="0"/>
          </a:p>
          <a:p>
            <a:pPr>
              <a:buNone/>
            </a:pPr>
            <a:r>
              <a:rPr lang="en-ZW" dirty="0" smtClean="0"/>
              <a:t>			</a:t>
            </a:r>
            <a:endParaRPr lang="en-US" dirty="0" smtClean="0"/>
          </a:p>
          <a:p>
            <a:pPr>
              <a:buNone/>
            </a:pPr>
            <a:endParaRPr lang="en-US" dirty="0"/>
          </a:p>
        </p:txBody>
      </p:sp>
      <p:pic>
        <p:nvPicPr>
          <p:cNvPr id="4" name="Picture 3"/>
          <p:cNvPicPr/>
          <p:nvPr/>
        </p:nvPicPr>
        <p:blipFill>
          <a:blip r:embed="rId2" cstate="print"/>
          <a:srcRect l="23718" t="26781" r="42468" b="49287"/>
          <a:stretch>
            <a:fillRect/>
          </a:stretch>
        </p:blipFill>
        <p:spPr bwMode="auto">
          <a:xfrm>
            <a:off x="457200" y="3200400"/>
            <a:ext cx="7543800" cy="31242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smtClean="0"/>
              <a:t>Note that in the above table even parity is being used.</a:t>
            </a:r>
            <a:endParaRPr lang="en-US" dirty="0" smtClean="0"/>
          </a:p>
          <a:p>
            <a:r>
              <a:rPr lang="en-ZW" dirty="0" smtClean="0"/>
              <a:t>If one bit changes its value from 1 to 0 or vice versa this error will be detected and corrected (see table 2)</a:t>
            </a:r>
            <a:endParaRPr lang="en-US" dirty="0" smtClean="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Block error detection and correction</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6122" t="25641" r="26442" b="39031"/>
          <a:stretch>
            <a:fillRect/>
          </a:stretch>
        </p:blipFill>
        <p:spPr bwMode="auto">
          <a:xfrm>
            <a:off x="457200" y="1600200"/>
            <a:ext cx="8458200" cy="4572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smtClean="0"/>
              <a:t/>
            </a:r>
            <a:br>
              <a:rPr lang="en-ZW" dirty="0" smtClean="0"/>
            </a:br>
            <a:r>
              <a:rPr lang="en-ZW" dirty="0" smtClean="0"/>
              <a:t>To correct the error: </a:t>
            </a:r>
            <a:br>
              <a:rPr lang="en-ZW" dirty="0" smtClean="0"/>
            </a:br>
            <a:endParaRPr lang="en-US" dirty="0"/>
          </a:p>
        </p:txBody>
      </p:sp>
      <p:sp>
        <p:nvSpPr>
          <p:cNvPr id="3" name="Content Placeholder 2"/>
          <p:cNvSpPr>
            <a:spLocks noGrp="1"/>
          </p:cNvSpPr>
          <p:nvPr>
            <p:ph idx="1"/>
          </p:nvPr>
        </p:nvSpPr>
        <p:spPr/>
        <p:txBody>
          <a:bodyPr/>
          <a:lstStyle/>
          <a:p>
            <a:r>
              <a:rPr lang="en-ZW" dirty="0" smtClean="0"/>
              <a:t>draw a horizontal line where the calculated parity it of the row is located and also another vertical line where the calculated parity bit of the column is located. </a:t>
            </a:r>
          </a:p>
          <a:p>
            <a:r>
              <a:rPr lang="en-ZW" dirty="0" smtClean="0"/>
              <a:t>The erroneous bit is located where the two lines intersect. </a:t>
            </a:r>
          </a:p>
          <a:p>
            <a:r>
              <a:rPr lang="en-ZW" dirty="0" smtClean="0"/>
              <a:t>The error is corrected by toggling the affected bit.</a:t>
            </a:r>
            <a:endParaRPr lang="en-US" dirty="0" smtClean="0"/>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Hamming code</a:t>
            </a:r>
            <a:endParaRPr lang="en-US" dirty="0"/>
          </a:p>
        </p:txBody>
      </p:sp>
      <p:sp>
        <p:nvSpPr>
          <p:cNvPr id="3" name="Content Placeholder 2"/>
          <p:cNvSpPr>
            <a:spLocks noGrp="1"/>
          </p:cNvSpPr>
          <p:nvPr>
            <p:ph idx="1"/>
          </p:nvPr>
        </p:nvSpPr>
        <p:spPr/>
        <p:txBody>
          <a:bodyPr>
            <a:normAutofit/>
          </a:bodyPr>
          <a:lstStyle/>
          <a:p>
            <a:pPr>
              <a:buNone/>
            </a:pPr>
            <a:r>
              <a:rPr lang="en-ZW" dirty="0" smtClean="0"/>
              <a:t>The Hamming code is a linear error detection and correction code. </a:t>
            </a:r>
          </a:p>
          <a:p>
            <a:r>
              <a:rPr lang="en-ZW" dirty="0" smtClean="0"/>
              <a:t>It encodes 4 bits of data into 7 bits by adding 3 parity bits. </a:t>
            </a:r>
          </a:p>
          <a:p>
            <a:r>
              <a:rPr lang="en-ZW" dirty="0" smtClean="0"/>
              <a:t>The Hamming (7,4) code is a member of the family of Hamming codes but the term refers to the specific code introduced by Hamming in 1950.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The code adds additional bids to every four data bits of the message. </a:t>
            </a:r>
          </a:p>
          <a:p>
            <a:pPr>
              <a:buNone/>
            </a:pPr>
            <a:r>
              <a:rPr lang="en-ZW" dirty="0" smtClean="0"/>
              <a:t>Consider the data message 1100. If this bit stream is numbered from right to left starting with 1, 2, 3, 4, the positions 1, 2 and 4 are occupied by Hamming bits and these positions are filled by parity bits. For example: Number the data bit stream as shown below:</a:t>
            </a:r>
            <a:endParaRPr lang="en-US" dirty="0" smtClean="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Hamming bit values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t>
            </a:r>
            <a:r>
              <a:rPr lang="en-ZW" dirty="0" smtClean="0"/>
              <a:t> 1</a:t>
            </a:r>
            <a:r>
              <a:rPr lang="en-ZW" baseline="30000" dirty="0" smtClean="0"/>
              <a:t>4</a:t>
            </a:r>
            <a:r>
              <a:rPr lang="en-ZW" dirty="0" smtClean="0"/>
              <a:t>  1</a:t>
            </a:r>
            <a:r>
              <a:rPr lang="en-ZW" baseline="30000" dirty="0" smtClean="0"/>
              <a:t>3   </a:t>
            </a:r>
            <a:r>
              <a:rPr lang="en-ZW" dirty="0" smtClean="0"/>
              <a:t>0</a:t>
            </a:r>
            <a:r>
              <a:rPr lang="en-ZW" baseline="30000" dirty="0" smtClean="0"/>
              <a:t>2</a:t>
            </a:r>
            <a:r>
              <a:rPr lang="en-ZW" dirty="0" smtClean="0"/>
              <a:t> 0</a:t>
            </a:r>
            <a:r>
              <a:rPr lang="en-ZW" baseline="30000" dirty="0" smtClean="0"/>
              <a:t>1</a:t>
            </a:r>
            <a:endParaRPr lang="en-US" dirty="0" smtClean="0"/>
          </a:p>
          <a:p>
            <a:pPr>
              <a:buNone/>
            </a:pPr>
            <a:r>
              <a:rPr lang="en-ZW" dirty="0" smtClean="0"/>
              <a:t>  x          </a:t>
            </a:r>
            <a:r>
              <a:rPr lang="en-ZW" dirty="0" err="1" smtClean="0"/>
              <a:t>x</a:t>
            </a:r>
            <a:r>
              <a:rPr lang="en-ZW" dirty="0" smtClean="0"/>
              <a:t>   </a:t>
            </a:r>
            <a:r>
              <a:rPr lang="en-ZW" dirty="0" err="1" smtClean="0"/>
              <a:t>x</a:t>
            </a:r>
            <a:endParaRPr lang="en-US" dirty="0" smtClean="0"/>
          </a:p>
          <a:p>
            <a:r>
              <a:rPr lang="en-ZW" dirty="0" smtClean="0"/>
              <a:t>Insert the Hamming bits marked with </a:t>
            </a:r>
            <a:r>
              <a:rPr lang="en-ZW" dirty="0" err="1" smtClean="0"/>
              <a:t>xs</a:t>
            </a:r>
            <a:r>
              <a:rPr lang="en-ZW" dirty="0" smtClean="0"/>
              <a:t> into the data bits : 1</a:t>
            </a:r>
            <a:r>
              <a:rPr lang="en-ZW" baseline="30000" dirty="0" smtClean="0"/>
              <a:t>7</a:t>
            </a:r>
            <a:r>
              <a:rPr lang="en-ZW" dirty="0" smtClean="0"/>
              <a:t>1</a:t>
            </a:r>
            <a:r>
              <a:rPr lang="en-ZW" baseline="30000" dirty="0" smtClean="0"/>
              <a:t>6</a:t>
            </a:r>
            <a:r>
              <a:rPr lang="en-ZW" dirty="0" smtClean="0"/>
              <a:t>0</a:t>
            </a:r>
            <a:r>
              <a:rPr lang="en-ZW" baseline="30000" dirty="0" smtClean="0"/>
              <a:t>5 </a:t>
            </a:r>
            <a:r>
              <a:rPr lang="en-ZW" dirty="0" smtClean="0"/>
              <a:t>x</a:t>
            </a:r>
            <a:r>
              <a:rPr lang="en-ZW" baseline="30000" dirty="0" smtClean="0"/>
              <a:t>4</a:t>
            </a:r>
            <a:r>
              <a:rPr lang="en-ZW" dirty="0" smtClean="0"/>
              <a:t>0</a:t>
            </a:r>
            <a:r>
              <a:rPr lang="en-ZW" baseline="30000" dirty="0" smtClean="0"/>
              <a:t>3</a:t>
            </a:r>
            <a:r>
              <a:rPr lang="en-ZW" dirty="0" smtClean="0"/>
              <a:t>x</a:t>
            </a:r>
            <a:r>
              <a:rPr lang="en-ZW" baseline="30000" dirty="0" smtClean="0"/>
              <a:t>2</a:t>
            </a:r>
            <a:r>
              <a:rPr lang="en-ZW" dirty="0" smtClean="0"/>
              <a:t>x</a:t>
            </a:r>
            <a:r>
              <a:rPr lang="en-ZW" baseline="30000" dirty="0" smtClean="0"/>
              <a:t>1</a:t>
            </a:r>
            <a:r>
              <a:rPr lang="en-ZW" dirty="0" smtClean="0"/>
              <a:t> </a:t>
            </a:r>
          </a:p>
          <a:p>
            <a:r>
              <a:rPr lang="en-ZW" dirty="0" smtClean="0"/>
              <a:t> The next step is to calculate the actual binary values of the (Hamming bit positions) </a:t>
            </a:r>
            <a:r>
              <a:rPr lang="en-ZW" dirty="0" err="1" smtClean="0"/>
              <a:t>xs</a:t>
            </a:r>
            <a:endParaRPr lang="en-ZW" dirty="0" smtClean="0"/>
          </a:p>
          <a:p>
            <a:r>
              <a:rPr lang="en-ZW" dirty="0" smtClean="0"/>
              <a:t>Calculation is done using modulo -2 arithmetic or Exclusive OR.</a:t>
            </a:r>
            <a:r>
              <a:rPr lang="en-ZW" baseline="30000" dirty="0" smtClean="0"/>
              <a:t> </a:t>
            </a:r>
            <a:r>
              <a:rPr lang="en-ZW" dirty="0" smtClean="0"/>
              <a:t>Write down all bit positions with a binary 1 and perform modulo-2 arithmetic</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6442" t="29060" r="49359" b="47293"/>
          <a:stretch>
            <a:fillRect/>
          </a:stretch>
        </p:blipFill>
        <p:spPr bwMode="auto">
          <a:xfrm>
            <a:off x="0" y="1066800"/>
            <a:ext cx="5943600" cy="47244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This means the x in bit position 4 is 0, bit position 2 is 1 and bit position 1 is 0. So the transmitted bit stream including Hamming check bits is: 1010010.  If no errors occurred during transmission, the modulo-2 arithmetic of all the 1 bits will be equal to zero(0), for example:</a:t>
            </a:r>
            <a:endParaRPr lang="en-US" dirty="0" smtClean="0"/>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30769" t="40171" r="49840" b="32194"/>
          <a:stretch>
            <a:fillRect/>
          </a:stretch>
        </p:blipFill>
        <p:spPr bwMode="auto">
          <a:xfrm>
            <a:off x="914400" y="1524001"/>
            <a:ext cx="7391400" cy="46482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If an error occurred in 1 bit position during transmission, this error will be detected and corrected for example if in the above transmitted message bit position 7 toggled to a zero, modulo-2 arithmetic will produce the result 111 indicating that the error occurred at bit position 7</a:t>
            </a:r>
            <a:endParaRPr lang="en-US" dirty="0" smtClean="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Detecting an error and correcting it</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p>
          <a:p>
            <a:pPr>
              <a:buNone/>
            </a:pPr>
            <a:endParaRPr lang="en-US" dirty="0" smtClean="0"/>
          </a:p>
          <a:p>
            <a:pPr>
              <a:buNone/>
            </a:pPr>
            <a:endParaRPr lang="en-US" dirty="0" smtClean="0"/>
          </a:p>
          <a:p>
            <a:pPr>
              <a:buNone/>
            </a:pPr>
            <a:r>
              <a:rPr lang="en-US" dirty="0" smtClean="0"/>
              <a:t>	</a:t>
            </a:r>
            <a:endParaRPr lang="en-US" dirty="0"/>
          </a:p>
        </p:txBody>
      </p:sp>
      <p:pic>
        <p:nvPicPr>
          <p:cNvPr id="5" name="Picture 4"/>
          <p:cNvPicPr/>
          <p:nvPr/>
        </p:nvPicPr>
        <p:blipFill>
          <a:blip r:embed="rId2" cstate="print"/>
          <a:srcRect l="33494" t="38462" r="52243" b="43020"/>
          <a:stretch>
            <a:fillRect/>
          </a:stretch>
        </p:blipFill>
        <p:spPr bwMode="auto">
          <a:xfrm>
            <a:off x="1295400" y="1371600"/>
            <a:ext cx="6629400" cy="47244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smtClean="0"/>
              <a:t>Example 2</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ZW" dirty="0" smtClean="0"/>
              <a:t>Consider a data bit stream 1011001111001011 to be transmitted.</a:t>
            </a:r>
          </a:p>
          <a:p>
            <a:r>
              <a:rPr lang="en-ZW" dirty="0" smtClean="0"/>
              <a:t> First step is to number the bits so as to know the Hamming bit positions, for example:</a:t>
            </a:r>
            <a:endParaRPr lang="en-US" dirty="0" smtClean="0"/>
          </a:p>
          <a:p>
            <a:pPr>
              <a:buNone/>
            </a:pPr>
            <a:r>
              <a:rPr lang="en-ZW" baseline="30000" dirty="0" smtClean="0"/>
              <a:t>  16</a:t>
            </a:r>
            <a:r>
              <a:rPr lang="en-ZW" dirty="0" smtClean="0"/>
              <a:t>0</a:t>
            </a:r>
            <a:r>
              <a:rPr lang="en-ZW" baseline="30000" dirty="0" smtClean="0"/>
              <a:t>15</a:t>
            </a:r>
            <a:r>
              <a:rPr lang="en-ZW" dirty="0" smtClean="0"/>
              <a:t>1</a:t>
            </a:r>
            <a:r>
              <a:rPr lang="en-ZW" baseline="30000" dirty="0" smtClean="0"/>
              <a:t>14</a:t>
            </a:r>
            <a:r>
              <a:rPr lang="en-ZW" dirty="0" smtClean="0"/>
              <a:t>1</a:t>
            </a:r>
            <a:r>
              <a:rPr lang="en-ZW" baseline="30000" dirty="0" smtClean="0"/>
              <a:t>13</a:t>
            </a:r>
            <a:r>
              <a:rPr lang="en-ZW" dirty="0" smtClean="0"/>
              <a:t>0</a:t>
            </a:r>
            <a:r>
              <a:rPr lang="en-ZW" baseline="30000" dirty="0" smtClean="0"/>
              <a:t>12</a:t>
            </a:r>
            <a:r>
              <a:rPr lang="en-ZW" dirty="0" smtClean="0"/>
              <a:t>0</a:t>
            </a:r>
            <a:r>
              <a:rPr lang="en-ZW" baseline="30000" dirty="0" smtClean="0"/>
              <a:t>11</a:t>
            </a:r>
            <a:r>
              <a:rPr lang="en-ZW" dirty="0" smtClean="0"/>
              <a:t>1</a:t>
            </a:r>
            <a:r>
              <a:rPr lang="en-ZW" baseline="30000" dirty="0" smtClean="0"/>
              <a:t>10</a:t>
            </a:r>
            <a:r>
              <a:rPr lang="en-ZW" dirty="0" smtClean="0"/>
              <a:t>1</a:t>
            </a:r>
            <a:r>
              <a:rPr lang="en-ZW" baseline="30000" dirty="0" smtClean="0"/>
              <a:t>9</a:t>
            </a:r>
            <a:r>
              <a:rPr lang="en-ZW" dirty="0" smtClean="0"/>
              <a:t>1</a:t>
            </a:r>
            <a:r>
              <a:rPr lang="en-ZW" baseline="30000" dirty="0" smtClean="0"/>
              <a:t>8</a:t>
            </a:r>
            <a:r>
              <a:rPr lang="en-ZW" dirty="0" smtClean="0"/>
              <a:t>1</a:t>
            </a:r>
            <a:r>
              <a:rPr lang="en-ZW" baseline="30000" dirty="0" smtClean="0"/>
              <a:t>7</a:t>
            </a:r>
            <a:r>
              <a:rPr lang="en-ZW" dirty="0" smtClean="0"/>
              <a:t>0</a:t>
            </a:r>
            <a:r>
              <a:rPr lang="en-ZW" baseline="30000" dirty="0" smtClean="0"/>
              <a:t>6</a:t>
            </a:r>
            <a:r>
              <a:rPr lang="en-ZW" dirty="0" smtClean="0"/>
              <a:t>0</a:t>
            </a:r>
            <a:r>
              <a:rPr lang="en-ZW" baseline="30000" dirty="0" smtClean="0"/>
              <a:t>5</a:t>
            </a:r>
            <a:r>
              <a:rPr lang="en-ZW" dirty="0" smtClean="0"/>
              <a:t>1</a:t>
            </a:r>
            <a:r>
              <a:rPr lang="en-ZW" baseline="30000" dirty="0" smtClean="0"/>
              <a:t>4</a:t>
            </a:r>
            <a:r>
              <a:rPr lang="en-ZW" dirty="0" smtClean="0"/>
              <a:t>0</a:t>
            </a:r>
            <a:r>
              <a:rPr lang="en-ZW" baseline="30000" dirty="0" smtClean="0"/>
              <a:t>3</a:t>
            </a:r>
            <a:r>
              <a:rPr lang="en-ZW" dirty="0" smtClean="0"/>
              <a:t>1</a:t>
            </a:r>
            <a:r>
              <a:rPr lang="en-ZW" baseline="30000" dirty="0" smtClean="0"/>
              <a:t>2</a:t>
            </a:r>
            <a:r>
              <a:rPr lang="en-ZW" dirty="0" smtClean="0"/>
              <a:t>1</a:t>
            </a:r>
            <a:r>
              <a:rPr lang="en-ZW" baseline="30000" dirty="0" smtClean="0"/>
              <a:t>1</a:t>
            </a:r>
            <a:r>
              <a:rPr lang="en-ZW" dirty="0" smtClean="0"/>
              <a:t>, so the bit positions 16, 8, 4, 2 and 1 are Hamming bit positions and they do not carry data but are used as parity check bits.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smtClean="0"/>
              <a:t>We insert </a:t>
            </a:r>
            <a:r>
              <a:rPr lang="en-ZW" dirty="0" err="1" smtClean="0"/>
              <a:t>xs</a:t>
            </a:r>
            <a:r>
              <a:rPr lang="en-ZW" dirty="0" smtClean="0"/>
              <a:t> in these bit positions in the data bit stream and then calculate their actual binary values:</a:t>
            </a:r>
            <a:endParaRPr lang="en-US" dirty="0" smtClean="0"/>
          </a:p>
          <a:p>
            <a:r>
              <a:rPr lang="en-ZW" dirty="0" smtClean="0"/>
              <a:t>1</a:t>
            </a:r>
            <a:r>
              <a:rPr lang="en-ZW" baseline="30000" dirty="0" smtClean="0"/>
              <a:t>21</a:t>
            </a:r>
            <a:r>
              <a:rPr lang="en-ZW" dirty="0" smtClean="0"/>
              <a:t>0</a:t>
            </a:r>
            <a:r>
              <a:rPr lang="en-ZW" baseline="30000" dirty="0" smtClean="0"/>
              <a:t>20</a:t>
            </a:r>
            <a:r>
              <a:rPr lang="en-ZW" dirty="0" smtClean="0"/>
              <a:t>1</a:t>
            </a:r>
            <a:r>
              <a:rPr lang="en-ZW" baseline="30000" dirty="0" smtClean="0"/>
              <a:t>19</a:t>
            </a:r>
            <a:r>
              <a:rPr lang="en-ZW" dirty="0" smtClean="0"/>
              <a:t>1</a:t>
            </a:r>
            <a:r>
              <a:rPr lang="en-ZW" baseline="30000" dirty="0" smtClean="0"/>
              <a:t>18</a:t>
            </a:r>
            <a:r>
              <a:rPr lang="en-ZW" dirty="0" smtClean="0"/>
              <a:t>0</a:t>
            </a:r>
            <a:r>
              <a:rPr lang="en-ZW" baseline="30000" dirty="0" smtClean="0"/>
              <a:t>17 16</a:t>
            </a:r>
            <a:r>
              <a:rPr lang="en-ZW" dirty="0" smtClean="0"/>
              <a:t>0</a:t>
            </a:r>
            <a:r>
              <a:rPr lang="en-ZW" baseline="30000" dirty="0" smtClean="0"/>
              <a:t>15</a:t>
            </a:r>
            <a:r>
              <a:rPr lang="en-ZW" dirty="0" smtClean="0"/>
              <a:t>1</a:t>
            </a:r>
            <a:r>
              <a:rPr lang="en-ZW" baseline="30000" dirty="0" smtClean="0"/>
              <a:t>14</a:t>
            </a:r>
            <a:r>
              <a:rPr lang="en-ZW" dirty="0" smtClean="0"/>
              <a:t>1</a:t>
            </a:r>
            <a:r>
              <a:rPr lang="en-ZW" baseline="30000" dirty="0" smtClean="0"/>
              <a:t>13</a:t>
            </a:r>
            <a:r>
              <a:rPr lang="en-ZW" dirty="0" smtClean="0"/>
              <a:t>1</a:t>
            </a:r>
            <a:r>
              <a:rPr lang="en-ZW" baseline="30000" dirty="0" smtClean="0"/>
              <a:t>12</a:t>
            </a:r>
            <a:r>
              <a:rPr lang="en-ZW" dirty="0" smtClean="0"/>
              <a:t>1</a:t>
            </a:r>
            <a:r>
              <a:rPr lang="en-ZW" baseline="30000" dirty="0" smtClean="0"/>
              <a:t>11</a:t>
            </a:r>
            <a:r>
              <a:rPr lang="en-ZW" dirty="0" smtClean="0"/>
              <a:t>0</a:t>
            </a:r>
            <a:r>
              <a:rPr lang="en-ZW" baseline="30000" dirty="0" smtClean="0"/>
              <a:t>10</a:t>
            </a:r>
            <a:r>
              <a:rPr lang="en-ZW" dirty="0" smtClean="0"/>
              <a:t>0</a:t>
            </a:r>
            <a:r>
              <a:rPr lang="en-ZW" baseline="30000" dirty="0" smtClean="0"/>
              <a:t>9</a:t>
            </a:r>
            <a:r>
              <a:rPr lang="en-ZW" dirty="0" smtClean="0"/>
              <a:t>x</a:t>
            </a:r>
            <a:r>
              <a:rPr lang="en-ZW" baseline="30000" dirty="0" smtClean="0"/>
              <a:t>8</a:t>
            </a:r>
            <a:r>
              <a:rPr lang="en-ZW" dirty="0" smtClean="0"/>
              <a:t>1</a:t>
            </a:r>
            <a:r>
              <a:rPr lang="en-ZW" baseline="30000" dirty="0" smtClean="0"/>
              <a:t>7</a:t>
            </a:r>
            <a:r>
              <a:rPr lang="en-ZW" dirty="0" smtClean="0"/>
              <a:t>0</a:t>
            </a:r>
            <a:r>
              <a:rPr lang="en-ZW" baseline="30000" dirty="0" smtClean="0"/>
              <a:t>6</a:t>
            </a:r>
            <a:r>
              <a:rPr lang="en-ZW" dirty="0" smtClean="0"/>
              <a:t>1</a:t>
            </a:r>
            <a:r>
              <a:rPr lang="en-ZW" baseline="30000" dirty="0" smtClean="0"/>
              <a:t>5</a:t>
            </a:r>
            <a:r>
              <a:rPr lang="en-ZW" dirty="0" smtClean="0"/>
              <a:t>x  </a:t>
            </a:r>
            <a:r>
              <a:rPr lang="en-ZW" baseline="30000" dirty="0" smtClean="0"/>
              <a:t>4</a:t>
            </a:r>
            <a:r>
              <a:rPr lang="en-ZW" dirty="0" smtClean="0"/>
              <a:t>1</a:t>
            </a:r>
            <a:r>
              <a:rPr lang="en-ZW" baseline="30000" dirty="0" smtClean="0"/>
              <a:t>3</a:t>
            </a:r>
            <a:r>
              <a:rPr lang="en-ZW" dirty="0" smtClean="0"/>
              <a:t>x</a:t>
            </a:r>
            <a:r>
              <a:rPr lang="en-ZW" baseline="30000" dirty="0" smtClean="0"/>
              <a:t>2</a:t>
            </a:r>
            <a:r>
              <a:rPr lang="en-ZW" dirty="0" smtClean="0"/>
              <a:t>x</a:t>
            </a:r>
            <a:r>
              <a:rPr lang="en-ZW" baseline="30000" dirty="0" smtClean="0"/>
              <a:t>1</a:t>
            </a:r>
            <a:r>
              <a:rPr lang="en-ZW" dirty="0" smtClean="0"/>
              <a:t>. We calculate the Hamming bit values using modulo-2 arithmetic:</a:t>
            </a:r>
            <a:endParaRPr lang="en-US" dirty="0" smtClean="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4359" t="30769" r="51603" b="14530"/>
          <a:stretch>
            <a:fillRect/>
          </a:stretch>
        </p:blipFill>
        <p:spPr bwMode="auto">
          <a:xfrm>
            <a:off x="228600" y="1447800"/>
            <a:ext cx="8153400" cy="54102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ZW" dirty="0" smtClean="0"/>
              <a:t>From the calculations the Hamming bit positions have the following binary values:</a:t>
            </a:r>
            <a:endParaRPr lang="en-US" dirty="0" smtClean="0"/>
          </a:p>
          <a:p>
            <a:pPr>
              <a:buNone/>
            </a:pPr>
            <a:r>
              <a:rPr lang="en-ZW" dirty="0" smtClean="0"/>
              <a:t>16 = 1, 8 = 0, 4 = 0, 2 = 0 and 1 = </a:t>
            </a:r>
            <a:r>
              <a:rPr lang="en-ZW" dirty="0" err="1" smtClean="0"/>
              <a:t>1</a:t>
            </a:r>
            <a:r>
              <a:rPr lang="en-ZW" dirty="0" smtClean="0"/>
              <a:t>. So the transmitted bit stream with Hamming bits inserted is:</a:t>
            </a:r>
            <a:endParaRPr lang="en-US" dirty="0" smtClean="0"/>
          </a:p>
          <a:p>
            <a:pPr>
              <a:buNone/>
            </a:pPr>
            <a:r>
              <a:rPr lang="en-ZW" dirty="0" smtClean="0"/>
              <a:t>101101011110001010101.</a:t>
            </a:r>
            <a:endParaRPr lang="en-US" dirty="0" smtClean="0"/>
          </a:p>
          <a:p>
            <a:pPr>
              <a:buNone/>
            </a:pPr>
            <a:r>
              <a:rPr lang="en-ZW" dirty="0" smtClean="0"/>
              <a:t>If this bit stream is received without errors, the result of modulo-2 arithmetic of all the 1 bit positions (including the Hamming bits) will be equal to zero (0). (see example).</a:t>
            </a:r>
            <a:endParaRPr lang="en-US" dirty="0" smtClean="0"/>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a:p>
        </p:txBody>
      </p:sp>
      <p:pic>
        <p:nvPicPr>
          <p:cNvPr id="4" name="Picture 3"/>
          <p:cNvPicPr/>
          <p:nvPr/>
        </p:nvPicPr>
        <p:blipFill>
          <a:blip r:embed="rId2" cstate="print"/>
          <a:srcRect l="24199" t="25071" r="47596" b="9972"/>
          <a:stretch>
            <a:fillRect/>
          </a:stretch>
        </p:blipFill>
        <p:spPr bwMode="auto">
          <a:xfrm>
            <a:off x="0" y="838200"/>
            <a:ext cx="9144000" cy="57150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If any one of the bit positions changes its value, modulo-2, arithmetic operation on the transmitted bit stream will indicate the erroneous bit position. For example assume bit position 19 toggled its value during transmission:</a:t>
            </a:r>
            <a:endParaRPr lang="en-US" dirty="0" smtClean="0"/>
          </a:p>
          <a:p>
            <a:pPr>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Detecting and correcting error with Hamming Code</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5160" t="25641" r="36699" b="17094"/>
          <a:stretch>
            <a:fillRect/>
          </a:stretch>
        </p:blipFill>
        <p:spPr bwMode="auto">
          <a:xfrm>
            <a:off x="304800" y="1600200"/>
            <a:ext cx="9220200" cy="50292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smtClean="0"/>
              <a:t>This error is corrected by toggling the bit position from a binary zero (0) to a binary one (1). The major disadvantage is that if more than two bits change (toggle) their values, errors cannot be detected. Assume bit position 19 and 14 toggle their respective values</a:t>
            </a:r>
            <a:endParaRPr lang="en-US" dirty="0" smtClean="0"/>
          </a:p>
          <a:p>
            <a:pPr>
              <a:buNone/>
            </a:pPr>
            <a:r>
              <a:rPr lang="en-ZW" baseline="30000" dirty="0" smtClean="0"/>
              <a:t>   	       </a:t>
            </a:r>
            <a:endParaRPr lang="en-US" dirty="0" smtClean="0"/>
          </a:p>
          <a:p>
            <a:pPr>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p:cNvPicPr>
          <p:nvPr>
            <p:ph idx="1"/>
          </p:nvPr>
        </p:nvPicPr>
        <p:blipFill>
          <a:blip r:embed="rId2" cstate="print"/>
          <a:srcRect l="23397" t="25356" r="26442" b="14815"/>
          <a:stretch>
            <a:fillRect/>
          </a:stretch>
        </p:blipFill>
        <p:spPr bwMode="auto">
          <a:xfrm>
            <a:off x="0" y="1143000"/>
            <a:ext cx="9144000" cy="53340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1413</Words>
  <Application>Microsoft Office PowerPoint</Application>
  <PresentationFormat>On-screen Show (4:3)</PresentationFormat>
  <Paragraphs>115</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LECTURE 11: Transmission Errors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Forward error correction codes       </vt:lpstr>
      <vt:lpstr>Conceptual organization of forward error detection code(block diagram)</vt:lpstr>
      <vt:lpstr>PowerPoint Presentation</vt:lpstr>
      <vt:lpstr>Block Error Correction Codes</vt:lpstr>
      <vt:lpstr>PowerPoint Presentation</vt:lpstr>
      <vt:lpstr>PowerPoint Presentation</vt:lpstr>
      <vt:lpstr>Block error detection and correction</vt:lpstr>
      <vt:lpstr> To correct the error:  </vt:lpstr>
      <vt:lpstr>Hamming code</vt:lpstr>
      <vt:lpstr>PowerPoint Presentation</vt:lpstr>
      <vt:lpstr>Calculating Hamming bit values</vt:lpstr>
      <vt:lpstr>PowerPoint Presentation</vt:lpstr>
      <vt:lpstr>PowerPoint Presentation</vt:lpstr>
      <vt:lpstr>PowerPoint Presentation</vt:lpstr>
      <vt:lpstr>PowerPoint Presentation</vt:lpstr>
      <vt:lpstr>Detecting an error and correcting it</vt:lpstr>
      <vt:lpstr>Example 2 </vt:lpstr>
      <vt:lpstr>PowerPoint Presentation</vt:lpstr>
      <vt:lpstr>PowerPoint Presentation</vt:lpstr>
      <vt:lpstr>PowerPoint Presentation</vt:lpstr>
      <vt:lpstr>PowerPoint Presentation</vt:lpstr>
      <vt:lpstr>PowerPoint Presentation</vt:lpstr>
      <vt:lpstr>Detecting and correcting error with Hamming Code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Transmission Errors</dc:title>
  <dc:creator>langstone.shumba</dc:creator>
  <cp:lastModifiedBy>Langtone Shumba</cp:lastModifiedBy>
  <cp:revision>6</cp:revision>
  <dcterms:created xsi:type="dcterms:W3CDTF">2017-11-29T10:32:40Z</dcterms:created>
  <dcterms:modified xsi:type="dcterms:W3CDTF">2020-06-17T12:29:05Z</dcterms:modified>
</cp:coreProperties>
</file>