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2" r:id="rId16"/>
    <p:sldId id="275" r:id="rId17"/>
    <p:sldId id="273" r:id="rId18"/>
    <p:sldId id="276" r:id="rId19"/>
    <p:sldId id="274" r:id="rId20"/>
    <p:sldId id="277" r:id="rId21"/>
    <p:sldId id="278" r:id="rId22"/>
    <p:sldId id="279" r:id="rId23"/>
    <p:sldId id="280"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62" autoAdjust="0"/>
    <p:restoredTop sz="94660"/>
  </p:normalViewPr>
  <p:slideViewPr>
    <p:cSldViewPr>
      <p:cViewPr varScale="1">
        <p:scale>
          <a:sx n="69" d="100"/>
          <a:sy n="69" d="100"/>
        </p:scale>
        <p:origin x="-1410"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529BC2A-D090-4A02-812D-325964235C60}" type="datetimeFigureOut">
              <a:rPr lang="en-US" smtClean="0"/>
              <a:t>7/21/2021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7F4013A-6249-43A6-A64E-02A34D367E3C}" type="slidenum">
              <a:rPr lang="en-US" smtClean="0"/>
              <a:t>‹#›</a:t>
            </a:fld>
            <a:endParaRPr lang="en-US"/>
          </a:p>
        </p:txBody>
      </p:sp>
    </p:spTree>
    <p:extLst>
      <p:ext uri="{BB962C8B-B14F-4D97-AF65-F5344CB8AC3E}">
        <p14:creationId xmlns:p14="http://schemas.microsoft.com/office/powerpoint/2010/main" val="36744673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7F4013A-6249-43A6-A64E-02A34D367E3C}" type="slidenum">
              <a:rPr lang="en-US" smtClean="0"/>
              <a:t>1</a:t>
            </a:fld>
            <a:endParaRPr lang="en-US"/>
          </a:p>
        </p:txBody>
      </p:sp>
    </p:spTree>
    <p:extLst>
      <p:ext uri="{BB962C8B-B14F-4D97-AF65-F5344CB8AC3E}">
        <p14:creationId xmlns:p14="http://schemas.microsoft.com/office/powerpoint/2010/main" val="34087559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2B443F7-76C0-4D6A-8875-06FF54CC9CF1}" type="datetimeFigureOut">
              <a:rPr lang="en-US" smtClean="0"/>
              <a:t>7/21/2021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39D3CF-B7F9-42CA-9920-43B86B3F81DD}"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2B443F7-76C0-4D6A-8875-06FF54CC9CF1}" type="datetimeFigureOut">
              <a:rPr lang="en-US" smtClean="0"/>
              <a:t>7/21/2021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39D3CF-B7F9-42CA-9920-43B86B3F81DD}"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2B443F7-76C0-4D6A-8875-06FF54CC9CF1}" type="datetimeFigureOut">
              <a:rPr lang="en-US" smtClean="0"/>
              <a:t>7/21/2021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39D3CF-B7F9-42CA-9920-43B86B3F81DD}"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2B443F7-76C0-4D6A-8875-06FF54CC9CF1}" type="datetimeFigureOut">
              <a:rPr lang="en-US" smtClean="0"/>
              <a:t>7/21/2021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B39D3CF-B7F9-42CA-9920-43B86B3F81DD}"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2B443F7-76C0-4D6A-8875-06FF54CC9CF1}" type="datetimeFigureOut">
              <a:rPr lang="en-US" smtClean="0"/>
              <a:t>7/21/2021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B39D3CF-B7F9-42CA-9920-43B86B3F81DD}"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2B443F7-76C0-4D6A-8875-06FF54CC9CF1}" type="datetimeFigureOut">
              <a:rPr lang="en-US" smtClean="0"/>
              <a:t>7/21/2021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B39D3CF-B7F9-42CA-9920-43B86B3F81DD}"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2B443F7-76C0-4D6A-8875-06FF54CC9CF1}" type="datetimeFigureOut">
              <a:rPr lang="en-US" smtClean="0"/>
              <a:t>7/21/2021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B39D3CF-B7F9-42CA-9920-43B86B3F81DD}"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2B443F7-76C0-4D6A-8875-06FF54CC9CF1}" type="datetimeFigureOut">
              <a:rPr lang="en-US" smtClean="0"/>
              <a:t>7/21/2021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B39D3CF-B7F9-42CA-9920-43B86B3F81DD}"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2B443F7-76C0-4D6A-8875-06FF54CC9CF1}" type="datetimeFigureOut">
              <a:rPr lang="en-US" smtClean="0"/>
              <a:t>7/21/2021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B39D3CF-B7F9-42CA-9920-43B86B3F81DD}"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2B443F7-76C0-4D6A-8875-06FF54CC9CF1}" type="datetimeFigureOut">
              <a:rPr lang="en-US" smtClean="0"/>
              <a:t>7/21/2021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39D3CF-B7F9-42CA-9920-43B86B3F81DD}"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2B443F7-76C0-4D6A-8875-06FF54CC9CF1}" type="datetimeFigureOut">
              <a:rPr lang="en-US" smtClean="0"/>
              <a:t>7/21/2021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39D3CF-B7F9-42CA-9920-43B86B3F81DD}"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B443F7-76C0-4D6A-8875-06FF54CC9CF1}" type="datetimeFigureOut">
              <a:rPr lang="en-US" smtClean="0"/>
              <a:t>7/21/2021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39D3CF-B7F9-42CA-9920-43B86B3F81DD}"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smtClean="0"/>
              <a:t>Lecture 15 Wireless and Mobile Networks</a:t>
            </a:r>
            <a:endParaRPr lang="en-US" dirty="0"/>
          </a:p>
        </p:txBody>
      </p:sp>
      <p:sp>
        <p:nvSpPr>
          <p:cNvPr id="3" name="Content Placeholder 2"/>
          <p:cNvSpPr>
            <a:spLocks noGrp="1"/>
          </p:cNvSpPr>
          <p:nvPr>
            <p:ph idx="1"/>
          </p:nvPr>
        </p:nvSpPr>
        <p:spPr/>
        <p:txBody>
          <a:bodyPr>
            <a:normAutofit fontScale="85000" lnSpcReduction="20000"/>
          </a:bodyPr>
          <a:lstStyle/>
          <a:p>
            <a:pPr>
              <a:buNone/>
            </a:pPr>
            <a:r>
              <a:rPr lang="en-ZW" dirty="0" smtClean="0"/>
              <a:t>A </a:t>
            </a:r>
            <a:r>
              <a:rPr lang="en-ZW" dirty="0"/>
              <a:t>wireless network is made up of the following basic components:</a:t>
            </a:r>
            <a:endParaRPr lang="en-US" dirty="0"/>
          </a:p>
          <a:p>
            <a:r>
              <a:rPr lang="en-ZW" dirty="0"/>
              <a:t>Wireless host- which can be a laptop, PDA, phone or a desktop computer. The host may or may not be mobile</a:t>
            </a:r>
            <a:endParaRPr lang="en-US" dirty="0"/>
          </a:p>
          <a:p>
            <a:r>
              <a:rPr lang="en-ZW" dirty="0"/>
              <a:t>Wireless link – these are used to connect the host to a base station or to another wireless host</a:t>
            </a:r>
            <a:endParaRPr lang="en-US" dirty="0"/>
          </a:p>
          <a:p>
            <a:r>
              <a:rPr lang="en-ZW" dirty="0"/>
              <a:t>Base station – this is a key part of wireless network infrastructure. It is responsible for sending and receiving data to and from a wireless host that is associated with the base station</a:t>
            </a:r>
            <a:endParaRPr lang="en-US" dirty="0"/>
          </a:p>
          <a:p>
            <a:r>
              <a:rPr lang="en-ZW" dirty="0"/>
              <a:t>Cell towers in cellular networks and access points in 802.11 wireless LANs are examples of base stations.</a:t>
            </a:r>
            <a:endParaRPr lang="en-US" dirty="0"/>
          </a:p>
          <a:p>
            <a:pPr>
              <a:buNone/>
            </a:pP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Elements of a wireless network</a:t>
            </a:r>
            <a:endParaRPr lang="en-US" dirty="0"/>
          </a:p>
        </p:txBody>
      </p:sp>
      <p:pic>
        <p:nvPicPr>
          <p:cNvPr id="4" name="img" descr="http://phoenix.goucher.edu/%7Ekelliher/s2011/cs325/may04img1.png"/>
          <p:cNvPicPr>
            <a:picLocks noGrp="1"/>
          </p:cNvPicPr>
          <p:nvPr>
            <p:ph idx="1"/>
          </p:nvPr>
        </p:nvPicPr>
        <p:blipFill>
          <a:blip r:embed="rId2" cstate="print"/>
          <a:srcRect/>
          <a:stretch>
            <a:fillRect/>
          </a:stretch>
        </p:blipFill>
        <p:spPr bwMode="auto">
          <a:xfrm>
            <a:off x="228600" y="1219200"/>
            <a:ext cx="8382000" cy="5410200"/>
          </a:xfrm>
          <a:prstGeom prst="rect">
            <a:avLst/>
          </a:prstGeom>
          <a:noFill/>
          <a:ln w="9525">
            <a:noFill/>
            <a:miter lim="800000"/>
            <a:headEnd/>
            <a:tailEnd/>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Elements of a wireless network</a:t>
            </a:r>
            <a:endParaRPr lang="en-US" dirty="0"/>
          </a:p>
        </p:txBody>
      </p:sp>
      <p:pic>
        <p:nvPicPr>
          <p:cNvPr id="4" name="Content Placeholder 3" descr="Image result for Elements of a wireless network images"/>
          <p:cNvPicPr>
            <a:picLocks noGrp="1"/>
          </p:cNvPicPr>
          <p:nvPr>
            <p:ph idx="1"/>
          </p:nvPr>
        </p:nvPicPr>
        <p:blipFill>
          <a:blip r:embed="rId2" cstate="print"/>
          <a:srcRect/>
          <a:stretch>
            <a:fillRect/>
          </a:stretch>
        </p:blipFill>
        <p:spPr bwMode="auto">
          <a:xfrm>
            <a:off x="381000" y="1447800"/>
            <a:ext cx="8077200" cy="5181600"/>
          </a:xfrm>
          <a:prstGeom prst="rect">
            <a:avLst/>
          </a:prstGeom>
          <a:noFill/>
          <a:ln w="9525">
            <a:noFill/>
            <a:miter lim="8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ZW" dirty="0" smtClean="0"/>
              <a:t>A </a:t>
            </a:r>
            <a:r>
              <a:rPr lang="en-ZW" dirty="0"/>
              <a:t>base station has no obvious counter part in a wired network </a:t>
            </a:r>
            <a:endParaRPr lang="en-ZW" dirty="0" smtClean="0"/>
          </a:p>
          <a:p>
            <a:r>
              <a:rPr lang="en-ZW" dirty="0" smtClean="0"/>
              <a:t>A </a:t>
            </a:r>
            <a:r>
              <a:rPr lang="en-ZW" dirty="0"/>
              <a:t>host and a wireless link </a:t>
            </a:r>
            <a:r>
              <a:rPr lang="en-ZW" dirty="0" smtClean="0"/>
              <a:t>can </a:t>
            </a:r>
            <a:r>
              <a:rPr lang="en-ZW" dirty="0"/>
              <a:t>easily be related to counter parts in a wired network setup</a:t>
            </a:r>
            <a:r>
              <a:rPr lang="en-ZW" dirty="0" smtClean="0"/>
              <a:t>.</a:t>
            </a:r>
          </a:p>
          <a:p>
            <a:r>
              <a:rPr lang="en-ZW" dirty="0" smtClean="0"/>
              <a:t> </a:t>
            </a:r>
            <a:r>
              <a:rPr lang="en-ZW" dirty="0"/>
              <a:t>Note that cell towers used in cellular networks and access points used in IEEE 802.11 wireless LANs are examples of base stations. </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Base station functions</a:t>
            </a:r>
            <a:endParaRPr lang="en-US" dirty="0"/>
          </a:p>
        </p:txBody>
      </p:sp>
      <p:sp>
        <p:nvSpPr>
          <p:cNvPr id="3" name="Content Placeholder 2"/>
          <p:cNvSpPr>
            <a:spLocks noGrp="1"/>
          </p:cNvSpPr>
          <p:nvPr>
            <p:ph idx="1"/>
          </p:nvPr>
        </p:nvSpPr>
        <p:spPr/>
        <p:txBody>
          <a:bodyPr>
            <a:normAutofit/>
          </a:bodyPr>
          <a:lstStyle/>
          <a:p>
            <a:r>
              <a:rPr lang="en-ZW" sz="3600" dirty="0" smtClean="0"/>
              <a:t>A base station is connected to the larger network</a:t>
            </a:r>
          </a:p>
          <a:p>
            <a:r>
              <a:rPr lang="en-ZW" sz="3600" dirty="0" smtClean="0"/>
              <a:t>It functions as a link-layer relay between the wireless host and the rest of the world </a:t>
            </a:r>
            <a:r>
              <a:rPr lang="en-ZW" sz="3600" dirty="0"/>
              <a:t>with which host communicates. </a:t>
            </a:r>
            <a:endParaRPr lang="en-US" sz="3600" dirty="0"/>
          </a:p>
          <a:p>
            <a:endParaRPr lang="en-US" sz="3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Infrastructure operation mode</a:t>
            </a:r>
            <a:endParaRPr lang="en-US" dirty="0"/>
          </a:p>
        </p:txBody>
      </p:sp>
      <p:sp>
        <p:nvSpPr>
          <p:cNvPr id="3" name="Content Placeholder 2"/>
          <p:cNvSpPr>
            <a:spLocks noGrp="1"/>
          </p:cNvSpPr>
          <p:nvPr>
            <p:ph idx="1"/>
          </p:nvPr>
        </p:nvSpPr>
        <p:spPr/>
        <p:txBody>
          <a:bodyPr>
            <a:noAutofit/>
          </a:bodyPr>
          <a:lstStyle/>
          <a:p>
            <a:pPr>
              <a:buNone/>
            </a:pPr>
            <a:r>
              <a:rPr lang="en-ZW" sz="3600" dirty="0" smtClean="0"/>
              <a:t>Hosts that are associated with a base station are often referred to as operating in infrastructure mode,</a:t>
            </a:r>
          </a:p>
          <a:p>
            <a:pPr>
              <a:buNone/>
            </a:pPr>
            <a:r>
              <a:rPr lang="en-ZW" sz="3600" dirty="0" smtClean="0"/>
              <a:t>This  is because all traditional network services such as address assignment and routing are provided by the network to which a host is connected via the base station.</a:t>
            </a:r>
            <a:endParaRPr lang="en-US" sz="3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ZW" b="1" dirty="0" smtClean="0"/>
              <a:t/>
            </a:r>
            <a:br>
              <a:rPr lang="en-ZW" b="1" dirty="0" smtClean="0"/>
            </a:br>
            <a:r>
              <a:rPr lang="en-ZW" b="1" dirty="0" smtClean="0"/>
              <a:t>Mobile ad hoc networks</a:t>
            </a:r>
            <a:r>
              <a:rPr lang="en-US" b="1" dirty="0" smtClean="0"/>
              <a:t/>
            </a:r>
            <a:br>
              <a:rPr lang="en-US" b="1" dirty="0" smtClean="0"/>
            </a:br>
            <a:endParaRPr lang="en-US" dirty="0"/>
          </a:p>
        </p:txBody>
      </p:sp>
      <p:sp>
        <p:nvSpPr>
          <p:cNvPr id="3" name="Content Placeholder 2"/>
          <p:cNvSpPr>
            <a:spLocks noGrp="1"/>
          </p:cNvSpPr>
          <p:nvPr>
            <p:ph idx="1"/>
          </p:nvPr>
        </p:nvSpPr>
        <p:spPr/>
        <p:txBody>
          <a:bodyPr>
            <a:normAutofit fontScale="92500" lnSpcReduction="10000"/>
          </a:bodyPr>
          <a:lstStyle/>
          <a:p>
            <a:pPr>
              <a:buNone/>
            </a:pPr>
            <a:r>
              <a:rPr lang="en-ZW" sz="3600" dirty="0" smtClean="0">
                <a:latin typeface="Times New Roman" pitchFamily="18" charset="0"/>
                <a:cs typeface="Times New Roman" pitchFamily="18" charset="0"/>
              </a:rPr>
              <a:t>These </a:t>
            </a:r>
            <a:r>
              <a:rPr lang="en-ZW" sz="3600" dirty="0">
                <a:latin typeface="Times New Roman" pitchFamily="18" charset="0"/>
                <a:cs typeface="Times New Roman" pitchFamily="18" charset="0"/>
              </a:rPr>
              <a:t>are also known as:</a:t>
            </a:r>
            <a:endParaRPr lang="en-US" sz="3600" dirty="0">
              <a:latin typeface="Times New Roman" pitchFamily="18" charset="0"/>
              <a:cs typeface="Times New Roman" pitchFamily="18" charset="0"/>
            </a:endParaRPr>
          </a:p>
          <a:p>
            <a:pPr lvl="0"/>
            <a:r>
              <a:rPr lang="en-ZW" sz="3600" dirty="0">
                <a:latin typeface="Times New Roman" pitchFamily="18" charset="0"/>
                <a:cs typeface="Times New Roman" pitchFamily="18" charset="0"/>
              </a:rPr>
              <a:t>Wireless ad hoc networks</a:t>
            </a:r>
            <a:endParaRPr lang="en-US" sz="3600" dirty="0">
              <a:latin typeface="Times New Roman" pitchFamily="18" charset="0"/>
              <a:cs typeface="Times New Roman" pitchFamily="18" charset="0"/>
            </a:endParaRPr>
          </a:p>
          <a:p>
            <a:pPr lvl="0"/>
            <a:r>
              <a:rPr lang="en-ZW" sz="3600" dirty="0">
                <a:latin typeface="Times New Roman" pitchFamily="18" charset="0"/>
                <a:cs typeface="Times New Roman" pitchFamily="18" charset="0"/>
              </a:rPr>
              <a:t>Ad hoc wireless networks</a:t>
            </a:r>
            <a:endParaRPr lang="en-US" sz="3600" dirty="0">
              <a:latin typeface="Times New Roman" pitchFamily="18" charset="0"/>
              <a:cs typeface="Times New Roman" pitchFamily="18" charset="0"/>
            </a:endParaRPr>
          </a:p>
          <a:p>
            <a:pPr>
              <a:buNone/>
            </a:pPr>
            <a:r>
              <a:rPr lang="en-ZW" dirty="0">
                <a:latin typeface="Times New Roman" pitchFamily="18" charset="0"/>
                <a:cs typeface="Times New Roman" pitchFamily="18" charset="0"/>
              </a:rPr>
              <a:t>In ad hoc networks the hosts have no network infrastructure with which to connect</a:t>
            </a:r>
            <a:r>
              <a:rPr lang="en-ZW" dirty="0" smtClean="0">
                <a:latin typeface="Times New Roman" pitchFamily="18" charset="0"/>
                <a:cs typeface="Times New Roman" pitchFamily="18" charset="0"/>
              </a:rPr>
              <a:t>.</a:t>
            </a:r>
          </a:p>
          <a:p>
            <a:pPr>
              <a:buNone/>
            </a:pPr>
            <a:r>
              <a:rPr lang="en-ZW" dirty="0" smtClean="0">
                <a:latin typeface="Times New Roman" pitchFamily="18" charset="0"/>
                <a:cs typeface="Times New Roman" pitchFamily="18" charset="0"/>
              </a:rPr>
              <a:t> </a:t>
            </a:r>
            <a:r>
              <a:rPr lang="en-ZW" dirty="0">
                <a:latin typeface="Times New Roman" pitchFamily="18" charset="0"/>
                <a:cs typeface="Times New Roman" pitchFamily="18" charset="0"/>
              </a:rPr>
              <a:t>The hosts themselves must provide for services such as routing, address assignment, </a:t>
            </a:r>
            <a:r>
              <a:rPr lang="en-ZW" dirty="0" smtClean="0">
                <a:latin typeface="Times New Roman" pitchFamily="18" charset="0"/>
                <a:cs typeface="Times New Roman" pitchFamily="18" charset="0"/>
              </a:rPr>
              <a:t>name </a:t>
            </a:r>
            <a:r>
              <a:rPr lang="en-ZW" dirty="0">
                <a:latin typeface="Times New Roman" pitchFamily="18" charset="0"/>
                <a:cs typeface="Times New Roman" pitchFamily="18" charset="0"/>
              </a:rPr>
              <a:t>translation and other services provided by infrastructure based networks.</a:t>
            </a:r>
            <a:endParaRPr lang="en-US" dirty="0">
              <a:latin typeface="Times New Roman" pitchFamily="18" charset="0"/>
              <a:cs typeface="Times New Roman" pitchFamily="18" charset="0"/>
            </a:endParaRPr>
          </a:p>
          <a:p>
            <a:pPr>
              <a:buNone/>
            </a:pP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Handoff</a:t>
            </a:r>
            <a:endParaRPr lang="en-US" dirty="0"/>
          </a:p>
        </p:txBody>
      </p:sp>
      <p:sp>
        <p:nvSpPr>
          <p:cNvPr id="3" name="Content Placeholder 2"/>
          <p:cNvSpPr>
            <a:spLocks noGrp="1"/>
          </p:cNvSpPr>
          <p:nvPr>
            <p:ph idx="1"/>
          </p:nvPr>
        </p:nvSpPr>
        <p:spPr/>
        <p:txBody>
          <a:bodyPr>
            <a:normAutofit lnSpcReduction="10000"/>
          </a:bodyPr>
          <a:lstStyle/>
          <a:p>
            <a:pPr>
              <a:buNone/>
            </a:pPr>
            <a:r>
              <a:rPr lang="en-ZW" sz="4400" dirty="0">
                <a:latin typeface="Times New Roman" pitchFamily="18" charset="0"/>
                <a:cs typeface="Times New Roman" pitchFamily="18" charset="0"/>
              </a:rPr>
              <a:t>When a mobile host moves beyond the range of one base station and into range of another, </a:t>
            </a:r>
            <a:endParaRPr lang="en-ZW" sz="4400" dirty="0" smtClean="0">
              <a:latin typeface="Times New Roman" pitchFamily="18" charset="0"/>
              <a:cs typeface="Times New Roman" pitchFamily="18" charset="0"/>
            </a:endParaRPr>
          </a:p>
          <a:p>
            <a:pPr>
              <a:buNone/>
            </a:pPr>
            <a:r>
              <a:rPr lang="en-ZW" sz="4400" dirty="0" smtClean="0">
                <a:latin typeface="Times New Roman" pitchFamily="18" charset="0"/>
                <a:cs typeface="Times New Roman" pitchFamily="18" charset="0"/>
              </a:rPr>
              <a:t>it </a:t>
            </a:r>
            <a:r>
              <a:rPr lang="en-ZW" sz="4400" dirty="0">
                <a:latin typeface="Times New Roman" pitchFamily="18" charset="0"/>
                <a:cs typeface="Times New Roman" pitchFamily="18" charset="0"/>
              </a:rPr>
              <a:t>will change its point of attachment into the larger network and this process is referred to as handoff.</a:t>
            </a:r>
            <a:endParaRPr lang="en-US" sz="4400" dirty="0">
              <a:latin typeface="Times New Roman" pitchFamily="18" charset="0"/>
              <a:cs typeface="Times New Roman" pitchFamily="18" charset="0"/>
            </a:endParaRPr>
          </a:p>
          <a:p>
            <a:pPr>
              <a:buNone/>
            </a:pP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ZW" dirty="0" smtClean="0"/>
              <a:t/>
            </a:r>
            <a:br>
              <a:rPr lang="en-ZW" dirty="0" smtClean="0"/>
            </a:br>
            <a:r>
              <a:rPr lang="en-ZW" dirty="0" smtClean="0"/>
              <a:t>Mobile </a:t>
            </a:r>
            <a:r>
              <a:rPr lang="en-ZW" dirty="0"/>
              <a:t>ad hoc network</a:t>
            </a:r>
            <a:r>
              <a:rPr lang="en-US" dirty="0"/>
              <a:t/>
            </a:r>
            <a:br>
              <a:rPr lang="en-US" dirty="0"/>
            </a:br>
            <a:endParaRPr lang="en-US" dirty="0"/>
          </a:p>
        </p:txBody>
      </p:sp>
      <p:sp>
        <p:nvSpPr>
          <p:cNvPr id="3" name="Content Placeholder 2"/>
          <p:cNvSpPr>
            <a:spLocks noGrp="1"/>
          </p:cNvSpPr>
          <p:nvPr>
            <p:ph idx="1"/>
          </p:nvPr>
        </p:nvSpPr>
        <p:spPr/>
        <p:txBody>
          <a:bodyPr>
            <a:normAutofit fontScale="85000" lnSpcReduction="10000"/>
          </a:bodyPr>
          <a:lstStyle/>
          <a:p>
            <a:r>
              <a:rPr lang="en-ZW" dirty="0"/>
              <a:t>Mobile ad hoc networks have shorter transmitting ranges. </a:t>
            </a:r>
            <a:endParaRPr lang="en-ZW" dirty="0" smtClean="0"/>
          </a:p>
          <a:p>
            <a:r>
              <a:rPr lang="en-ZW" dirty="0" smtClean="0"/>
              <a:t>The </a:t>
            </a:r>
            <a:r>
              <a:rPr lang="en-ZW" dirty="0"/>
              <a:t>mobile ad hoc networks must not be confused with cellular wireless networks since cellular networks are infrastructure based. </a:t>
            </a:r>
            <a:r>
              <a:rPr lang="en-ZW" dirty="0" smtClean="0"/>
              <a:t>Diagram below shows </a:t>
            </a:r>
            <a:r>
              <a:rPr lang="en-ZW" dirty="0"/>
              <a:t>an example of a cellular network. </a:t>
            </a:r>
            <a:endParaRPr lang="en-ZW" dirty="0" smtClean="0"/>
          </a:p>
          <a:p>
            <a:r>
              <a:rPr lang="en-ZW" dirty="0" smtClean="0"/>
              <a:t>Note </a:t>
            </a:r>
            <a:r>
              <a:rPr lang="en-ZW" dirty="0"/>
              <a:t>that for cellular networks to operate there must be infrastructure based base stations and there should be also </a:t>
            </a:r>
            <a:r>
              <a:rPr lang="en-ZW" dirty="0" smtClean="0"/>
              <a:t>a </a:t>
            </a:r>
            <a:r>
              <a:rPr lang="en-ZW" dirty="0"/>
              <a:t>public switched telephone </a:t>
            </a:r>
            <a:r>
              <a:rPr lang="en-ZW" dirty="0" smtClean="0"/>
              <a:t>network</a:t>
            </a:r>
            <a:endParaRPr lang="en-US" dirty="0"/>
          </a:p>
          <a:p>
            <a:r>
              <a:rPr lang="en-ZW" dirty="0"/>
              <a:t> </a:t>
            </a:r>
            <a:endParaRPr lang="en-US" dirty="0"/>
          </a:p>
          <a:p>
            <a:pPr>
              <a:buNone/>
            </a:pP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Mobile ad hoc network</a:t>
            </a:r>
            <a:endParaRPr lang="en-US" dirty="0"/>
          </a:p>
        </p:txBody>
      </p:sp>
      <p:sp>
        <p:nvSpPr>
          <p:cNvPr id="3" name="Content Placeholder 2"/>
          <p:cNvSpPr>
            <a:spLocks noGrp="1"/>
          </p:cNvSpPr>
          <p:nvPr>
            <p:ph idx="1"/>
          </p:nvPr>
        </p:nvSpPr>
        <p:spPr/>
        <p:txBody>
          <a:bodyPr/>
          <a:lstStyle/>
          <a:p>
            <a:pPr>
              <a:buNone/>
            </a:pPr>
            <a:r>
              <a:rPr lang="en-ZW" dirty="0" smtClean="0"/>
              <a:t> The Mobile ad hoc networks need just one transmission source.</a:t>
            </a:r>
          </a:p>
          <a:p>
            <a:pPr>
              <a:buNone/>
            </a:pPr>
            <a:endParaRPr lang="en-US" dirty="0"/>
          </a:p>
        </p:txBody>
      </p:sp>
      <p:pic>
        <p:nvPicPr>
          <p:cNvPr id="4" name="img" descr="http://www.orms-today.org/orms-4-02/art/bourjolly_F2.gif"/>
          <p:cNvPicPr/>
          <p:nvPr/>
        </p:nvPicPr>
        <p:blipFill>
          <a:blip r:embed="rId2" cstate="print"/>
          <a:srcRect/>
          <a:stretch>
            <a:fillRect/>
          </a:stretch>
        </p:blipFill>
        <p:spPr bwMode="auto">
          <a:xfrm>
            <a:off x="685800" y="2743200"/>
            <a:ext cx="6781800" cy="3886200"/>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b="1" dirty="0"/>
              <a:t>The Hidden and exposed stations problems in wireless communication</a:t>
            </a:r>
            <a:endParaRPr lang="en-US" dirty="0"/>
          </a:p>
        </p:txBody>
      </p:sp>
      <p:pic>
        <p:nvPicPr>
          <p:cNvPr id="4" name="img" descr="http://perso.crans.org/raffo/papers/phdthesis/hiddenstation.png"/>
          <p:cNvPicPr>
            <a:picLocks noGrp="1"/>
          </p:cNvPicPr>
          <p:nvPr>
            <p:ph idx="1"/>
          </p:nvPr>
        </p:nvPicPr>
        <p:blipFill>
          <a:blip r:embed="rId2" cstate="print"/>
          <a:srcRect/>
          <a:stretch>
            <a:fillRect/>
          </a:stretch>
        </p:blipFill>
        <p:spPr bwMode="auto">
          <a:xfrm>
            <a:off x="914400" y="1600200"/>
            <a:ext cx="5867400" cy="3733800"/>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Hidden station problem</a:t>
            </a:r>
            <a:endParaRPr lang="en-US" dirty="0"/>
          </a:p>
        </p:txBody>
      </p:sp>
      <p:sp>
        <p:nvSpPr>
          <p:cNvPr id="3" name="Content Placeholder 2"/>
          <p:cNvSpPr>
            <a:spLocks noGrp="1"/>
          </p:cNvSpPr>
          <p:nvPr>
            <p:ph idx="1"/>
          </p:nvPr>
        </p:nvSpPr>
        <p:spPr/>
        <p:txBody>
          <a:bodyPr/>
          <a:lstStyle/>
          <a:p>
            <a:pPr>
              <a:buNone/>
            </a:pPr>
            <a:r>
              <a:rPr lang="en-ZW" dirty="0"/>
              <a:t>Consider three stations A, B and C. </a:t>
            </a:r>
            <a:r>
              <a:rPr lang="en-ZW" dirty="0" smtClean="0"/>
              <a:t>As </a:t>
            </a:r>
            <a:r>
              <a:rPr lang="en-ZW" dirty="0"/>
              <a:t>can be seen from </a:t>
            </a:r>
            <a:r>
              <a:rPr lang="en-ZW" dirty="0" smtClean="0"/>
              <a:t>diagram, </a:t>
            </a:r>
            <a:r>
              <a:rPr lang="en-ZW" dirty="0"/>
              <a:t>station A is within range of station B and so can communicate with B. B is within range of C and so can communicate with C. A is out of range with C and so cannot communicate with C.  The hidden station problem arises when A communicates with B whilst C is communicating with B.</a:t>
            </a:r>
            <a:endParaRPr lang="en-US" dirty="0"/>
          </a:p>
          <a:p>
            <a:pPr>
              <a:buNone/>
            </a:pP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CSMA/CA</a:t>
            </a:r>
            <a:endParaRPr lang="en-US" dirty="0"/>
          </a:p>
        </p:txBody>
      </p:sp>
      <p:sp>
        <p:nvSpPr>
          <p:cNvPr id="3" name="Content Placeholder 2"/>
          <p:cNvSpPr>
            <a:spLocks noGrp="1"/>
          </p:cNvSpPr>
          <p:nvPr>
            <p:ph idx="1"/>
          </p:nvPr>
        </p:nvSpPr>
        <p:spPr/>
        <p:txBody>
          <a:bodyPr/>
          <a:lstStyle/>
          <a:p>
            <a:r>
              <a:rPr lang="en-ZW" dirty="0"/>
              <a:t>Using the carrier sense multiple access with collision avoidance (CSMA/CA). A will sense channel B and finds is free and will send data. C also wants to send data to B. C will sense B to be free and also sends data to </a:t>
            </a:r>
            <a:r>
              <a:rPr lang="en-ZW" dirty="0" smtClean="0"/>
              <a:t>B. </a:t>
            </a:r>
          </a:p>
          <a:p>
            <a:r>
              <a:rPr lang="en-ZW" dirty="0" smtClean="0"/>
              <a:t>Both signals from A and C </a:t>
            </a:r>
            <a:r>
              <a:rPr lang="en-ZW" dirty="0"/>
              <a:t>will reach B there will be collision.</a:t>
            </a:r>
            <a:endParaRPr lang="en-US" dirty="0"/>
          </a:p>
          <a:p>
            <a:pPr>
              <a:buNone/>
            </a:pPr>
            <a:r>
              <a:rPr lang="en-ZW" dirty="0"/>
              <a:t> </a:t>
            </a:r>
            <a:endParaRPr lang="en-US" dirty="0"/>
          </a:p>
          <a:p>
            <a:pPr>
              <a:buNone/>
            </a:pP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collision in a hidden station</a:t>
            </a:r>
            <a:endParaRPr lang="en-US" dirty="0"/>
          </a:p>
        </p:txBody>
      </p:sp>
      <p:pic>
        <p:nvPicPr>
          <p:cNvPr id="4" name="img" descr="https://i.ytimg.com/vi/BLEt10OkE4g/hqdefault.jpg"/>
          <p:cNvPicPr>
            <a:picLocks noGrp="1"/>
          </p:cNvPicPr>
          <p:nvPr>
            <p:ph idx="1"/>
          </p:nvPr>
        </p:nvPicPr>
        <p:blipFill>
          <a:blip r:embed="rId2" cstate="print"/>
          <a:srcRect l="30625" t="24722" b="24445"/>
          <a:stretch>
            <a:fillRect/>
          </a:stretch>
        </p:blipFill>
        <p:spPr bwMode="auto">
          <a:xfrm>
            <a:off x="533400" y="1447800"/>
            <a:ext cx="7620000" cy="4648200"/>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lvl="1" algn="l" rtl="0">
              <a:spcBef>
                <a:spcPct val="0"/>
              </a:spcBef>
            </a:pPr>
            <a:r>
              <a:rPr lang="en-ZW" sz="3600" b="1" dirty="0" smtClean="0">
                <a:latin typeface="Times New Roman" pitchFamily="18" charset="0"/>
                <a:cs typeface="Times New Roman" pitchFamily="18" charset="0"/>
              </a:rPr>
              <a:t/>
            </a:r>
            <a:br>
              <a:rPr lang="en-ZW" sz="3600" b="1" dirty="0" smtClean="0">
                <a:latin typeface="Times New Roman" pitchFamily="18" charset="0"/>
                <a:cs typeface="Times New Roman" pitchFamily="18" charset="0"/>
              </a:rPr>
            </a:br>
            <a:r>
              <a:rPr lang="en-ZW" sz="3600" b="1" dirty="0" smtClean="0">
                <a:latin typeface="Times New Roman" pitchFamily="18" charset="0"/>
                <a:cs typeface="Times New Roman" pitchFamily="18" charset="0"/>
              </a:rPr>
              <a:t>Exposed station problem</a:t>
            </a:r>
            <a:r>
              <a:rPr lang="en-US" sz="3600" b="1" dirty="0" smtClean="0">
                <a:latin typeface="Times New Roman" pitchFamily="18" charset="0"/>
                <a:cs typeface="Times New Roman" pitchFamily="18" charset="0"/>
              </a:rPr>
              <a:t/>
            </a:r>
            <a:br>
              <a:rPr lang="en-US" sz="3600" b="1" dirty="0" smtClean="0">
                <a:latin typeface="Times New Roman" pitchFamily="18" charset="0"/>
                <a:cs typeface="Times New Roman" pitchFamily="18" charset="0"/>
              </a:rPr>
            </a:br>
            <a:endParaRPr lang="en-US" sz="3600"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buNone/>
            </a:pPr>
            <a:r>
              <a:rPr lang="en-ZW" dirty="0" smtClean="0"/>
              <a:t>Consider the previous diagram</a:t>
            </a:r>
          </a:p>
          <a:p>
            <a:r>
              <a:rPr lang="en-ZW" dirty="0" smtClean="0"/>
              <a:t>A </a:t>
            </a:r>
            <a:r>
              <a:rPr lang="en-ZW" dirty="0"/>
              <a:t>wants to send data to B but cannot send fearing that it will be interfering with C sending data to B. But C is not sending data to B. This is called the exposed station problem. C is exposed to A</a:t>
            </a:r>
            <a:r>
              <a:rPr lang="en-ZW" dirty="0" smtClean="0"/>
              <a:t>.</a:t>
            </a:r>
            <a:endParaRPr lang="en-US" sz="2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Exposed station</a:t>
            </a:r>
            <a:endParaRPr lang="en-US" dirty="0"/>
          </a:p>
        </p:txBody>
      </p:sp>
      <p:pic>
        <p:nvPicPr>
          <p:cNvPr id="4" name="img" descr="https://i.ytimg.com/vi/BLEt10OkE4g/hqdefault.jpg"/>
          <p:cNvPicPr>
            <a:picLocks noGrp="1"/>
          </p:cNvPicPr>
          <p:nvPr>
            <p:ph idx="1"/>
          </p:nvPr>
        </p:nvPicPr>
        <p:blipFill>
          <a:blip r:embed="rId2" cstate="print"/>
          <a:srcRect l="30625" t="24722" b="24445"/>
          <a:stretch>
            <a:fillRect/>
          </a:stretch>
        </p:blipFill>
        <p:spPr bwMode="auto">
          <a:xfrm>
            <a:off x="457200" y="1447800"/>
            <a:ext cx="7543800" cy="4419600"/>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smtClean="0"/>
              <a:t/>
            </a:r>
            <a:br>
              <a:rPr lang="en-US" dirty="0" smtClean="0"/>
            </a:br>
            <a:r>
              <a:rPr lang="en-US" dirty="0" smtClean="0"/>
              <a:t>Multiple Access with Collision Avoidance (MACA)</a:t>
            </a:r>
            <a:r>
              <a:rPr lang="en-US" sz="4000" dirty="0" smtClean="0"/>
              <a:t/>
            </a:r>
            <a:br>
              <a:rPr lang="en-US" sz="4000" dirty="0" smtClean="0"/>
            </a:br>
            <a:endParaRPr lang="en-US" dirty="0"/>
          </a:p>
        </p:txBody>
      </p:sp>
      <p:sp>
        <p:nvSpPr>
          <p:cNvPr id="3" name="Content Placeholder 2"/>
          <p:cNvSpPr>
            <a:spLocks noGrp="1"/>
          </p:cNvSpPr>
          <p:nvPr>
            <p:ph idx="1"/>
          </p:nvPr>
        </p:nvSpPr>
        <p:spPr/>
        <p:txBody>
          <a:bodyPr/>
          <a:lstStyle/>
          <a:p>
            <a:r>
              <a:rPr lang="en-US" dirty="0" smtClean="0">
                <a:latin typeface="Times New Roman" pitchFamily="18" charset="0"/>
                <a:cs typeface="Times New Roman" pitchFamily="18" charset="0"/>
              </a:rPr>
              <a:t>MACA is a protocol for slotted media access control used in wireless LAN data transmission.</a:t>
            </a:r>
          </a:p>
          <a:p>
            <a:r>
              <a:rPr lang="en-US" dirty="0" smtClean="0">
                <a:latin typeface="Times New Roman" pitchFamily="18" charset="0"/>
                <a:cs typeface="Times New Roman" pitchFamily="18" charset="0"/>
              </a:rPr>
              <a:t> MACA is used to avoid data collisions caused by hidden station problems as well as simplifying known station problems.</a:t>
            </a:r>
          </a:p>
          <a:p>
            <a:pPr>
              <a:buNone/>
            </a:pP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MACA operation</a:t>
            </a:r>
            <a:endParaRPr lang="en-US" dirty="0"/>
          </a:p>
        </p:txBody>
      </p:sp>
      <p:sp>
        <p:nvSpPr>
          <p:cNvPr id="3" name="Content Placeholder 2"/>
          <p:cNvSpPr>
            <a:spLocks noGrp="1"/>
          </p:cNvSpPr>
          <p:nvPr>
            <p:ph idx="1"/>
          </p:nvPr>
        </p:nvSpPr>
        <p:spPr/>
        <p:txBody>
          <a:bodyPr>
            <a:normAutofit fontScale="85000" lnSpcReduction="20000"/>
          </a:bodyPr>
          <a:lstStyle/>
          <a:p>
            <a:r>
              <a:rPr lang="en-US" sz="3500" dirty="0">
                <a:latin typeface="Times New Roman" pitchFamily="18" charset="0"/>
                <a:cs typeface="Times New Roman" pitchFamily="18" charset="0"/>
              </a:rPr>
              <a:t>In MACA, a wireless network node announces that it is going to send the data frame, informing the other nodes to remain silent. </a:t>
            </a:r>
            <a:endParaRPr lang="en-US" sz="3500" dirty="0" smtClean="0">
              <a:latin typeface="Times New Roman" pitchFamily="18" charset="0"/>
              <a:cs typeface="Times New Roman" pitchFamily="18" charset="0"/>
            </a:endParaRPr>
          </a:p>
          <a:p>
            <a:r>
              <a:rPr lang="en-US" sz="3500" dirty="0" smtClean="0">
                <a:latin typeface="Times New Roman" pitchFamily="18" charset="0"/>
                <a:cs typeface="Times New Roman" pitchFamily="18" charset="0"/>
              </a:rPr>
              <a:t>When </a:t>
            </a:r>
            <a:r>
              <a:rPr lang="en-US" sz="3500" dirty="0">
                <a:latin typeface="Times New Roman" pitchFamily="18" charset="0"/>
                <a:cs typeface="Times New Roman" pitchFamily="18" charset="0"/>
              </a:rPr>
              <a:t>a node intends to transmit the data frame, it communicates using a signal known as Request-To-Send (RTS) that includes the length of the data frame to transmit</a:t>
            </a:r>
            <a:r>
              <a:rPr lang="en-US" sz="3500" dirty="0" smtClean="0">
                <a:latin typeface="Times New Roman" pitchFamily="18" charset="0"/>
                <a:cs typeface="Times New Roman" pitchFamily="18" charset="0"/>
              </a:rPr>
              <a:t>.</a:t>
            </a:r>
          </a:p>
          <a:p>
            <a:r>
              <a:rPr lang="en-US" sz="3500" dirty="0" smtClean="0">
                <a:latin typeface="Times New Roman" pitchFamily="18" charset="0"/>
                <a:cs typeface="Times New Roman" pitchFamily="18" charset="0"/>
              </a:rPr>
              <a:t> </a:t>
            </a:r>
            <a:r>
              <a:rPr lang="en-US" sz="3500" dirty="0">
                <a:latin typeface="Times New Roman" pitchFamily="18" charset="0"/>
                <a:cs typeface="Times New Roman" pitchFamily="18" charset="0"/>
              </a:rPr>
              <a:t>If the recipient permits the transmission, it responds back to the sender with a signal known as Clear-To-Send (CTS), which includes the length of the data frame that it is about to receive.</a:t>
            </a:r>
          </a:p>
          <a:p>
            <a:pPr>
              <a:buNone/>
            </a:pP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MACA operation</a:t>
            </a:r>
            <a:endParaRPr lang="en-US" dirty="0"/>
          </a:p>
        </p:txBody>
      </p:sp>
      <p:sp>
        <p:nvSpPr>
          <p:cNvPr id="3" name="Content Placeholder 2"/>
          <p:cNvSpPr>
            <a:spLocks noGrp="1"/>
          </p:cNvSpPr>
          <p:nvPr>
            <p:ph idx="1"/>
          </p:nvPr>
        </p:nvSpPr>
        <p:spPr/>
        <p:txBody>
          <a:bodyPr>
            <a:normAutofit lnSpcReduction="10000"/>
          </a:bodyPr>
          <a:lstStyle/>
          <a:p>
            <a:r>
              <a:rPr lang="en-US" dirty="0" smtClean="0"/>
              <a:t>In the meantime, the nodes that listen to the RTS signal must remain silent until the data is fully transmitted in order to avoid conflict with CTS. </a:t>
            </a:r>
          </a:p>
          <a:p>
            <a:r>
              <a:rPr lang="en-US" dirty="0" smtClean="0"/>
              <a:t>Collisions among RTS packets may still occur in MACA, but they are minimized using a randomized exponential back-off strategy, much like the one that is used in regular Carrier Sense Multiple Access (CSMA).</a:t>
            </a:r>
          </a:p>
          <a:p>
            <a:pPr>
              <a:buNone/>
            </a:pPr>
            <a:endParaRPr lang="en-US" sz="3800" dirty="0">
              <a:latin typeface="Times New Roman" pitchFamily="18" charset="0"/>
              <a:cs typeface="Times New Roman"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MACA operation</a:t>
            </a:r>
            <a:endParaRPr lang="en-US" dirty="0"/>
          </a:p>
        </p:txBody>
      </p:sp>
      <p:sp>
        <p:nvSpPr>
          <p:cNvPr id="3" name="Content Placeholder 2"/>
          <p:cNvSpPr>
            <a:spLocks noGrp="1"/>
          </p:cNvSpPr>
          <p:nvPr>
            <p:ph idx="1"/>
          </p:nvPr>
        </p:nvSpPr>
        <p:spPr/>
        <p:txBody>
          <a:bodyPr/>
          <a:lstStyle/>
          <a:p>
            <a:pPr>
              <a:buNone/>
            </a:pPr>
            <a:r>
              <a:rPr lang="en-US" dirty="0" smtClean="0"/>
              <a:t>Although collisions can occur between RTS packets, MACA still has an edge over CSMA, provided that the RTS packets are substantially smaller compared to the data packets.</a:t>
            </a:r>
          </a:p>
          <a:p>
            <a:pPr>
              <a:buNone/>
            </a:pPr>
            <a:r>
              <a:rPr lang="en-US" dirty="0" smtClean="0"/>
              <a:t> If the RTS packets are significantly smaller, the collisions between RTS packets create less impact.</a:t>
            </a:r>
          </a:p>
          <a:p>
            <a:pPr>
              <a:buNone/>
            </a:pP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smtClean="0"/>
              <a:t>Solving </a:t>
            </a:r>
            <a:r>
              <a:rPr lang="en-US" sz="4000" dirty="0" smtClean="0">
                <a:latin typeface="Times New Roman" pitchFamily="18" charset="0"/>
                <a:cs typeface="Times New Roman" pitchFamily="18" charset="0"/>
              </a:rPr>
              <a:t>the</a:t>
            </a:r>
            <a:r>
              <a:rPr lang="en-US" dirty="0" smtClean="0"/>
              <a:t> hidden problem with MACA</a:t>
            </a:r>
            <a:endParaRPr lang="en-US" dirty="0"/>
          </a:p>
        </p:txBody>
      </p:sp>
      <p:pic>
        <p:nvPicPr>
          <p:cNvPr id="4" name="img" descr="http://slideplayer.com/8683342/26/images/14/MACA+examples+MACA+avoids+the+problem+of+hidden+terminals.jpg"/>
          <p:cNvPicPr>
            <a:picLocks noGrp="1"/>
          </p:cNvPicPr>
          <p:nvPr>
            <p:ph idx="1"/>
          </p:nvPr>
        </p:nvPicPr>
        <p:blipFill>
          <a:blip r:embed="rId2" cstate="print"/>
          <a:srcRect l="41801" t="19734" r="3299" b="51162"/>
          <a:stretch>
            <a:fillRect/>
          </a:stretch>
        </p:blipFill>
        <p:spPr bwMode="auto">
          <a:xfrm>
            <a:off x="457201" y="1295400"/>
            <a:ext cx="7239000" cy="5029200"/>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(MACA for wireless) MACAW</a:t>
            </a:r>
            <a:endParaRPr lang="en-US" dirty="0"/>
          </a:p>
        </p:txBody>
      </p:sp>
      <p:sp>
        <p:nvSpPr>
          <p:cNvPr id="3" name="Content Placeholder 2"/>
          <p:cNvSpPr>
            <a:spLocks noGrp="1"/>
          </p:cNvSpPr>
          <p:nvPr>
            <p:ph idx="1"/>
          </p:nvPr>
        </p:nvSpPr>
        <p:spPr/>
        <p:txBody>
          <a:bodyPr/>
          <a:lstStyle/>
          <a:p>
            <a:pPr>
              <a:buNone/>
            </a:pPr>
            <a:r>
              <a:rPr lang="en-US" dirty="0"/>
              <a:t>WLAN data transmission collisions can still happen, and MACA for Wireless (MACAW) is brought to extend the functionality of MACA. It demands nodes to send acknowledgments after every successful frame transmission. MACAW is commonly used in ad hoc networks. Moreover, it is the basis of various other MAC protocols found in wireless sensor networks (WSN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smtClean="0"/>
              <a:t>Solving the exposed problem with MACA</a:t>
            </a:r>
            <a:endParaRPr lang="en-US" dirty="0"/>
          </a:p>
        </p:txBody>
      </p:sp>
      <p:pic>
        <p:nvPicPr>
          <p:cNvPr id="4" name="img" descr="http://slideplayer.com/8683342/26/images/14/MACA+examples+MACA+avoids+the+problem+of+hidden+terminals.jpg"/>
          <p:cNvPicPr>
            <a:picLocks noGrp="1"/>
          </p:cNvPicPr>
          <p:nvPr>
            <p:ph idx="1"/>
          </p:nvPr>
        </p:nvPicPr>
        <p:blipFill>
          <a:blip r:embed="rId2" cstate="print"/>
          <a:srcRect l="43701" t="58333" r="2724" b="17308"/>
          <a:stretch>
            <a:fillRect/>
          </a:stretch>
        </p:blipFill>
        <p:spPr bwMode="auto">
          <a:xfrm>
            <a:off x="685800" y="1752600"/>
            <a:ext cx="7315200" cy="4343400"/>
          </a:xfrm>
          <a:prstGeom prst="rect">
            <a:avLst/>
          </a:prstGeom>
          <a:noFill/>
          <a:ln w="9525">
            <a:noFill/>
            <a:miter lim="800000"/>
            <a:headEnd/>
            <a:tailEnd/>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197</TotalTime>
  <Words>978</Words>
  <Application>Microsoft Office PowerPoint</Application>
  <PresentationFormat>On-screen Show (4:3)</PresentationFormat>
  <Paragraphs>63</Paragraphs>
  <Slides>23</Slides>
  <Notes>1</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Office Theme</vt:lpstr>
      <vt:lpstr>Lecture 15 Wireless and Mobile Networks</vt:lpstr>
      <vt:lpstr>Elements of a wireless network</vt:lpstr>
      <vt:lpstr>Elements of a wireless network</vt:lpstr>
      <vt:lpstr>PowerPoint Presentation</vt:lpstr>
      <vt:lpstr>Base station functions</vt:lpstr>
      <vt:lpstr>Infrastructure operation mode</vt:lpstr>
      <vt:lpstr> Mobile ad hoc networks </vt:lpstr>
      <vt:lpstr>Handoff</vt:lpstr>
      <vt:lpstr> Mobile ad hoc network </vt:lpstr>
      <vt:lpstr>Mobile ad hoc network</vt:lpstr>
      <vt:lpstr>The Hidden and exposed stations problems in wireless communication</vt:lpstr>
      <vt:lpstr>Hidden station problem</vt:lpstr>
      <vt:lpstr>CSMA/CA</vt:lpstr>
      <vt:lpstr>Data collision in a hidden station</vt:lpstr>
      <vt:lpstr> Exposed station problem </vt:lpstr>
      <vt:lpstr>Exposed station</vt:lpstr>
      <vt:lpstr> Multiple Access with Collision Avoidance (MACA) </vt:lpstr>
      <vt:lpstr>MACA operation</vt:lpstr>
      <vt:lpstr>MACA operation</vt:lpstr>
      <vt:lpstr>MACA operation</vt:lpstr>
      <vt:lpstr>Solving the hidden problem with MACA</vt:lpstr>
      <vt:lpstr>(MACA for wireless) MACAW</vt:lpstr>
      <vt:lpstr>Solving the exposed problem with MACA</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15 Wireless and Mobile Networks</dc:title>
  <dc:creator>langstone.shumba</dc:creator>
  <cp:lastModifiedBy>Langtone Shumba</cp:lastModifiedBy>
  <cp:revision>5</cp:revision>
  <dcterms:created xsi:type="dcterms:W3CDTF">2018-05-10T09:18:48Z</dcterms:created>
  <dcterms:modified xsi:type="dcterms:W3CDTF">2021-07-21T10:16:15Z</dcterms:modified>
</cp:coreProperties>
</file>