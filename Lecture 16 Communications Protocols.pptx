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7" r:id="rId11"/>
    <p:sldId id="268" r:id="rId12"/>
    <p:sldId id="269" r:id="rId13"/>
    <p:sldId id="270" r:id="rId14"/>
    <p:sldId id="271" r:id="rId15"/>
    <p:sldId id="272" r:id="rId16"/>
    <p:sldId id="273" r:id="rId17"/>
    <p:sldId id="274" r:id="rId18"/>
    <p:sldId id="276" r:id="rId19"/>
    <p:sldId id="277" r:id="rId20"/>
    <p:sldId id="278" r:id="rId21"/>
    <p:sldId id="275"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B666EB5-D05F-4D3F-9271-09C07EE61B54}" type="datetimeFigureOut">
              <a:rPr lang="en-US" smtClean="0"/>
              <a:pPr/>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666EB5-D05F-4D3F-9271-09C07EE61B54}" type="datetimeFigureOut">
              <a:rPr lang="en-US" smtClean="0"/>
              <a:pPr/>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B666EB5-D05F-4D3F-9271-09C07EE61B54}" type="datetimeFigureOut">
              <a:rPr lang="en-US" smtClean="0"/>
              <a:pPr/>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B666EB5-D05F-4D3F-9271-09C07EE61B54}" type="datetimeFigureOut">
              <a:rPr lang="en-US" smtClean="0"/>
              <a:pPr/>
              <a:t>6/19/2018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B666EB5-D05F-4D3F-9271-09C07EE61B54}" type="datetimeFigureOut">
              <a:rPr lang="en-US" smtClean="0"/>
              <a:pPr/>
              <a:t>6/19/2018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B666EB5-D05F-4D3F-9271-09C07EE61B54}" type="datetimeFigureOut">
              <a:rPr lang="en-US" smtClean="0"/>
              <a:pPr/>
              <a:t>6/19/2018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666EB5-D05F-4D3F-9271-09C07EE61B54}" type="datetimeFigureOut">
              <a:rPr lang="en-US" smtClean="0"/>
              <a:pPr/>
              <a:t>6/19/2018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666EB5-D05F-4D3F-9271-09C07EE61B54}" type="datetimeFigureOut">
              <a:rPr lang="en-US" smtClean="0"/>
              <a:pPr/>
              <a:t>6/19/2018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666EB5-D05F-4D3F-9271-09C07EE61B54}" type="datetimeFigureOut">
              <a:rPr lang="en-US" smtClean="0"/>
              <a:pPr/>
              <a:t>6/19/2018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666EB5-D05F-4D3F-9271-09C07EE61B54}" type="datetimeFigureOut">
              <a:rPr lang="en-US" smtClean="0"/>
              <a:pPr/>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666EB5-D05F-4D3F-9271-09C07EE61B54}" type="datetimeFigureOut">
              <a:rPr lang="en-US" smtClean="0"/>
              <a:pPr/>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B2846-A38D-4956-A589-4847DD9D226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666EB5-D05F-4D3F-9271-09C07EE61B54}" type="datetimeFigureOut">
              <a:rPr lang="en-US" smtClean="0"/>
              <a:pPr/>
              <a:t>6/19/2018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B2846-A38D-4956-A589-4847DD9D226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w3.org/People/Frystyk/thesis/Presentation.html" TargetMode="External"/><Relationship Id="rId2" Type="http://schemas.openxmlformats.org/officeDocument/2006/relationships/hyperlink" Target="http://www.w3.org/hypertext/WWW/Protocols/HTTP/HTTP2.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Lecture 16: Communication Protocols</a:t>
            </a:r>
            <a:endParaRPr lang="en-US" dirty="0"/>
          </a:p>
        </p:txBody>
      </p:sp>
      <p:sp>
        <p:nvSpPr>
          <p:cNvPr id="3" name="Content Placeholder 2"/>
          <p:cNvSpPr>
            <a:spLocks noGrp="1"/>
          </p:cNvSpPr>
          <p:nvPr>
            <p:ph idx="1"/>
          </p:nvPr>
        </p:nvSpPr>
        <p:spPr/>
        <p:txBody>
          <a:bodyPr>
            <a:normAutofit/>
          </a:bodyPr>
          <a:lstStyle/>
          <a:p>
            <a:pPr lvl="1">
              <a:buNone/>
            </a:pPr>
            <a:r>
              <a:rPr lang="en-ZW" sz="3200" b="1" dirty="0"/>
              <a:t>Communication </a:t>
            </a:r>
            <a:r>
              <a:rPr lang="en-ZW" sz="3200" b="1" dirty="0" smtClean="0"/>
              <a:t>protocols definition:</a:t>
            </a:r>
            <a:endParaRPr lang="en-US" sz="3200" b="1" dirty="0"/>
          </a:p>
          <a:p>
            <a:r>
              <a:rPr lang="en-ZW" sz="2800" dirty="0"/>
              <a:t> </a:t>
            </a:r>
            <a:r>
              <a:rPr lang="en-ZW" dirty="0"/>
              <a:t>Protocols are rules and procedures for communicating. </a:t>
            </a:r>
            <a:endParaRPr lang="en-ZW" dirty="0" smtClean="0"/>
          </a:p>
          <a:p>
            <a:r>
              <a:rPr lang="en-ZW" dirty="0" smtClean="0"/>
              <a:t> </a:t>
            </a:r>
            <a:r>
              <a:rPr lang="en-ZW" dirty="0"/>
              <a:t>Data is exchanged between devices during communication, so there should be procedures and standards to follow. </a:t>
            </a:r>
            <a:endParaRPr lang="en-ZW" dirty="0" smtClean="0"/>
          </a:p>
          <a:p>
            <a:r>
              <a:rPr lang="en-ZW" dirty="0" smtClean="0"/>
              <a:t>Protocols </a:t>
            </a:r>
            <a:r>
              <a:rPr lang="en-ZW" dirty="0"/>
              <a:t>are  many and each protocol facilitates basic communication.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 protocols</a:t>
            </a:r>
            <a:endParaRPr lang="en-US" dirty="0"/>
          </a:p>
        </p:txBody>
      </p:sp>
      <p:sp>
        <p:nvSpPr>
          <p:cNvPr id="3" name="Content Placeholder 2"/>
          <p:cNvSpPr>
            <a:spLocks noGrp="1"/>
          </p:cNvSpPr>
          <p:nvPr>
            <p:ph idx="1"/>
          </p:nvPr>
        </p:nvSpPr>
        <p:spPr/>
        <p:txBody>
          <a:bodyPr>
            <a:normAutofit lnSpcReduction="10000"/>
          </a:bodyPr>
          <a:lstStyle/>
          <a:p>
            <a:r>
              <a:rPr lang="en-ZW" dirty="0" smtClean="0"/>
              <a:t>Each protocol is used for different purposes and it also accomplishes different tasks. </a:t>
            </a:r>
            <a:endParaRPr lang="en-US" dirty="0" smtClean="0"/>
          </a:p>
          <a:p>
            <a:r>
              <a:rPr lang="en-ZW" dirty="0" smtClean="0"/>
              <a:t>Some protocols work only at particular OSI layers, so the layer at which a particular protocol works/operates describes its function, for example a protocol that works at the physical layer ensures that data packets passes through the network interface card(NIC) and out onto the network cable. </a:t>
            </a:r>
            <a:endParaRPr lang="en-US" sz="2800" dirty="0" smtClean="0"/>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Communication protocols</a:t>
            </a:r>
            <a:endParaRPr lang="en-US" dirty="0"/>
          </a:p>
        </p:txBody>
      </p:sp>
      <p:sp>
        <p:nvSpPr>
          <p:cNvPr id="3" name="Content Placeholder 2"/>
          <p:cNvSpPr>
            <a:spLocks noGrp="1"/>
          </p:cNvSpPr>
          <p:nvPr>
            <p:ph idx="1"/>
          </p:nvPr>
        </p:nvSpPr>
        <p:spPr/>
        <p:txBody>
          <a:bodyPr/>
          <a:lstStyle/>
          <a:p>
            <a:pPr>
              <a:buNone/>
            </a:pPr>
            <a:r>
              <a:rPr lang="en-ZW" dirty="0" smtClean="0"/>
              <a:t>Protocols can also work together as a suite, for example the TCP/IP protocol’s application layer maps to the OSI reference model’s presentation layer.</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spcBef>
                <a:spcPct val="0"/>
              </a:spcBef>
            </a:pPr>
            <a:r>
              <a:rPr lang="en-ZW" sz="3200" b="1" dirty="0" smtClean="0">
                <a:latin typeface="Times New Roman" pitchFamily="18" charset="0"/>
                <a:cs typeface="Times New Roman" pitchFamily="18" charset="0"/>
              </a:rPr>
              <a:t>How protocols work</a:t>
            </a:r>
            <a:r>
              <a:rPr lang="en-US" sz="3200" b="1" dirty="0" smtClean="0">
                <a:latin typeface="Times New Roman" pitchFamily="18" charset="0"/>
                <a:cs typeface="Times New Roman" pitchFamily="18" charset="0"/>
              </a:rPr>
              <a:t/>
            </a:r>
            <a:br>
              <a:rPr lang="en-US" sz="3200" b="1" dirty="0" smtClean="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ZW" dirty="0" smtClean="0"/>
              <a:t>The </a:t>
            </a:r>
            <a:r>
              <a:rPr lang="en-ZW" dirty="0"/>
              <a:t>entire technical operation by which data is transmitted over the network is broken down into discrete, systematic steps</a:t>
            </a:r>
            <a:r>
              <a:rPr lang="en-ZW" dirty="0" smtClean="0"/>
              <a:t>.</a:t>
            </a:r>
          </a:p>
          <a:p>
            <a:r>
              <a:rPr lang="en-ZW" dirty="0" smtClean="0"/>
              <a:t> </a:t>
            </a:r>
            <a:r>
              <a:rPr lang="en-ZW" dirty="0"/>
              <a:t>At each step certain actions take place which cannot take place at any other step. </a:t>
            </a:r>
            <a:endParaRPr lang="en-ZW" dirty="0" smtClean="0"/>
          </a:p>
          <a:p>
            <a:r>
              <a:rPr lang="en-ZW" dirty="0" smtClean="0"/>
              <a:t>Each </a:t>
            </a:r>
            <a:r>
              <a:rPr lang="en-ZW" dirty="0"/>
              <a:t>step includes its own rules and procedures or protocol.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Data is transmitted between a transmitter (source) and receiver. </a:t>
            </a:r>
          </a:p>
          <a:p>
            <a:pPr>
              <a:buNone/>
            </a:pPr>
            <a:r>
              <a:rPr lang="en-ZW" dirty="0" smtClean="0"/>
              <a:t>Below is a sequence of steps taken by a sending computer.</a:t>
            </a:r>
            <a:endParaRPr lang="en-US" sz="2800" dirty="0" smtClean="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Sending computer</a:t>
            </a:r>
            <a:endParaRPr lang="en-US" dirty="0"/>
          </a:p>
        </p:txBody>
      </p:sp>
      <p:sp>
        <p:nvSpPr>
          <p:cNvPr id="3" name="Content Placeholder 2"/>
          <p:cNvSpPr>
            <a:spLocks noGrp="1"/>
          </p:cNvSpPr>
          <p:nvPr>
            <p:ph idx="1"/>
          </p:nvPr>
        </p:nvSpPr>
        <p:spPr/>
        <p:txBody>
          <a:bodyPr>
            <a:normAutofit lnSpcReduction="10000"/>
          </a:bodyPr>
          <a:lstStyle/>
          <a:p>
            <a:pPr>
              <a:buNone/>
            </a:pPr>
            <a:r>
              <a:rPr lang="en-ZW" b="1" dirty="0"/>
              <a:t>The Sending computer</a:t>
            </a:r>
            <a:endParaRPr lang="en-US" dirty="0"/>
          </a:p>
          <a:p>
            <a:pPr lvl="0">
              <a:buNone/>
            </a:pPr>
            <a:r>
              <a:rPr lang="en-ZW" dirty="0" smtClean="0"/>
              <a:t>1.Breaks </a:t>
            </a:r>
            <a:r>
              <a:rPr lang="en-ZW" dirty="0"/>
              <a:t>data into small sections called packets which the </a:t>
            </a:r>
            <a:r>
              <a:rPr lang="en-ZW" dirty="0" smtClean="0"/>
              <a:t>protocols </a:t>
            </a:r>
            <a:r>
              <a:rPr lang="en-ZW" dirty="0"/>
              <a:t>can handle.</a:t>
            </a:r>
            <a:endParaRPr lang="en-US" dirty="0"/>
          </a:p>
          <a:p>
            <a:pPr lvl="0">
              <a:buNone/>
            </a:pPr>
            <a:r>
              <a:rPr lang="en-ZW" dirty="0" smtClean="0"/>
              <a:t>2.Add </a:t>
            </a:r>
            <a:r>
              <a:rPr lang="en-ZW" dirty="0"/>
              <a:t>addressing information to the packets so that the destination computer can determine that the data belongs to it.</a:t>
            </a:r>
            <a:endParaRPr lang="en-US" dirty="0"/>
          </a:p>
          <a:p>
            <a:pPr>
              <a:buNone/>
            </a:pPr>
            <a:r>
              <a:rPr lang="en-ZW" dirty="0" smtClean="0"/>
              <a:t>3.Prepare </a:t>
            </a:r>
            <a:r>
              <a:rPr lang="en-ZW" dirty="0"/>
              <a:t>the data for transmission through the network interface card, through the network interface card (NIC) onto the network</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The receiving computer</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ZW" dirty="0" smtClean="0"/>
              <a:t>Protocols </a:t>
            </a:r>
            <a:r>
              <a:rPr lang="en-ZW" dirty="0"/>
              <a:t>at the receiving computer carry out the same series of steps but in the reverse order</a:t>
            </a:r>
            <a:endParaRPr lang="en-US" dirty="0"/>
          </a:p>
          <a:p>
            <a:pPr lvl="0">
              <a:buNone/>
            </a:pPr>
            <a:r>
              <a:rPr lang="en-ZW" dirty="0" smtClean="0"/>
              <a:t>1.Take </a:t>
            </a:r>
            <a:r>
              <a:rPr lang="en-ZW" dirty="0"/>
              <a:t>the packets </a:t>
            </a:r>
            <a:r>
              <a:rPr lang="en-ZW" dirty="0" smtClean="0"/>
              <a:t>off </a:t>
            </a:r>
            <a:r>
              <a:rPr lang="en-ZW" dirty="0"/>
              <a:t>the cable</a:t>
            </a:r>
            <a:endParaRPr lang="en-US" dirty="0"/>
          </a:p>
          <a:p>
            <a:pPr lvl="0">
              <a:buNone/>
            </a:pPr>
            <a:r>
              <a:rPr lang="en-ZW" dirty="0" smtClean="0"/>
              <a:t>2.Bring </a:t>
            </a:r>
            <a:r>
              <a:rPr lang="en-ZW" dirty="0"/>
              <a:t>data packets into the computer through the NIC</a:t>
            </a:r>
            <a:endParaRPr lang="en-US" dirty="0"/>
          </a:p>
          <a:p>
            <a:pPr lvl="0">
              <a:buNone/>
            </a:pPr>
            <a:r>
              <a:rPr lang="en-ZW" dirty="0" smtClean="0"/>
              <a:t>3.Strip </a:t>
            </a:r>
            <a:r>
              <a:rPr lang="en-ZW" dirty="0"/>
              <a:t>the packets of all the transmission information that was added by the sending computer</a:t>
            </a:r>
            <a:endParaRPr lang="en-US" dirty="0"/>
          </a:p>
          <a:p>
            <a:pPr lvl="0">
              <a:buNone/>
            </a:pPr>
            <a:r>
              <a:rPr lang="en-ZW" dirty="0" smtClean="0"/>
              <a:t>4.Copy </a:t>
            </a:r>
            <a:r>
              <a:rPr lang="en-ZW" dirty="0"/>
              <a:t>the data from the packets to the buffer for re-assembly</a:t>
            </a:r>
            <a:endParaRPr lang="en-US" dirty="0"/>
          </a:p>
          <a:p>
            <a:pPr lvl="0">
              <a:buNone/>
            </a:pPr>
            <a:r>
              <a:rPr lang="en-ZW" dirty="0" smtClean="0"/>
              <a:t>5.Pass </a:t>
            </a:r>
            <a:r>
              <a:rPr lang="en-ZW" dirty="0"/>
              <a:t>the reassembled data to the application in a usable form</a:t>
            </a:r>
            <a:endParaRPr lang="en-US" dirty="0"/>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spcBef>
                <a:spcPct val="0"/>
              </a:spcBef>
            </a:pPr>
            <a:r>
              <a:rPr lang="en-ZW" sz="3200" b="1" dirty="0" smtClean="0">
                <a:latin typeface="Times New Roman" pitchFamily="18" charset="0"/>
                <a:cs typeface="Times New Roman" pitchFamily="18" charset="0"/>
              </a:rPr>
              <a:t>Open System Interconnection model (OSI)</a:t>
            </a:r>
            <a:r>
              <a:rPr lang="en-US" sz="3200" b="1" dirty="0" smtClean="0"/>
              <a:t/>
            </a:r>
            <a:br>
              <a:rPr lang="en-US" sz="3200" b="1" dirty="0" smtClean="0"/>
            </a:br>
            <a:endParaRPr lang="en-US" dirty="0"/>
          </a:p>
        </p:txBody>
      </p:sp>
      <p:sp>
        <p:nvSpPr>
          <p:cNvPr id="3" name="Content Placeholder 2"/>
          <p:cNvSpPr>
            <a:spLocks noGrp="1"/>
          </p:cNvSpPr>
          <p:nvPr>
            <p:ph idx="1"/>
          </p:nvPr>
        </p:nvSpPr>
        <p:spPr/>
        <p:txBody>
          <a:bodyPr>
            <a:normAutofit/>
          </a:bodyPr>
          <a:lstStyle/>
          <a:p>
            <a:r>
              <a:rPr lang="en-ZW" dirty="0" smtClean="0"/>
              <a:t>The </a:t>
            </a:r>
            <a:r>
              <a:rPr lang="en-ZW" dirty="0"/>
              <a:t>OSI is a conceptual and logical layout that defines network communication used by systems open to interconnection and communication with other systems</a:t>
            </a:r>
            <a:r>
              <a:rPr lang="en-ZW" dirty="0" smtClean="0"/>
              <a:t>.</a:t>
            </a:r>
          </a:p>
          <a:p>
            <a:r>
              <a:rPr lang="en-ZW" dirty="0" smtClean="0"/>
              <a:t> </a:t>
            </a:r>
            <a:r>
              <a:rPr lang="en-ZW" dirty="0"/>
              <a:t>OSI was proposed by ISO in 1977 to provide solutions to many problems encountered during transmission from source to destination.</a:t>
            </a:r>
            <a:endParaRPr lang="en-US" sz="2800" dirty="0"/>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OSI</a:t>
            </a:r>
            <a:endParaRPr lang="en-US" dirty="0"/>
          </a:p>
        </p:txBody>
      </p:sp>
      <p:sp>
        <p:nvSpPr>
          <p:cNvPr id="3" name="Content Placeholder 2"/>
          <p:cNvSpPr>
            <a:spLocks noGrp="1"/>
          </p:cNvSpPr>
          <p:nvPr>
            <p:ph idx="1"/>
          </p:nvPr>
        </p:nvSpPr>
        <p:spPr/>
        <p:txBody>
          <a:bodyPr/>
          <a:lstStyle/>
          <a:p>
            <a:r>
              <a:rPr lang="en-ZW" dirty="0" smtClean="0"/>
              <a:t>OSI model breaks down problems involved in moving data from source to destination or from one computer to another and categorize them into seven layers.</a:t>
            </a:r>
          </a:p>
          <a:p>
            <a:r>
              <a:rPr lang="en-ZW" dirty="0" smtClean="0"/>
              <a:t> A layer in OSI model is a portion used to categorize specific problems. </a:t>
            </a:r>
          </a:p>
          <a:p>
            <a:pPr>
              <a:buNone/>
            </a:pPr>
            <a:r>
              <a:rPr lang="en-ZW" dirty="0" smtClean="0"/>
              <a:t>The seven layers are:</a:t>
            </a:r>
            <a:endParaRPr lang="en-US" sz="2800" dirty="0" smtClean="0"/>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The seven OSI layers</a:t>
            </a:r>
            <a:endParaRPr lang="en-US" dirty="0"/>
          </a:p>
        </p:txBody>
      </p:sp>
      <p:pic>
        <p:nvPicPr>
          <p:cNvPr id="4" name="Content Placeholder 3"/>
          <p:cNvPicPr>
            <a:picLocks noGrp="1"/>
          </p:cNvPicPr>
          <p:nvPr>
            <p:ph idx="1"/>
          </p:nvPr>
        </p:nvPicPr>
        <p:blipFill>
          <a:blip r:embed="rId2" cstate="print"/>
          <a:srcRect l="27724" t="37607" r="52564" b="40171"/>
          <a:stretch>
            <a:fillRect/>
          </a:stretch>
        </p:blipFill>
        <p:spPr bwMode="auto">
          <a:xfrm>
            <a:off x="685800" y="1524000"/>
            <a:ext cx="7010400" cy="45720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OSI Model and functions</a:t>
            </a:r>
            <a:endParaRPr lang="en-US" dirty="0"/>
          </a:p>
        </p:txBody>
      </p:sp>
      <p:pic>
        <p:nvPicPr>
          <p:cNvPr id="4" name="img" descr="http://www.tech-faq.com/wp-content/uploads/2009/01/osimodel.png"/>
          <p:cNvPicPr>
            <a:picLocks noGrp="1"/>
          </p:cNvPicPr>
          <p:nvPr>
            <p:ph idx="1"/>
          </p:nvPr>
        </p:nvPicPr>
        <p:blipFill>
          <a:blip r:embed="rId2" cstate="print"/>
          <a:srcRect/>
          <a:stretch>
            <a:fillRect/>
          </a:stretch>
        </p:blipFill>
        <p:spPr bwMode="auto">
          <a:xfrm>
            <a:off x="762000" y="1143000"/>
            <a:ext cx="7924800" cy="54102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Specific functions performed by specific protocols</a:t>
            </a:r>
            <a:endParaRPr lang="en-US" dirty="0"/>
          </a:p>
        </p:txBody>
      </p:sp>
      <p:pic>
        <p:nvPicPr>
          <p:cNvPr id="4" name="img" descr="http://1.bp.blogspot.com/-VKTpU9l1wyg/U_RzDi6JeZI/AAAAAAAAAG8/SaxmzfJCG5U/s1600/webonews.png"/>
          <p:cNvPicPr>
            <a:picLocks noGrp="1"/>
          </p:cNvPicPr>
          <p:nvPr>
            <p:ph idx="1"/>
          </p:nvPr>
        </p:nvPicPr>
        <p:blipFill>
          <a:blip r:embed="rId2" cstate="print"/>
          <a:srcRect t="10956"/>
          <a:stretch>
            <a:fillRect/>
          </a:stretch>
        </p:blipFill>
        <p:spPr bwMode="auto">
          <a:xfrm>
            <a:off x="838200" y="1600200"/>
            <a:ext cx="7696200" cy="50292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Layers functions and protocols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ZW" sz="4100" b="1" dirty="0"/>
              <a:t>Application layer</a:t>
            </a:r>
            <a:endParaRPr lang="en-US" sz="4100" dirty="0"/>
          </a:p>
          <a:p>
            <a:r>
              <a:rPr lang="en-ZW" sz="3800" dirty="0" smtClean="0"/>
              <a:t>Shows </a:t>
            </a:r>
            <a:r>
              <a:rPr lang="en-ZW" sz="3800" dirty="0"/>
              <a:t>the spot where users actually communicate</a:t>
            </a:r>
            <a:r>
              <a:rPr lang="en-ZW" sz="3800" dirty="0" smtClean="0"/>
              <a:t>.</a:t>
            </a:r>
          </a:p>
          <a:p>
            <a:r>
              <a:rPr lang="en-ZW" sz="3800" dirty="0" smtClean="0"/>
              <a:t>Purpose </a:t>
            </a:r>
            <a:r>
              <a:rPr lang="en-ZW" sz="3800" dirty="0"/>
              <a:t>is to manage communication between applications and end user processes. </a:t>
            </a:r>
            <a:endParaRPr lang="en-ZW" sz="3800" dirty="0" smtClean="0"/>
          </a:p>
          <a:p>
            <a:pPr>
              <a:buNone/>
            </a:pPr>
            <a:r>
              <a:rPr lang="en-ZW" sz="3800" dirty="0" smtClean="0"/>
              <a:t>Prime </a:t>
            </a:r>
            <a:r>
              <a:rPr lang="en-ZW" sz="3800" dirty="0"/>
              <a:t>examples include:</a:t>
            </a:r>
            <a:endParaRPr lang="en-US" sz="3800" dirty="0"/>
          </a:p>
          <a:p>
            <a:pPr lvl="0"/>
            <a:r>
              <a:rPr lang="en-ZW" sz="3800" dirty="0"/>
              <a:t>File transfers and emails</a:t>
            </a:r>
            <a:endParaRPr lang="en-US" sz="3800" dirty="0"/>
          </a:p>
          <a:p>
            <a:pPr lvl="0"/>
            <a:r>
              <a:rPr lang="en-ZW" sz="3800" dirty="0"/>
              <a:t>Remote access</a:t>
            </a:r>
            <a:endParaRPr lang="en-US" sz="3800" dirty="0"/>
          </a:p>
          <a:p>
            <a:pPr lvl="0"/>
            <a:r>
              <a:rPr lang="en-ZW" sz="3800" dirty="0"/>
              <a:t>Network management activities</a:t>
            </a:r>
            <a:endParaRPr lang="en-US" sz="3800" dirty="0"/>
          </a:p>
          <a:p>
            <a:pPr lvl="0"/>
            <a:r>
              <a:rPr lang="en-ZW" sz="3800" dirty="0"/>
              <a:t>Client/server processes and information locations</a:t>
            </a:r>
            <a:endParaRPr lang="en-US" sz="3800" dirty="0"/>
          </a:p>
          <a:p>
            <a:pPr lvl="0"/>
            <a:r>
              <a:rPr lang="en-ZW" sz="3800" dirty="0"/>
              <a:t>Applications request and data reception.</a:t>
            </a:r>
            <a:endParaRPr lang="en-US" sz="3800" dirty="0"/>
          </a:p>
          <a:p>
            <a:pPr>
              <a:buNone/>
            </a:pPr>
            <a:endParaRPr lang="en-US" dirty="0"/>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Protocols used in the application layer</a:t>
            </a:r>
            <a:endParaRPr lang="en-US" dirty="0"/>
          </a:p>
        </p:txBody>
      </p:sp>
      <p:sp>
        <p:nvSpPr>
          <p:cNvPr id="3" name="Content Placeholder 2"/>
          <p:cNvSpPr>
            <a:spLocks noGrp="1"/>
          </p:cNvSpPr>
          <p:nvPr>
            <p:ph idx="1"/>
          </p:nvPr>
        </p:nvSpPr>
        <p:spPr/>
        <p:txBody>
          <a:bodyPr/>
          <a:lstStyle/>
          <a:p>
            <a:pPr>
              <a:buNone/>
            </a:pPr>
            <a:r>
              <a:rPr lang="en-ZW" b="1" dirty="0"/>
              <a:t>Protocols used in the application layer include:</a:t>
            </a:r>
            <a:endParaRPr lang="en-US" dirty="0"/>
          </a:p>
          <a:p>
            <a:pPr lvl="0"/>
            <a:r>
              <a:rPr lang="en-ZW" dirty="0"/>
              <a:t>File Transfer protocol (FTP)</a:t>
            </a:r>
            <a:endParaRPr lang="en-US" dirty="0"/>
          </a:p>
          <a:p>
            <a:pPr lvl="0"/>
            <a:r>
              <a:rPr lang="en-ZW" dirty="0"/>
              <a:t>Hyper-text transfer protocol(HTTP)</a:t>
            </a:r>
            <a:endParaRPr lang="en-US" dirty="0"/>
          </a:p>
          <a:p>
            <a:pPr lvl="0"/>
            <a:r>
              <a:rPr lang="en-ZW" dirty="0"/>
              <a:t>Hyper text transfer protocol secure(</a:t>
            </a:r>
            <a:r>
              <a:rPr lang="en-ZW" dirty="0" err="1"/>
              <a:t>HTTPs</a:t>
            </a:r>
            <a:r>
              <a:rPr lang="en-ZW" dirty="0"/>
              <a:t>)</a:t>
            </a:r>
            <a:endParaRPr lang="en-US" dirty="0"/>
          </a:p>
          <a:p>
            <a:pPr lvl="0"/>
            <a:r>
              <a:rPr lang="en-ZW" dirty="0"/>
              <a:t>Simple Mail Transfer Protocol (SMTP)</a:t>
            </a:r>
            <a:endParaRPr lang="en-US" dirty="0"/>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Protocols used in the application layer</a:t>
            </a:r>
            <a:endParaRPr lang="en-US" dirty="0"/>
          </a:p>
        </p:txBody>
      </p:sp>
      <p:sp>
        <p:nvSpPr>
          <p:cNvPr id="3" name="Content Placeholder 2"/>
          <p:cNvSpPr>
            <a:spLocks noGrp="1"/>
          </p:cNvSpPr>
          <p:nvPr>
            <p:ph idx="1"/>
          </p:nvPr>
        </p:nvSpPr>
        <p:spPr/>
        <p:txBody>
          <a:bodyPr/>
          <a:lstStyle/>
          <a:p>
            <a:r>
              <a:rPr lang="en-ZW" dirty="0" err="1"/>
              <a:t>BitTorrent</a:t>
            </a:r>
            <a:r>
              <a:rPr lang="en-ZW" dirty="0"/>
              <a:t> – protocol for distributing files</a:t>
            </a:r>
            <a:endParaRPr lang="en-US" dirty="0"/>
          </a:p>
          <a:p>
            <a:r>
              <a:rPr lang="en-ZW" dirty="0"/>
              <a:t> DNS (Domain Name System) – used to translate domain names to numerical IP addresses</a:t>
            </a:r>
            <a:endParaRPr lang="en-US" dirty="0"/>
          </a:p>
          <a:p>
            <a:r>
              <a:rPr lang="en-ZW" dirty="0"/>
              <a:t>NetBIOS (Network basic input/output system) which provide services related tot he session layer of the OSI model. It normally runs over TCP/IP.</a:t>
            </a:r>
            <a:endParaRPr lang="en-US" dirty="0"/>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Presentation layer</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ZW" b="1" dirty="0" smtClean="0"/>
              <a:t>The </a:t>
            </a:r>
            <a:r>
              <a:rPr lang="en-ZW" b="1" dirty="0"/>
              <a:t>presentation layer does the following:</a:t>
            </a:r>
            <a:endParaRPr lang="en-US" dirty="0"/>
          </a:p>
          <a:p>
            <a:pPr lvl="0"/>
            <a:r>
              <a:rPr lang="en-ZW" dirty="0"/>
              <a:t>Presents data to the application layer</a:t>
            </a:r>
            <a:endParaRPr lang="en-US" dirty="0"/>
          </a:p>
          <a:p>
            <a:pPr lvl="0"/>
            <a:r>
              <a:rPr lang="en-ZW" dirty="0"/>
              <a:t>Responsible </a:t>
            </a:r>
            <a:r>
              <a:rPr lang="en-ZW" dirty="0" smtClean="0"/>
              <a:t>for </a:t>
            </a:r>
            <a:r>
              <a:rPr lang="en-ZW" dirty="0"/>
              <a:t>data translation, code formatting</a:t>
            </a:r>
            <a:endParaRPr lang="en-US" dirty="0"/>
          </a:p>
          <a:p>
            <a:pPr lvl="0"/>
            <a:r>
              <a:rPr lang="en-ZW" dirty="0"/>
              <a:t>Primary function is to define data formats such as texts, ASCII, binary and Jpeg</a:t>
            </a:r>
            <a:endParaRPr lang="en-US" dirty="0"/>
          </a:p>
          <a:p>
            <a:pPr lvl="0"/>
            <a:r>
              <a:rPr lang="en-ZW" dirty="0"/>
              <a:t>Adds structure to the packets of the data that is being exchanged and makes sure that the data is being transmitted in a format or syntax that the receiving system is able to understand. Data encryption is also defined in this layer.</a:t>
            </a:r>
            <a:endParaRPr lang="en-US" dirty="0"/>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Presentation layer protocols</a:t>
            </a:r>
            <a:endParaRPr lang="en-US" dirty="0"/>
          </a:p>
        </p:txBody>
      </p:sp>
      <p:sp>
        <p:nvSpPr>
          <p:cNvPr id="3" name="Content Placeholder 2"/>
          <p:cNvSpPr>
            <a:spLocks noGrp="1"/>
          </p:cNvSpPr>
          <p:nvPr>
            <p:ph idx="1"/>
          </p:nvPr>
        </p:nvSpPr>
        <p:spPr/>
        <p:txBody>
          <a:bodyPr/>
          <a:lstStyle/>
          <a:p>
            <a:pPr lvl="0"/>
            <a:r>
              <a:rPr lang="en-US" dirty="0">
                <a:hlinkClick r:id="rId2"/>
              </a:rPr>
              <a:t>Hypertext Transfer Protocol</a:t>
            </a:r>
            <a:r>
              <a:rPr lang="en-US" dirty="0"/>
              <a:t>(HTTP)</a:t>
            </a:r>
          </a:p>
          <a:p>
            <a:pPr lvl="0"/>
            <a:r>
              <a:rPr lang="en-US" dirty="0">
                <a:hlinkClick r:id="rId3"/>
              </a:rPr>
              <a:t>Multipurpose Internet Mail Extensions</a:t>
            </a:r>
            <a:r>
              <a:rPr lang="en-US" dirty="0"/>
              <a:t>(MIME) </a:t>
            </a:r>
          </a:p>
          <a:p>
            <a:pPr lvl="0"/>
            <a:r>
              <a:rPr lang="en-US" dirty="0">
                <a:hlinkClick r:id="rId3"/>
              </a:rPr>
              <a:t>File Transfer Protocol</a:t>
            </a:r>
            <a:r>
              <a:rPr lang="en-US" dirty="0"/>
              <a:t> (FTP)</a:t>
            </a:r>
          </a:p>
          <a:p>
            <a:pPr lvl="0"/>
            <a:r>
              <a:rPr lang="en-US" dirty="0">
                <a:hlinkClick r:id="rId3"/>
              </a:rPr>
              <a:t>Network News Transfer Protocol</a:t>
            </a:r>
            <a:r>
              <a:rPr lang="en-US" dirty="0"/>
              <a:t> (NNTP)</a:t>
            </a:r>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Session layer</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r>
              <a:rPr lang="en-ZW" dirty="0" smtClean="0">
                <a:latin typeface="Times New Roman" pitchFamily="18" charset="0"/>
                <a:cs typeface="Times New Roman" pitchFamily="18" charset="0"/>
              </a:rPr>
              <a:t>This </a:t>
            </a:r>
            <a:r>
              <a:rPr lang="en-ZW" dirty="0">
                <a:latin typeface="Times New Roman" pitchFamily="18" charset="0"/>
                <a:cs typeface="Times New Roman" pitchFamily="18" charset="0"/>
              </a:rPr>
              <a:t>layer is responsible for:</a:t>
            </a:r>
            <a:endParaRPr lang="en-US" dirty="0">
              <a:latin typeface="Times New Roman" pitchFamily="18" charset="0"/>
              <a:cs typeface="Times New Roman" pitchFamily="18" charset="0"/>
            </a:endParaRPr>
          </a:p>
          <a:p>
            <a:pPr lvl="0"/>
            <a:r>
              <a:rPr lang="en-ZW" dirty="0">
                <a:latin typeface="Times New Roman" pitchFamily="18" charset="0"/>
                <a:cs typeface="Times New Roman" pitchFamily="18" charset="0"/>
              </a:rPr>
              <a:t>setting up, managing and tearing down sessions between presentation layer and entities. </a:t>
            </a:r>
            <a:endParaRPr lang="en-US" dirty="0">
              <a:latin typeface="Times New Roman" pitchFamily="18" charset="0"/>
              <a:cs typeface="Times New Roman" pitchFamily="18" charset="0"/>
            </a:endParaRPr>
          </a:p>
          <a:p>
            <a:pPr lvl="0"/>
            <a:r>
              <a:rPr lang="en-ZW" dirty="0">
                <a:latin typeface="Times New Roman" pitchFamily="18" charset="0"/>
                <a:cs typeface="Times New Roman" pitchFamily="18" charset="0"/>
              </a:rPr>
              <a:t>provides dialogue between devices, or modes.</a:t>
            </a:r>
            <a:endParaRPr lang="en-US" dirty="0">
              <a:latin typeface="Times New Roman" pitchFamily="18" charset="0"/>
              <a:cs typeface="Times New Roman" pitchFamily="18" charset="0"/>
            </a:endParaRPr>
          </a:p>
          <a:p>
            <a:pPr lvl="0"/>
            <a:r>
              <a:rPr lang="en-ZW" dirty="0">
                <a:latin typeface="Times New Roman" pitchFamily="18" charset="0"/>
                <a:cs typeface="Times New Roman" pitchFamily="18" charset="0"/>
              </a:rPr>
              <a:t>defines how to start/establish a connection</a:t>
            </a:r>
            <a:endParaRPr lang="en-US" dirty="0">
              <a:latin typeface="Times New Roman" pitchFamily="18" charset="0"/>
              <a:cs typeface="Times New Roman" pitchFamily="18" charset="0"/>
            </a:endParaRP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ZW" dirty="0" smtClean="0"/>
              <a:t>Example:</a:t>
            </a:r>
            <a:endParaRPr lang="en-US" dirty="0"/>
          </a:p>
        </p:txBody>
      </p:sp>
      <p:sp>
        <p:nvSpPr>
          <p:cNvPr id="3" name="Content Placeholder 2"/>
          <p:cNvSpPr>
            <a:spLocks noGrp="1"/>
          </p:cNvSpPr>
          <p:nvPr>
            <p:ph idx="1"/>
          </p:nvPr>
        </p:nvSpPr>
        <p:spPr/>
        <p:txBody>
          <a:bodyPr>
            <a:normAutofit lnSpcReduction="10000"/>
          </a:bodyPr>
          <a:lstStyle/>
          <a:p>
            <a:pPr>
              <a:buNone/>
            </a:pPr>
            <a:r>
              <a:rPr lang="en-ZW" dirty="0" smtClean="0"/>
              <a:t>The </a:t>
            </a:r>
            <a:r>
              <a:rPr lang="en-ZW" dirty="0"/>
              <a:t>web browser opens a web page</a:t>
            </a:r>
            <a:r>
              <a:rPr lang="en-ZW" dirty="0" smtClean="0"/>
              <a:t>.</a:t>
            </a:r>
          </a:p>
          <a:p>
            <a:pPr>
              <a:buNone/>
            </a:pPr>
            <a:r>
              <a:rPr lang="en-ZW" dirty="0" smtClean="0"/>
              <a:t> </a:t>
            </a:r>
            <a:r>
              <a:rPr lang="en-ZW" dirty="0"/>
              <a:t>Page contains text, graphics, macromedia, flash objects and sometimes applets</a:t>
            </a:r>
            <a:r>
              <a:rPr lang="en-ZW" dirty="0" smtClean="0"/>
              <a:t>.</a:t>
            </a:r>
          </a:p>
          <a:p>
            <a:pPr>
              <a:buNone/>
            </a:pPr>
            <a:r>
              <a:rPr lang="en-ZW" dirty="0" smtClean="0"/>
              <a:t> </a:t>
            </a:r>
            <a:r>
              <a:rPr lang="en-ZW" dirty="0"/>
              <a:t>These are all stored as separate files on the web server. </a:t>
            </a:r>
            <a:endParaRPr lang="en-ZW" dirty="0" smtClean="0"/>
          </a:p>
          <a:p>
            <a:pPr>
              <a:buNone/>
            </a:pPr>
            <a:r>
              <a:rPr lang="en-ZW" dirty="0" smtClean="0"/>
              <a:t>To </a:t>
            </a:r>
            <a:r>
              <a:rPr lang="en-ZW" dirty="0"/>
              <a:t>access them a separate download must be started. The web browser opens separate sessions to the web server to download each of the individual files.</a:t>
            </a:r>
            <a:endParaRPr lang="en-US" dirty="0"/>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Protocols used in session layer</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ZW" dirty="0"/>
              <a:t>Protocols used in the session layer are:</a:t>
            </a:r>
            <a:endParaRPr lang="en-US" dirty="0"/>
          </a:p>
          <a:p>
            <a:pPr lvl="0"/>
            <a:r>
              <a:rPr lang="en-ZW" dirty="0"/>
              <a:t>Network File System(NFS)- used to provide remote access to shared file systems across networks</a:t>
            </a:r>
            <a:endParaRPr lang="en-US" dirty="0"/>
          </a:p>
          <a:p>
            <a:pPr lvl="0"/>
            <a:r>
              <a:rPr lang="en-ZW" dirty="0"/>
              <a:t>Server Message Block (SMB)- which provides a method for client applications in a computer to read and write to files and to request services from server programs in a computer network. SMB can be used over the Internet on top of TCP/IP protocol or on top of other protocols such as Internet packet exchange.</a:t>
            </a:r>
            <a:endParaRPr lang="en-US" dirty="0"/>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Transport layer</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r>
              <a:rPr lang="en-ZW" dirty="0" smtClean="0"/>
              <a:t>The </a:t>
            </a:r>
            <a:r>
              <a:rPr lang="en-ZW" dirty="0"/>
              <a:t>transport layer performs the following functions:</a:t>
            </a:r>
            <a:endParaRPr lang="en-US" dirty="0"/>
          </a:p>
          <a:p>
            <a:pPr lvl="0"/>
            <a:r>
              <a:rPr lang="en-ZW" dirty="0"/>
              <a:t>Assures reliable arrival of messages</a:t>
            </a:r>
            <a:endParaRPr lang="en-US" dirty="0"/>
          </a:p>
          <a:p>
            <a:r>
              <a:rPr lang="en-ZW" dirty="0"/>
              <a:t>Provides error checking mechanism and data </a:t>
            </a:r>
            <a:r>
              <a:rPr lang="en-ZW" dirty="0" smtClean="0"/>
              <a:t>flow</a:t>
            </a:r>
          </a:p>
          <a:p>
            <a:pPr lvl="0"/>
            <a:r>
              <a:rPr lang="en-ZW" dirty="0"/>
              <a:t>Serves both connection mode transmission and connectionless mode transmission. </a:t>
            </a:r>
            <a:endParaRPr lang="en-US" dirty="0"/>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ZW" dirty="0"/>
              <a:t>Connection oriented mode- a communication session or semi-permanent connection is established before any useful data can be exchanged transferred.</a:t>
            </a:r>
            <a:endParaRPr lang="en-US" dirty="0"/>
          </a:p>
          <a:p>
            <a:r>
              <a:rPr lang="en-ZW" dirty="0"/>
              <a:t>Connection-less – examples include datagram mode of communication used by IP and UDP protocols, where data may be delivered out of order. </a:t>
            </a:r>
            <a:endParaRPr lang="en-US" dirty="0"/>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Connection oriented can be circuit switched connection or packed mode virtual circuit connection</a:t>
            </a:r>
          </a:p>
          <a:p>
            <a:pPr>
              <a:buNone/>
            </a:pPr>
            <a:r>
              <a:rPr lang="en-ZW" dirty="0" smtClean="0"/>
              <a:t>. E.g. ATM asynchronous transfer mode. Most common or well known is the control protocol (TCP).</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Network layer</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None/>
            </a:pPr>
            <a:r>
              <a:rPr lang="en-ZW" dirty="0" smtClean="0"/>
              <a:t>The </a:t>
            </a:r>
            <a:r>
              <a:rPr lang="en-ZW" dirty="0"/>
              <a:t>network layer is responsible for the following:</a:t>
            </a:r>
            <a:endParaRPr lang="en-US" dirty="0"/>
          </a:p>
          <a:p>
            <a:pPr lvl="0"/>
            <a:r>
              <a:rPr lang="en-ZW" dirty="0"/>
              <a:t>Manages device addressing</a:t>
            </a:r>
            <a:endParaRPr lang="en-US" dirty="0"/>
          </a:p>
          <a:p>
            <a:pPr lvl="0"/>
            <a:r>
              <a:rPr lang="en-ZW" dirty="0"/>
              <a:t>Traces the location of  devices on the network</a:t>
            </a:r>
            <a:endParaRPr lang="en-US" dirty="0"/>
          </a:p>
          <a:p>
            <a:pPr lvl="0"/>
            <a:r>
              <a:rPr lang="en-ZW" dirty="0"/>
              <a:t>Determines the best route to move the data</a:t>
            </a:r>
            <a:endParaRPr lang="en-US" dirty="0"/>
          </a:p>
          <a:p>
            <a:pPr lvl="0"/>
            <a:r>
              <a:rPr lang="en-ZW" dirty="0"/>
              <a:t>Defines how to fragment a packet into smaller packets so that it can be accommodated in the transmission media</a:t>
            </a:r>
            <a:endParaRPr lang="en-US" dirty="0"/>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Protocols used in the network layer</a:t>
            </a:r>
            <a:endParaRPr lang="en-US" dirty="0"/>
          </a:p>
        </p:txBody>
      </p:sp>
      <p:sp>
        <p:nvSpPr>
          <p:cNvPr id="3" name="Content Placeholder 2"/>
          <p:cNvSpPr>
            <a:spLocks noGrp="1"/>
          </p:cNvSpPr>
          <p:nvPr>
            <p:ph idx="1"/>
          </p:nvPr>
        </p:nvSpPr>
        <p:spPr/>
        <p:txBody>
          <a:bodyPr>
            <a:normAutofit lnSpcReduction="10000"/>
          </a:bodyPr>
          <a:lstStyle/>
          <a:p>
            <a:pPr>
              <a:buNone/>
            </a:pPr>
            <a:r>
              <a:rPr lang="en-ZW" dirty="0"/>
              <a:t>Protocols used in the network layer include:</a:t>
            </a:r>
            <a:endParaRPr lang="en-US" dirty="0"/>
          </a:p>
          <a:p>
            <a:pPr lvl="0"/>
            <a:r>
              <a:rPr lang="en-ZW" dirty="0"/>
              <a:t>Enhanced Interior Gateway Routing protocol</a:t>
            </a:r>
            <a:endParaRPr lang="en-US" dirty="0"/>
          </a:p>
          <a:p>
            <a:pPr lvl="0"/>
            <a:r>
              <a:rPr lang="en-ZW" dirty="0"/>
              <a:t>Internet control message protocol(ICMP)</a:t>
            </a:r>
            <a:endParaRPr lang="en-US" dirty="0"/>
          </a:p>
          <a:p>
            <a:pPr lvl="0"/>
            <a:r>
              <a:rPr lang="en-ZW" dirty="0"/>
              <a:t>Internet Group Management protocol(IGMP)</a:t>
            </a:r>
            <a:endParaRPr lang="en-US" dirty="0"/>
          </a:p>
          <a:p>
            <a:pPr lvl="0"/>
            <a:r>
              <a:rPr lang="en-ZW" dirty="0"/>
              <a:t>Internet Control Message Protocol(ICMP)</a:t>
            </a:r>
            <a:endParaRPr lang="en-US" dirty="0"/>
          </a:p>
          <a:p>
            <a:pPr lvl="0"/>
            <a:r>
              <a:rPr lang="en-ZW" dirty="0"/>
              <a:t>Internet Protocol version 4 (IPV4)</a:t>
            </a:r>
            <a:endParaRPr lang="en-US" dirty="0"/>
          </a:p>
          <a:p>
            <a:pPr lvl="0"/>
            <a:r>
              <a:rPr lang="en-ZW" dirty="0"/>
              <a:t>Integrated Protocol version 6</a:t>
            </a:r>
            <a:endParaRPr lang="en-US" dirty="0"/>
          </a:p>
          <a:p>
            <a:r>
              <a:rPr lang="en-ZW" dirty="0"/>
              <a:t>Internet Protocol security(IPV6</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Data Link Layer</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ZW" dirty="0" smtClean="0"/>
              <a:t>The </a:t>
            </a:r>
            <a:r>
              <a:rPr lang="en-ZW" dirty="0"/>
              <a:t>data link layer provides the following functions in the OSI model:</a:t>
            </a:r>
            <a:endParaRPr lang="en-US" dirty="0"/>
          </a:p>
          <a:p>
            <a:pPr lvl="0"/>
            <a:r>
              <a:rPr lang="en-ZW" dirty="0"/>
              <a:t>Provides physical transmission of data and handles error notifications and flow control</a:t>
            </a:r>
            <a:endParaRPr lang="en-US" dirty="0"/>
          </a:p>
          <a:p>
            <a:pPr lvl="0"/>
            <a:r>
              <a:rPr lang="en-ZW" dirty="0"/>
              <a:t>Makes sure that messages are delivered to the correct device on a LAN using hardware addresses and translates the messages from the network layer into bits for the physical layer to transmit</a:t>
            </a:r>
            <a:endParaRPr lang="en-US" dirty="0"/>
          </a:p>
          <a:p>
            <a:pPr lvl="0"/>
            <a:r>
              <a:rPr lang="en-ZW" dirty="0"/>
              <a:t>Formats messages into data frames and adds customized header containing the hardware destination and source addresses.</a:t>
            </a:r>
            <a:endParaRPr lang="en-US" dirty="0"/>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Data link layer subdivisions</a:t>
            </a:r>
            <a:endParaRPr lang="en-US" dirty="0"/>
          </a:p>
        </p:txBody>
      </p:sp>
      <p:sp>
        <p:nvSpPr>
          <p:cNvPr id="3" name="Content Placeholder 2"/>
          <p:cNvSpPr>
            <a:spLocks noGrp="1"/>
          </p:cNvSpPr>
          <p:nvPr>
            <p:ph idx="1"/>
          </p:nvPr>
        </p:nvSpPr>
        <p:spPr/>
        <p:txBody>
          <a:bodyPr/>
          <a:lstStyle/>
          <a:p>
            <a:pPr>
              <a:buNone/>
            </a:pPr>
            <a:r>
              <a:rPr lang="en-ZW" b="1" dirty="0"/>
              <a:t>The data link layer is made up of two layers:</a:t>
            </a:r>
            <a:endParaRPr lang="en-US" dirty="0"/>
          </a:p>
          <a:p>
            <a:pPr lvl="0">
              <a:buNone/>
            </a:pPr>
            <a:r>
              <a:rPr lang="en-ZW" dirty="0"/>
              <a:t>Logical Link Control (LLC) sub layer</a:t>
            </a:r>
            <a:endParaRPr lang="en-US" dirty="0"/>
          </a:p>
          <a:p>
            <a:pPr lvl="0"/>
            <a:r>
              <a:rPr lang="en-ZW" dirty="0"/>
              <a:t>Primary functions of the LLC are:</a:t>
            </a:r>
            <a:endParaRPr lang="en-US" dirty="0"/>
          </a:p>
          <a:p>
            <a:r>
              <a:rPr lang="en-US" dirty="0"/>
              <a:t>- multiplexing </a:t>
            </a:r>
          </a:p>
          <a:p>
            <a:r>
              <a:rPr lang="en-US" dirty="0"/>
              <a:t>- flow control </a:t>
            </a:r>
            <a:br>
              <a:rPr lang="en-US" dirty="0"/>
            </a:b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Media Access Control (MAC) sub layer</a:t>
            </a:r>
            <a:endParaRPr lang="en-US" dirty="0"/>
          </a:p>
        </p:txBody>
      </p:sp>
      <p:sp>
        <p:nvSpPr>
          <p:cNvPr id="3" name="Content Placeholder 2"/>
          <p:cNvSpPr>
            <a:spLocks noGrp="1"/>
          </p:cNvSpPr>
          <p:nvPr>
            <p:ph idx="1"/>
          </p:nvPr>
        </p:nvSpPr>
        <p:spPr/>
        <p:txBody>
          <a:bodyPr/>
          <a:lstStyle/>
          <a:p>
            <a:pPr>
              <a:buNone/>
            </a:pPr>
            <a:endParaRPr lang="en-US" dirty="0"/>
          </a:p>
          <a:p>
            <a:pPr>
              <a:buNone/>
            </a:pPr>
            <a:r>
              <a:rPr lang="en-ZW" dirty="0"/>
              <a:t>Main functions of the MAC sub layer are:</a:t>
            </a:r>
            <a:endParaRPr lang="en-US" dirty="0"/>
          </a:p>
          <a:p>
            <a:pPr lvl="0"/>
            <a:r>
              <a:rPr lang="en-US" dirty="0"/>
              <a:t>provides addressing and channel access control mechanisms that make it possible for several terminals or network nodes to communicate within a multipoint network, typically a local area network (LAN)" </a:t>
            </a:r>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Media access control</a:t>
            </a:r>
            <a:endParaRPr lang="en-US" dirty="0"/>
          </a:p>
        </p:txBody>
      </p:sp>
      <p:sp>
        <p:nvSpPr>
          <p:cNvPr id="3" name="Content Placeholder 2"/>
          <p:cNvSpPr>
            <a:spLocks noGrp="1"/>
          </p:cNvSpPr>
          <p:nvPr>
            <p:ph idx="1"/>
          </p:nvPr>
        </p:nvSpPr>
        <p:spPr/>
        <p:txBody>
          <a:bodyPr/>
          <a:lstStyle/>
          <a:p>
            <a:pPr lvl="0"/>
            <a:r>
              <a:rPr lang="en-US" dirty="0" smtClean="0"/>
              <a:t>Provides </a:t>
            </a:r>
            <a:r>
              <a:rPr lang="en-US" dirty="0"/>
              <a:t>the physical specifications of communication between devices over a network. </a:t>
            </a:r>
            <a:endParaRPr lang="en-US" dirty="0" smtClean="0"/>
          </a:p>
          <a:p>
            <a:pPr lvl="0">
              <a:buNone/>
            </a:pPr>
            <a:r>
              <a:rPr lang="en-US" dirty="0" smtClean="0"/>
              <a:t>Under </a:t>
            </a:r>
            <a:r>
              <a:rPr lang="en-US" dirty="0"/>
              <a:t>MAC, every device on a network has a physical address that identifies it to the rest of the network. </a:t>
            </a:r>
            <a:br>
              <a:rPr lang="en-US" dirty="0"/>
            </a:br>
            <a:endParaRPr lang="en-US" dirty="0"/>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Physical Layer</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Physical </a:t>
            </a:r>
            <a:r>
              <a:rPr lang="en-US" dirty="0"/>
              <a:t>layer is the lowest layer of all. It is responsible for sending bits from one computer to another. This layer is not concerned with the meaning of the bits and deals with the physical connection to the network and with transmission and reception of signals. </a:t>
            </a:r>
          </a:p>
          <a:p>
            <a:r>
              <a:rPr lang="en-US" dirty="0"/>
              <a:t>This layer defines electrical and physical details represented as 0 or a 1. How many pins a network will contain, when the data can be transmitted or not and how the data would be synchronized. </a:t>
            </a: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dirty="0" smtClean="0"/>
              <a:t>The physical layer functions are: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pPr lvl="0"/>
            <a:r>
              <a:rPr lang="en-US" dirty="0" smtClean="0"/>
              <a:t>Representation </a:t>
            </a:r>
            <a:r>
              <a:rPr lang="en-US" dirty="0"/>
              <a:t>of Bits: Data in this layer consists of stream of bits. The bits must be encoded into signals for transmission. It defines the type of encoding i.e. how 0's and 1's are changed to signal</a:t>
            </a:r>
          </a:p>
          <a:p>
            <a:pPr lvl="0"/>
            <a:r>
              <a:rPr lang="en-US" dirty="0"/>
              <a:t>Data Rate: This layer defines the rate of transmission which is the number of bits per second</a:t>
            </a:r>
          </a:p>
          <a:p>
            <a:pPr lvl="0"/>
            <a:r>
              <a:rPr lang="en-US" dirty="0"/>
              <a:t>Synchronization: It deals with the synchronization of the transmitter and receiver. The sender and receiver are synchronized at bit level</a:t>
            </a:r>
          </a:p>
          <a:p>
            <a:pPr lvl="0"/>
            <a:r>
              <a:rPr lang="en-US" dirty="0"/>
              <a:t>Interface: The physical layer defines the transmission interface between devices and transmission medium </a:t>
            </a:r>
          </a:p>
          <a:p>
            <a:pPr>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Physical layer functions</a:t>
            </a:r>
            <a:endParaRPr lang="en-US" dirty="0"/>
          </a:p>
        </p:txBody>
      </p:sp>
      <p:sp>
        <p:nvSpPr>
          <p:cNvPr id="3" name="Content Placeholder 2"/>
          <p:cNvSpPr>
            <a:spLocks noGrp="1"/>
          </p:cNvSpPr>
          <p:nvPr>
            <p:ph idx="1"/>
          </p:nvPr>
        </p:nvSpPr>
        <p:spPr/>
        <p:txBody>
          <a:bodyPr/>
          <a:lstStyle/>
          <a:p>
            <a:pPr lvl="0"/>
            <a:r>
              <a:rPr lang="en-US" dirty="0" smtClean="0"/>
              <a:t>Line Configuration: This layer connects devices with the medium: Point to Point topologies: Devices must be connected using the following topologies: Mesh, Star, Ring and Bus</a:t>
            </a:r>
          </a:p>
          <a:p>
            <a:pPr lvl="0">
              <a:buNone/>
            </a:pPr>
            <a:r>
              <a:rPr lang="en-US" dirty="0" smtClean="0"/>
              <a:t>Transmission Modes: Physical Layer defines the direction of transmission between two devices: </a:t>
            </a:r>
          </a:p>
          <a:p>
            <a:pPr>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layer transmission modes</a:t>
            </a:r>
            <a:endParaRPr lang="en-US" dirty="0"/>
          </a:p>
        </p:txBody>
      </p:sp>
      <p:sp>
        <p:nvSpPr>
          <p:cNvPr id="3" name="Content Placeholder 2"/>
          <p:cNvSpPr>
            <a:spLocks noGrp="1"/>
          </p:cNvSpPr>
          <p:nvPr>
            <p:ph idx="1"/>
          </p:nvPr>
        </p:nvSpPr>
        <p:spPr/>
        <p:txBody>
          <a:bodyPr/>
          <a:lstStyle/>
          <a:p>
            <a:pPr lvl="0">
              <a:buNone/>
            </a:pPr>
            <a:r>
              <a:rPr lang="en-US" dirty="0"/>
              <a:t>Transmission Modes</a:t>
            </a:r>
            <a:r>
              <a:rPr lang="en-US" dirty="0" smtClean="0"/>
              <a:t>:</a:t>
            </a:r>
            <a:endParaRPr lang="en-US" dirty="0"/>
          </a:p>
          <a:p>
            <a:pPr lvl="0"/>
            <a:r>
              <a:rPr lang="en-US" dirty="0"/>
              <a:t>Simplex</a:t>
            </a:r>
          </a:p>
          <a:p>
            <a:pPr lvl="0"/>
            <a:r>
              <a:rPr lang="en-US" dirty="0"/>
              <a:t>Half Duplex,</a:t>
            </a:r>
          </a:p>
          <a:p>
            <a:pPr lvl="0"/>
            <a:r>
              <a:rPr lang="en-US" dirty="0"/>
              <a:t>Full Duplex</a:t>
            </a:r>
          </a:p>
          <a:p>
            <a:r>
              <a:rPr lang="en-US" dirty="0"/>
              <a:t>Deals with baseband and broadband transmission</a:t>
            </a:r>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400</TotalTime>
  <Words>1544</Words>
  <Application>Microsoft Office PowerPoint</Application>
  <PresentationFormat>On-screen Show (4:3)</PresentationFormat>
  <Paragraphs>142</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Lecture 16: Communication Protocols</vt:lpstr>
      <vt:lpstr>Communication protocols</vt:lpstr>
      <vt:lpstr>Communication protocols</vt:lpstr>
      <vt:lpstr>How protocols work </vt:lpstr>
      <vt:lpstr>Slide 5</vt:lpstr>
      <vt:lpstr>Sending computer</vt:lpstr>
      <vt:lpstr> The receiving computer </vt:lpstr>
      <vt:lpstr>Open System Interconnection model (OSI) </vt:lpstr>
      <vt:lpstr>OSI</vt:lpstr>
      <vt:lpstr>The seven OSI layers</vt:lpstr>
      <vt:lpstr>OSI Model and functions</vt:lpstr>
      <vt:lpstr>Specific functions performed by specific protocols</vt:lpstr>
      <vt:lpstr>Layers functions and protocols</vt:lpstr>
      <vt:lpstr>Protocols used in the application layer</vt:lpstr>
      <vt:lpstr>Protocols used in the application layer</vt:lpstr>
      <vt:lpstr> Presentation layer </vt:lpstr>
      <vt:lpstr>Presentation layer protocols</vt:lpstr>
      <vt:lpstr> Session layer </vt:lpstr>
      <vt:lpstr>Example:</vt:lpstr>
      <vt:lpstr>Protocols used in session layer</vt:lpstr>
      <vt:lpstr> Transport layer </vt:lpstr>
      <vt:lpstr>Slide 22</vt:lpstr>
      <vt:lpstr>Slide 23</vt:lpstr>
      <vt:lpstr> Network layer </vt:lpstr>
      <vt:lpstr>Protocols used in the network layer</vt:lpstr>
      <vt:lpstr> Data Link Layer </vt:lpstr>
      <vt:lpstr>Data link layer subdivisions</vt:lpstr>
      <vt:lpstr>Media Access Control (MAC) sub layer</vt:lpstr>
      <vt:lpstr>Media access control</vt:lpstr>
      <vt:lpstr> Physical Layer </vt:lpstr>
      <vt:lpstr>The physical layer functions are: </vt:lpstr>
      <vt:lpstr>Physical layer functions</vt:lpstr>
      <vt:lpstr>Physical layer transmission modes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16: Communication Protocols</dc:title>
  <dc:creator>langstone.shumba</dc:creator>
  <cp:lastModifiedBy>langstone.shumba</cp:lastModifiedBy>
  <cp:revision>4</cp:revision>
  <dcterms:created xsi:type="dcterms:W3CDTF">2018-06-04T07:44:41Z</dcterms:created>
  <dcterms:modified xsi:type="dcterms:W3CDTF">2018-06-19T06:17:05Z</dcterms:modified>
</cp:coreProperties>
</file>