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63" r:id="rId8"/>
    <p:sldId id="264" r:id="rId9"/>
    <p:sldId id="265" r:id="rId10"/>
    <p:sldId id="266" r:id="rId11"/>
    <p:sldId id="268" r:id="rId12"/>
    <p:sldId id="269" r:id="rId13"/>
    <p:sldId id="270" r:id="rId14"/>
    <p:sldId id="267" r:id="rId15"/>
    <p:sldId id="271" r:id="rId16"/>
    <p:sldId id="272" r:id="rId17"/>
    <p:sldId id="274" r:id="rId18"/>
    <p:sldId id="273"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7" d="100"/>
          <a:sy n="67" d="100"/>
        </p:scale>
        <p:origin x="1476"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F3F801C2-91F5-49D6-A40B-4B242E4E38E9}" type="datetimeFigureOut">
              <a:rPr lang="en-US" smtClean="0"/>
              <a:pPr/>
              <a:t>5/6/2019</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B45FDB62-C854-4795-97D7-6FCA1AD7D1DD}"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3F801C2-91F5-49D6-A40B-4B242E4E38E9}" type="datetimeFigureOut">
              <a:rPr lang="en-US" smtClean="0"/>
              <a:pPr/>
              <a:t>5/6/2019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5FDB62-C854-4795-97D7-6FCA1AD7D1D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F3F801C2-91F5-49D6-A40B-4B242E4E38E9}" type="datetimeFigureOut">
              <a:rPr lang="en-US" smtClean="0"/>
              <a:pPr/>
              <a:t>5/6/2019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5FDB62-C854-4795-97D7-6FCA1AD7D1DD}"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3F801C2-91F5-49D6-A40B-4B242E4E38E9}" type="datetimeFigureOut">
              <a:rPr lang="en-US" smtClean="0"/>
              <a:pPr/>
              <a:t>5/6/2019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5FDB62-C854-4795-97D7-6FCA1AD7D1D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F3F801C2-91F5-49D6-A40B-4B242E4E38E9}" type="datetimeFigureOut">
              <a:rPr lang="en-US" smtClean="0"/>
              <a:pPr/>
              <a:t>5/6/2019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45FDB62-C854-4795-97D7-6FCA1AD7D1D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F3F801C2-91F5-49D6-A40B-4B242E4E38E9}" type="datetimeFigureOut">
              <a:rPr lang="en-US" smtClean="0"/>
              <a:pPr/>
              <a:t>5/6/2019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45FDB62-C854-4795-97D7-6FCA1AD7D1D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3F801C2-91F5-49D6-A40B-4B242E4E38E9}" type="datetimeFigureOut">
              <a:rPr lang="en-US" smtClean="0"/>
              <a:pPr/>
              <a:t>5/6/2019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45FDB62-C854-4795-97D7-6FCA1AD7D1D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3F801C2-91F5-49D6-A40B-4B242E4E38E9}" type="datetimeFigureOut">
              <a:rPr lang="en-US" smtClean="0"/>
              <a:pPr/>
              <a:t>5/6/2019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5FDB62-C854-4795-97D7-6FCA1AD7D1D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F3F801C2-91F5-49D6-A40B-4B242E4E38E9}" type="datetimeFigureOut">
              <a:rPr lang="en-US" smtClean="0"/>
              <a:pPr/>
              <a:t>5/6/2019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B45FDB62-C854-4795-97D7-6FCA1AD7D1DD}"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3F801C2-91F5-49D6-A40B-4B242E4E38E9}" type="datetimeFigureOut">
              <a:rPr lang="en-US" smtClean="0"/>
              <a:pPr/>
              <a:t>5/6/2019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5FDB62-C854-4795-97D7-6FCA1AD7D1D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3F801C2-91F5-49D6-A40B-4B242E4E38E9}" type="datetimeFigureOut">
              <a:rPr lang="en-US" smtClean="0"/>
              <a:pPr/>
              <a:t>5/6/2019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5FDB62-C854-4795-97D7-6FCA1AD7D1D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F3F801C2-91F5-49D6-A40B-4B242E4E38E9}" type="datetimeFigureOut">
              <a:rPr lang="en-US" smtClean="0"/>
              <a:pPr/>
              <a:t>5/6/2019</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45FDB62-C854-4795-97D7-6FCA1AD7D1DD}"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smtClean="0"/>
              <a:t>Lecture 5: Local asynchronous Transmission</a:t>
            </a:r>
            <a:endParaRPr lang="en-US" dirty="0"/>
          </a:p>
        </p:txBody>
      </p:sp>
      <p:sp>
        <p:nvSpPr>
          <p:cNvPr id="3" name="Content Placeholder 2"/>
          <p:cNvSpPr>
            <a:spLocks noGrp="1"/>
          </p:cNvSpPr>
          <p:nvPr>
            <p:ph idx="1"/>
          </p:nvPr>
        </p:nvSpPr>
        <p:spPr/>
        <p:txBody>
          <a:bodyPr>
            <a:normAutofit/>
          </a:bodyPr>
          <a:lstStyle/>
          <a:p>
            <a:pPr>
              <a:buNone/>
            </a:pPr>
            <a:r>
              <a:rPr lang="en-ZW" b="1" dirty="0"/>
              <a:t>Transmission modes</a:t>
            </a:r>
            <a:endParaRPr lang="en-US" b="1" dirty="0"/>
          </a:p>
          <a:p>
            <a:pPr>
              <a:buNone/>
            </a:pPr>
            <a:r>
              <a:rPr lang="en-ZW" dirty="0"/>
              <a:t>Transmission is the manner in which data is sent over the underlying medium. There are two fundamental categories:</a:t>
            </a:r>
            <a:endParaRPr lang="en-US" dirty="0"/>
          </a:p>
          <a:p>
            <a:pPr lvl="0"/>
            <a:r>
              <a:rPr lang="en-ZW" dirty="0"/>
              <a:t>Serial, that is sending one bit at a time over a communication medium</a:t>
            </a:r>
            <a:endParaRPr lang="en-US" dirty="0"/>
          </a:p>
          <a:p>
            <a:pPr lvl="0"/>
            <a:r>
              <a:rPr lang="en-ZW" dirty="0"/>
              <a:t>Parallel, that is sending multiple bits at the same time</a:t>
            </a:r>
            <a:endParaRPr lang="en-US" dirty="0"/>
          </a:p>
          <a:p>
            <a:r>
              <a:rPr lang="en-ZW" dirty="0"/>
              <a:t>Transmission modes can further be classified as shown in figure 20 below:</a:t>
            </a:r>
            <a:endParaRPr lang="en-US" dirty="0"/>
          </a:p>
          <a:p>
            <a:pPr>
              <a:buNone/>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 </a:t>
            </a:r>
            <a:endParaRPr lang="en-US"/>
          </a:p>
        </p:txBody>
      </p:sp>
      <p:sp>
        <p:nvSpPr>
          <p:cNvPr id="3" name="Content Placeholder 2"/>
          <p:cNvSpPr>
            <a:spLocks noGrp="1"/>
          </p:cNvSpPr>
          <p:nvPr>
            <p:ph idx="1"/>
          </p:nvPr>
        </p:nvSpPr>
        <p:spPr/>
        <p:txBody>
          <a:bodyPr/>
          <a:lstStyle/>
          <a:p>
            <a:pPr>
              <a:buNone/>
            </a:pPr>
            <a:endParaRPr lang="en-US" dirty="0" smtClean="0"/>
          </a:p>
          <a:p>
            <a:pPr>
              <a:buNone/>
            </a:pPr>
            <a:endParaRPr lang="en-US" dirty="0" smtClean="0"/>
          </a:p>
          <a:p>
            <a:pPr>
              <a:buNone/>
            </a:pPr>
            <a:endParaRPr lang="en-US" dirty="0" smtClean="0"/>
          </a:p>
          <a:p>
            <a:pPr>
              <a:buNone/>
            </a:pPr>
            <a:r>
              <a:rPr lang="en-US" dirty="0" smtClean="0"/>
              <a:t>			</a:t>
            </a:r>
            <a:endParaRPr lang="en-US" dirty="0"/>
          </a:p>
        </p:txBody>
      </p:sp>
      <p:pic>
        <p:nvPicPr>
          <p:cNvPr id="4" name="Picture 3"/>
          <p:cNvPicPr/>
          <p:nvPr/>
        </p:nvPicPr>
        <p:blipFill>
          <a:blip r:embed="rId2" cstate="print"/>
          <a:srcRect l="20994" t="38462" r="23237" b="12251"/>
          <a:stretch>
            <a:fillRect/>
          </a:stretch>
        </p:blipFill>
        <p:spPr bwMode="auto">
          <a:xfrm>
            <a:off x="457200" y="609600"/>
            <a:ext cx="8229600" cy="5410199"/>
          </a:xfrm>
          <a:prstGeom prst="rect">
            <a:avLst/>
          </a:prstGeom>
          <a:noFill/>
          <a:ln w="9525">
            <a:noFill/>
            <a:miter lim="8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ZW" dirty="0" smtClean="0"/>
              <a:t>Parallel transmission:</a:t>
            </a:r>
            <a:br>
              <a:rPr lang="en-ZW" dirty="0" smtClean="0"/>
            </a:b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ZW" dirty="0" smtClean="0"/>
              <a:t>- </a:t>
            </a:r>
            <a:r>
              <a:rPr lang="en-ZW" sz="3500" dirty="0" smtClean="0"/>
              <a:t>sending of multiple data bits at the same time over separate data lines</a:t>
            </a:r>
          </a:p>
          <a:p>
            <a:pPr>
              <a:buNone/>
            </a:pPr>
            <a:r>
              <a:rPr lang="en-ZW" sz="3500" dirty="0" smtClean="0"/>
              <a:t> - parallel transmission is used with wired medium that uses multiple independent wires. </a:t>
            </a:r>
          </a:p>
          <a:p>
            <a:pPr>
              <a:buNone/>
            </a:pPr>
            <a:r>
              <a:rPr lang="en-ZW" sz="3500" dirty="0" smtClean="0"/>
              <a:t>  - signals on all the wires are synchronized so that a bit propagates across each of the wires  precisely at the same time(see figure 22 below). </a:t>
            </a:r>
            <a:r>
              <a:rPr lang="en-ZW" dirty="0" smtClean="0"/>
              <a:t>													</a:t>
            </a:r>
            <a:endParaRPr lang="en-US" dirty="0" smtClean="0"/>
          </a:p>
          <a:p>
            <a:pPr>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endParaRPr lang="en-US" dirty="0" smtClean="0"/>
          </a:p>
          <a:p>
            <a:pPr>
              <a:buNone/>
            </a:pPr>
            <a:endParaRPr lang="en-US" dirty="0" smtClean="0"/>
          </a:p>
          <a:p>
            <a:pPr>
              <a:buNone/>
            </a:pPr>
            <a:endParaRPr lang="en-US" dirty="0" smtClean="0"/>
          </a:p>
          <a:p>
            <a:pPr>
              <a:buNone/>
            </a:pPr>
            <a:r>
              <a:rPr lang="en-US" dirty="0" smtClean="0"/>
              <a:t>		</a:t>
            </a:r>
            <a:endParaRPr lang="en-US" dirty="0"/>
          </a:p>
        </p:txBody>
      </p:sp>
      <p:pic>
        <p:nvPicPr>
          <p:cNvPr id="4" name="img" descr="http://www.rfwireless-world.com/images/serial-transmission-vs-parallel-transmission.jpg"/>
          <p:cNvPicPr/>
          <p:nvPr/>
        </p:nvPicPr>
        <p:blipFill>
          <a:blip r:embed="rId2" cstate="print"/>
          <a:srcRect b="45423"/>
          <a:stretch>
            <a:fillRect/>
          </a:stretch>
        </p:blipFill>
        <p:spPr bwMode="auto">
          <a:xfrm>
            <a:off x="457200" y="704088"/>
            <a:ext cx="8229600" cy="554431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r>
              <a:rPr lang="en-ZW" dirty="0" smtClean="0"/>
              <a:t>In figure above D0 –D7 represent the wires that carry the data bits from the transmitter side (sender) to the receiver side (receiver).</a:t>
            </a:r>
          </a:p>
          <a:p>
            <a:r>
              <a:rPr lang="en-ZW" dirty="0" smtClean="0"/>
              <a:t> The wire D0 carry the most significant bit (MSB) and D7 carry the least significant bit (LSB).</a:t>
            </a:r>
            <a:endParaRPr lang="en-US" dirty="0" smtClean="0"/>
          </a:p>
          <a:p>
            <a:r>
              <a:rPr lang="en-ZW" dirty="0" smtClean="0"/>
              <a:t>In addition to parallel wires that carry data, a parallel interface contains wires that allow the sender and the receiver to coordinate (not shown in figure 22).</a:t>
            </a:r>
            <a:endParaRPr lang="en-US" dirty="0" smtClean="0"/>
          </a:p>
          <a:p>
            <a:pPr>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ZW" b="1" dirty="0" smtClean="0"/>
              <a:t>Advantages of parallel transmission</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pPr lvl="0"/>
            <a:r>
              <a:rPr lang="en-ZW" dirty="0" smtClean="0"/>
              <a:t>High speed because a parallel interface can send N bits at the same time, that is N times faster than an equivalent serial interface.</a:t>
            </a:r>
            <a:endParaRPr lang="en-US" dirty="0" smtClean="0"/>
          </a:p>
          <a:p>
            <a:pPr lvl="0"/>
            <a:r>
              <a:rPr lang="en-ZW" dirty="0" smtClean="0"/>
              <a:t>A parallel interface matches the underlying computer hardware. </a:t>
            </a:r>
          </a:p>
          <a:p>
            <a:pPr lvl="0"/>
            <a:r>
              <a:rPr lang="en-ZW" dirty="0" smtClean="0"/>
              <a:t>This is because internally computer and communication hardware use parallel circuitry. </a:t>
            </a:r>
          </a:p>
          <a:p>
            <a:pPr lvl="0"/>
            <a:r>
              <a:rPr lang="en-ZW" dirty="0" smtClean="0"/>
              <a:t>So a parallel interface matches the internal hardware very well.</a:t>
            </a:r>
            <a:endParaRPr lang="en-US" dirty="0" smtClean="0"/>
          </a:p>
          <a:p>
            <a:pPr>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ZW" b="1" dirty="0" smtClean="0"/>
              <a:t/>
            </a:r>
            <a:br>
              <a:rPr lang="en-ZW" b="1" dirty="0" smtClean="0"/>
            </a:br>
            <a:r>
              <a:rPr lang="en-ZW" b="1" dirty="0" smtClean="0"/>
              <a:t>Disadvantages of parallel transmission</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pPr lvl="0"/>
            <a:r>
              <a:rPr lang="en-ZW" dirty="0" smtClean="0"/>
              <a:t>High cost of implementation. This arises from the fact that </a:t>
            </a:r>
            <a:r>
              <a:rPr lang="en-US" dirty="0" smtClean="0"/>
              <a:t>each bit requires its own line, so transferring several bits in parallel means providing several channels, several transmitters and several receivers</a:t>
            </a:r>
          </a:p>
          <a:p>
            <a:pPr lvl="0"/>
            <a:r>
              <a:rPr lang="en-US" dirty="0" smtClean="0"/>
              <a:t>The signals do not arrive at the receiver at the same time. This problem is known as a skew and obviously this fault will increase in severity as distance between sender and receiver grows larger</a:t>
            </a:r>
          </a:p>
          <a:p>
            <a:pPr>
              <a:buNone/>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ZW" b="1" dirty="0" smtClean="0"/>
              <a:t>Serial transmission</a:t>
            </a:r>
            <a:r>
              <a:rPr lang="en-US" b="1" dirty="0" smtClean="0"/>
              <a:t/>
            </a:r>
            <a:br>
              <a:rPr lang="en-US" b="1" dirty="0" smtClean="0"/>
            </a:br>
            <a:endParaRPr lang="en-US" dirty="0"/>
          </a:p>
        </p:txBody>
      </p:sp>
      <p:sp>
        <p:nvSpPr>
          <p:cNvPr id="3" name="Content Placeholder 2"/>
          <p:cNvSpPr>
            <a:spLocks noGrp="1"/>
          </p:cNvSpPr>
          <p:nvPr>
            <p:ph idx="1"/>
          </p:nvPr>
        </p:nvSpPr>
        <p:spPr>
          <a:xfrm>
            <a:off x="457200" y="1676400"/>
            <a:ext cx="8229600" cy="4525963"/>
          </a:xfrm>
        </p:spPr>
        <p:txBody>
          <a:bodyPr>
            <a:normAutofit fontScale="92500" lnSpcReduction="10000"/>
          </a:bodyPr>
          <a:lstStyle/>
          <a:p>
            <a:r>
              <a:rPr lang="en-ZW" dirty="0" smtClean="0"/>
              <a:t>This is the alternative to parallel transmission.</a:t>
            </a:r>
          </a:p>
          <a:p>
            <a:r>
              <a:rPr lang="en-ZW" dirty="0" smtClean="0"/>
              <a:t> In data communications emphasis is on speed.</a:t>
            </a:r>
          </a:p>
          <a:p>
            <a:pPr>
              <a:buNone/>
            </a:pPr>
            <a:r>
              <a:rPr lang="en-ZW" dirty="0" smtClean="0"/>
              <a:t>There are two major reasons why serial communication is preferred to parallel:</a:t>
            </a:r>
          </a:p>
          <a:p>
            <a:pPr lvl="0"/>
            <a:r>
              <a:rPr lang="en-ZW" dirty="0" smtClean="0"/>
              <a:t>Networks using serial mode can be extended over long distances at much less cost because fewer physical wires are needed and the intermediate components are less expensive .</a:t>
            </a:r>
          </a:p>
          <a:p>
            <a:pPr lvl="0"/>
            <a:endParaRPr lang="en-US" dirty="0" smtClean="0"/>
          </a:p>
          <a:p>
            <a:pPr lvl="0"/>
            <a:r>
              <a:rPr lang="en-ZW" dirty="0" smtClean="0"/>
              <a:t>The use of a single wire eliminates the skew problem prevalent in parallel transmission systems.</a:t>
            </a:r>
            <a:endParaRPr lang="en-US" dirty="0" smtClean="0"/>
          </a:p>
          <a:p>
            <a:pPr>
              <a:buNone/>
            </a:pPr>
            <a:r>
              <a:rPr lang="en-ZW" dirty="0" smtClean="0"/>
              <a:t> </a:t>
            </a:r>
            <a:endParaRPr lang="en-US" dirty="0" smtClean="0"/>
          </a:p>
          <a:p>
            <a:pPr>
              <a:buNone/>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a:buNone/>
            </a:pPr>
            <a:endParaRPr lang="en-US" dirty="0" smtClean="0"/>
          </a:p>
          <a:p>
            <a:pPr>
              <a:buNone/>
            </a:pPr>
            <a:endParaRPr lang="en-US" dirty="0" smtClean="0"/>
          </a:p>
          <a:p>
            <a:pPr>
              <a:buNone/>
            </a:pPr>
            <a:r>
              <a:rPr lang="en-US" dirty="0" smtClean="0"/>
              <a:t>		</a:t>
            </a:r>
            <a:endParaRPr lang="en-US" dirty="0"/>
          </a:p>
        </p:txBody>
      </p:sp>
      <p:pic>
        <p:nvPicPr>
          <p:cNvPr id="4" name="img" descr="http://image.slidesharecdn.com/serialtransmission-140520095750-phpapp01/95/serial-transmission-12-638.jpg?cb=1400580421"/>
          <p:cNvPicPr/>
          <p:nvPr/>
        </p:nvPicPr>
        <p:blipFill>
          <a:blip r:embed="rId2" cstate="print"/>
          <a:srcRect/>
          <a:stretch>
            <a:fillRect/>
          </a:stretch>
        </p:blipFill>
        <p:spPr bwMode="auto">
          <a:xfrm>
            <a:off x="533400" y="152400"/>
            <a:ext cx="8153400" cy="640080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ZW" b="1" dirty="0" smtClean="0"/>
              <a:t/>
            </a:r>
            <a:br>
              <a:rPr lang="en-ZW" b="1" dirty="0" smtClean="0"/>
            </a:br>
            <a:r>
              <a:rPr lang="en-ZW" b="1" dirty="0" smtClean="0"/>
              <a:t>Hardware needed to convert from parallel to serial and vice versa</a:t>
            </a:r>
            <a:r>
              <a:rPr lang="en-US" b="1" dirty="0" smtClean="0"/>
              <a:t/>
            </a:r>
            <a:br>
              <a:rPr lang="en-US" b="1" dirty="0" smtClean="0"/>
            </a:b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dirty="0" smtClean="0"/>
              <a:t>As can be seen in the diagram above,</a:t>
            </a:r>
          </a:p>
          <a:p>
            <a:r>
              <a:rPr lang="en-US" dirty="0" smtClean="0"/>
              <a:t> only one wire is needed to carry one bit at a time from the sender to the receiver. </a:t>
            </a:r>
          </a:p>
          <a:p>
            <a:r>
              <a:rPr lang="en-US" dirty="0" smtClean="0"/>
              <a:t>However there is need for hardware to convert from parallel to serial and from serial to parallel. </a:t>
            </a:r>
          </a:p>
          <a:p>
            <a:r>
              <a:rPr lang="en-US" dirty="0" smtClean="0"/>
              <a:t>Parallel to serial converter is needed to covert signals from the computer from parallel interface to serial and a serial to parallel converter is needed to convert from serial to parallel.</a:t>
            </a:r>
          </a:p>
          <a:p>
            <a:r>
              <a:rPr lang="en-US" dirty="0" smtClean="0"/>
              <a:t> In practice the two converters are combined because the process of converting from serial/parallel is done at both ends.</a:t>
            </a:r>
          </a:p>
          <a:p>
            <a:pPr>
              <a:buNone/>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ZW" b="1" dirty="0" smtClean="0"/>
              <a:t>Transmission Order (Bits and Bytes)</a:t>
            </a:r>
            <a:r>
              <a:rPr lang="en-US" b="1" dirty="0" smtClean="0"/>
              <a:t/>
            </a:r>
            <a:br>
              <a:rPr lang="en-US" b="1" dirty="0" smtClean="0"/>
            </a:br>
            <a:endParaRPr lang="en-US" dirty="0"/>
          </a:p>
        </p:txBody>
      </p:sp>
      <p:sp>
        <p:nvSpPr>
          <p:cNvPr id="3" name="Content Placeholder 2"/>
          <p:cNvSpPr>
            <a:spLocks noGrp="1"/>
          </p:cNvSpPr>
          <p:nvPr>
            <p:ph idx="1"/>
          </p:nvPr>
        </p:nvSpPr>
        <p:spPr/>
        <p:txBody>
          <a:bodyPr>
            <a:normAutofit/>
          </a:bodyPr>
          <a:lstStyle/>
          <a:p>
            <a:r>
              <a:rPr lang="en-ZW" dirty="0" smtClean="0"/>
              <a:t>Need to know which bit should be transmitted first MSB or LSB bit?</a:t>
            </a:r>
          </a:p>
          <a:p>
            <a:r>
              <a:rPr lang="en-ZW" dirty="0" smtClean="0"/>
              <a:t> In data communications circles the terms big-endian and little-endian are used to distinguish the order of transmission. </a:t>
            </a:r>
          </a:p>
          <a:p>
            <a:r>
              <a:rPr lang="en-ZW" dirty="0" smtClean="0"/>
              <a:t>The term big-endian is used to describe a communications system that sends the MSB first. </a:t>
            </a:r>
          </a:p>
          <a:p>
            <a:r>
              <a:rPr lang="en-ZW" dirty="0" smtClean="0"/>
              <a:t>Either of the two forms can be used but the transmitter (Sender) and the receiver must agree. </a:t>
            </a:r>
          </a:p>
          <a:p>
            <a:pPr>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ZW" dirty="0" smtClean="0"/>
              <a:t>Since data in computers is organized in bytes and each byte is in turn divided into bits (8 bits), it is possible to choose a byte order and a bit order independently. Ethernet technology specifies that data be sent byte big- </a:t>
            </a:r>
            <a:r>
              <a:rPr lang="en-ZW" dirty="0" err="1" smtClean="0"/>
              <a:t>endian</a:t>
            </a:r>
            <a:r>
              <a:rPr lang="en-ZW" dirty="0" smtClean="0"/>
              <a:t> and bit little-endian.</a:t>
            </a:r>
            <a:endParaRPr lang="en-US" dirty="0" smtClean="0"/>
          </a:p>
          <a:p>
            <a:pPr>
              <a:buNone/>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58762"/>
          </a:xfrm>
        </p:spPr>
        <p:txBody>
          <a:bodyPr>
            <a:normAutofit fontScale="90000"/>
          </a:bodyPr>
          <a:lstStyle/>
          <a:p>
            <a:endParaRPr lang="en-US" dirty="0"/>
          </a:p>
        </p:txBody>
      </p:sp>
      <p:pic>
        <p:nvPicPr>
          <p:cNvPr id="4" name="img" descr="http://test.classconnection.s3.amazonaws.com/360/flashcards/414360/png/endian.png"/>
          <p:cNvPicPr>
            <a:picLocks noGrp="1"/>
          </p:cNvPicPr>
          <p:nvPr>
            <p:ph idx="1"/>
          </p:nvPr>
        </p:nvPicPr>
        <p:blipFill>
          <a:blip r:embed="rId2" cstate="print"/>
          <a:srcRect/>
          <a:stretch>
            <a:fillRect/>
          </a:stretch>
        </p:blipFill>
        <p:spPr bwMode="auto">
          <a:xfrm>
            <a:off x="228600" y="1295400"/>
            <a:ext cx="8458200" cy="457200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r>
              <a:rPr lang="en-ZW" dirty="0" smtClean="0"/>
              <a:t>The hardware for making these conversions (parallel to serial and serial to parallel) can be simple and straight forward or can be complex depending on the serial communication mechanism. In its simplest case, a single chip known as a Universal Asynchronous Receiver and Transmitter (UART) performs the conversions and a related chip called the Universal Synchronous Asynchronous Receiver and Transmitter (USART) handles the conversion for synchronous networks</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Serial Transmission</a:t>
            </a:r>
            <a:endParaRPr lang="en-US" dirty="0"/>
          </a:p>
        </p:txBody>
      </p:sp>
      <p:sp>
        <p:nvSpPr>
          <p:cNvPr id="3" name="Content Placeholder 2"/>
          <p:cNvSpPr>
            <a:spLocks noGrp="1"/>
          </p:cNvSpPr>
          <p:nvPr>
            <p:ph idx="1"/>
          </p:nvPr>
        </p:nvSpPr>
        <p:spPr/>
        <p:txBody>
          <a:bodyPr>
            <a:normAutofit/>
          </a:bodyPr>
          <a:lstStyle/>
          <a:p>
            <a:pPr>
              <a:buNone/>
            </a:pPr>
            <a:r>
              <a:rPr lang="en-ZW" b="1" dirty="0" smtClean="0"/>
              <a:t>Asynchronous transmission</a:t>
            </a:r>
            <a:endParaRPr lang="en-US" b="1" dirty="0" smtClean="0"/>
          </a:p>
          <a:p>
            <a:pPr>
              <a:buFontTx/>
              <a:buChar char="-"/>
            </a:pPr>
            <a:r>
              <a:rPr lang="en-ZW" dirty="0" smtClean="0"/>
              <a:t>asynchronous simply means not at the same time. </a:t>
            </a:r>
          </a:p>
          <a:p>
            <a:pPr>
              <a:buFontTx/>
              <a:buChar char="-"/>
            </a:pPr>
            <a:r>
              <a:rPr lang="en-ZW" dirty="0" smtClean="0"/>
              <a:t>there is usually the clock confusion in asynchronous systems. </a:t>
            </a:r>
          </a:p>
          <a:p>
            <a:pPr>
              <a:buFontTx/>
              <a:buChar char="-"/>
            </a:pPr>
            <a:r>
              <a:rPr lang="en-ZW" dirty="0" smtClean="0"/>
              <a:t>Students tend to think that asynchronous communication systems do not use clocks..</a:t>
            </a:r>
            <a:endParaRPr lang="en-US" dirty="0" smtClean="0"/>
          </a:p>
          <a:p>
            <a:pPr>
              <a:buNone/>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Asynchronous clocks</a:t>
            </a:r>
            <a:endParaRPr lang="en-US" dirty="0"/>
          </a:p>
        </p:txBody>
      </p:sp>
      <p:sp>
        <p:nvSpPr>
          <p:cNvPr id="3" name="Content Placeholder 2"/>
          <p:cNvSpPr>
            <a:spLocks noGrp="1"/>
          </p:cNvSpPr>
          <p:nvPr>
            <p:ph idx="1"/>
          </p:nvPr>
        </p:nvSpPr>
        <p:spPr/>
        <p:txBody>
          <a:bodyPr>
            <a:normAutofit/>
          </a:bodyPr>
          <a:lstStyle/>
          <a:p>
            <a:pPr>
              <a:buFontTx/>
              <a:buChar char="-"/>
            </a:pPr>
            <a:r>
              <a:rPr lang="en-ZW" dirty="0" smtClean="0"/>
              <a:t>not true because they do use clocks but the clocked are independent -not synchronized</a:t>
            </a:r>
          </a:p>
          <a:p>
            <a:pPr>
              <a:buNone/>
            </a:pPr>
            <a:r>
              <a:rPr lang="en-ZW" dirty="0" smtClean="0"/>
              <a:t>A communication system is classified as asynchronous:</a:t>
            </a:r>
          </a:p>
          <a:p>
            <a:r>
              <a:rPr lang="en-ZW" dirty="0" smtClean="0"/>
              <a:t> if it allows the transmitting medium to be idle for an arbitrary time between two transmissions. </a:t>
            </a:r>
          </a:p>
          <a:p>
            <a:r>
              <a:rPr lang="en-ZW" dirty="0" smtClean="0"/>
              <a:t>Lacks coordination between transmitter and receiver</a:t>
            </a:r>
            <a:endParaRPr lang="en-US" dirty="0" smtClean="0"/>
          </a:p>
          <a:p>
            <a:pPr>
              <a:buFontTx/>
              <a:buChar char="-"/>
            </a:pP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Asynchronous overhead bits</a:t>
            </a:r>
            <a:endParaRPr lang="en-US" dirty="0"/>
          </a:p>
        </p:txBody>
      </p:sp>
      <p:sp>
        <p:nvSpPr>
          <p:cNvPr id="3" name="Content Placeholder 2"/>
          <p:cNvSpPr>
            <a:spLocks noGrp="1"/>
          </p:cNvSpPr>
          <p:nvPr>
            <p:ph idx="1"/>
          </p:nvPr>
        </p:nvSpPr>
        <p:spPr/>
        <p:txBody>
          <a:bodyPr>
            <a:normAutofit/>
          </a:bodyPr>
          <a:lstStyle/>
          <a:p>
            <a:r>
              <a:rPr lang="en-ZW" dirty="0" smtClean="0"/>
              <a:t>Asynchronous systems /technologies usually transmit extra bits before each data is sent.</a:t>
            </a:r>
          </a:p>
          <a:p>
            <a:r>
              <a:rPr lang="en-ZW" dirty="0" smtClean="0"/>
              <a:t>Idea is to inform the receiver that a data transfer is starting. </a:t>
            </a:r>
          </a:p>
          <a:p>
            <a:r>
              <a:rPr lang="en-ZW" dirty="0" smtClean="0"/>
              <a:t>The extra bits allow the receiving mechanism to synchronize with the incoming signal.</a:t>
            </a:r>
          </a:p>
          <a:p>
            <a:r>
              <a:rPr lang="en-ZW" dirty="0" smtClean="0"/>
              <a:t> The extra bits are known by various names such as preamble, synchronization bits (SYN bits) and in others start bits.</a:t>
            </a:r>
            <a:endParaRPr lang="en-US" dirty="0" smtClean="0"/>
          </a:p>
          <a:p>
            <a:pPr>
              <a:buNone/>
            </a:pP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Asynchronous communications suitability</a:t>
            </a:r>
            <a:endParaRPr lang="en-US" dirty="0"/>
          </a:p>
        </p:txBody>
      </p:sp>
      <p:sp>
        <p:nvSpPr>
          <p:cNvPr id="3" name="Content Placeholder 2"/>
          <p:cNvSpPr>
            <a:spLocks noGrp="1"/>
          </p:cNvSpPr>
          <p:nvPr>
            <p:ph idx="1"/>
          </p:nvPr>
        </p:nvSpPr>
        <p:spPr/>
        <p:txBody>
          <a:bodyPr/>
          <a:lstStyle/>
          <a:p>
            <a:pPr marL="0" indent="0">
              <a:buNone/>
            </a:pPr>
            <a:r>
              <a:rPr lang="en-ZW" dirty="0" smtClean="0"/>
              <a:t>Type of communication suitable for </a:t>
            </a:r>
          </a:p>
          <a:p>
            <a:pPr>
              <a:buFontTx/>
              <a:buChar char="-"/>
            </a:pPr>
            <a:r>
              <a:rPr lang="en-ZW" dirty="0" smtClean="0"/>
              <a:t>applications where data is generated randomly e. g a user entering data into the computer using a keyboard, </a:t>
            </a:r>
          </a:p>
          <a:p>
            <a:pPr>
              <a:buFontTx/>
              <a:buChar char="-"/>
            </a:pPr>
            <a:r>
              <a:rPr lang="en-ZW" dirty="0" smtClean="0"/>
              <a:t>or when a user uses a mouse to click on a link to obtain a web page.</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ZW" b="1" dirty="0" smtClean="0"/>
              <a:t/>
            </a:r>
            <a:br>
              <a:rPr lang="en-ZW" b="1" dirty="0" smtClean="0"/>
            </a:br>
            <a:r>
              <a:rPr lang="en-ZW" b="1" dirty="0" smtClean="0"/>
              <a:t>RS -232 Asynchronous character transmission</a:t>
            </a:r>
            <a:r>
              <a:rPr lang="en-US" b="1" dirty="0" smtClean="0"/>
              <a:t/>
            </a:r>
            <a:br>
              <a:rPr lang="en-US" b="1" dirty="0" smtClean="0"/>
            </a:br>
            <a:endParaRPr lang="en-US" dirty="0"/>
          </a:p>
        </p:txBody>
      </p:sp>
      <p:sp>
        <p:nvSpPr>
          <p:cNvPr id="3" name="Content Placeholder 2"/>
          <p:cNvSpPr>
            <a:spLocks noGrp="1"/>
          </p:cNvSpPr>
          <p:nvPr>
            <p:ph idx="1"/>
          </p:nvPr>
        </p:nvSpPr>
        <p:spPr/>
        <p:txBody>
          <a:bodyPr>
            <a:normAutofit/>
          </a:bodyPr>
          <a:lstStyle/>
          <a:p>
            <a:pPr>
              <a:buNone/>
            </a:pPr>
            <a:r>
              <a:rPr lang="en-ZW" dirty="0" smtClean="0"/>
              <a:t>Asynchronous communication technology is regulated</a:t>
            </a:r>
          </a:p>
          <a:p>
            <a:r>
              <a:rPr lang="en-ZW" dirty="0" smtClean="0"/>
              <a:t> by Electronic Industries Alliance (EIA) </a:t>
            </a:r>
          </a:p>
          <a:p>
            <a:r>
              <a:rPr lang="en-ZW" dirty="0" smtClean="0"/>
              <a:t>Is widely accepted for character communication. </a:t>
            </a:r>
          </a:p>
          <a:p>
            <a:r>
              <a:rPr lang="en-ZW" dirty="0" smtClean="0"/>
              <a:t>The letters RS stand for registered standard (RS-232). Popularly known as RS-232-C and commonly abbreviated RS -232, the EIA standard specifies the following:</a:t>
            </a:r>
            <a:endParaRPr lang="en-US" dirty="0" smtClean="0"/>
          </a:p>
          <a:p>
            <a:pPr>
              <a:buNone/>
            </a:pP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RS-232 standards</a:t>
            </a:r>
            <a:endParaRPr lang="en-US" dirty="0"/>
          </a:p>
        </p:txBody>
      </p:sp>
      <p:sp>
        <p:nvSpPr>
          <p:cNvPr id="3" name="Content Placeholder 2"/>
          <p:cNvSpPr>
            <a:spLocks noGrp="1"/>
          </p:cNvSpPr>
          <p:nvPr>
            <p:ph idx="1"/>
          </p:nvPr>
        </p:nvSpPr>
        <p:spPr/>
        <p:txBody>
          <a:bodyPr>
            <a:normAutofit/>
          </a:bodyPr>
          <a:lstStyle/>
          <a:p>
            <a:pPr lvl="0"/>
            <a:r>
              <a:rPr lang="en-ZW" dirty="0" smtClean="0"/>
              <a:t>Details of physical connection, for example the code must be less than 50 feet long</a:t>
            </a:r>
            <a:endParaRPr lang="en-US" dirty="0" smtClean="0"/>
          </a:p>
          <a:p>
            <a:pPr lvl="0"/>
            <a:r>
              <a:rPr lang="en-ZW" dirty="0" smtClean="0"/>
              <a:t>Electrical details( voltage varies from -15 volts - +15 volts)</a:t>
            </a:r>
          </a:p>
          <a:p>
            <a:r>
              <a:rPr lang="en-ZW" dirty="0" smtClean="0"/>
              <a:t>Line coding(for example negative voltage corresponds to a logical 1 and positive voltage corresponds to a logical 0)</a:t>
            </a:r>
          </a:p>
          <a:p>
            <a:pPr lvl="0"/>
            <a:r>
              <a:rPr lang="en-ZW" dirty="0" smtClean="0"/>
              <a:t>,  RS -232 standard specifies that each data item must be a character(8 bits).</a:t>
            </a:r>
            <a:endParaRPr lang="en-US" dirty="0" smtClean="0"/>
          </a:p>
          <a:p>
            <a:endParaRPr lang="en-US" dirty="0" smtClean="0"/>
          </a:p>
          <a:p>
            <a:pPr lvl="0"/>
            <a:endParaRPr lang="en-US" dirty="0" smtClean="0"/>
          </a:p>
          <a:p>
            <a:pPr>
              <a:buNone/>
            </a:pP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Exception</a:t>
            </a:r>
            <a:endParaRPr lang="en-US" dirty="0"/>
          </a:p>
        </p:txBody>
      </p:sp>
      <p:sp>
        <p:nvSpPr>
          <p:cNvPr id="3" name="Content Placeholder 2"/>
          <p:cNvSpPr>
            <a:spLocks noGrp="1"/>
          </p:cNvSpPr>
          <p:nvPr>
            <p:ph idx="1"/>
          </p:nvPr>
        </p:nvSpPr>
        <p:spPr/>
        <p:txBody>
          <a:bodyPr>
            <a:normAutofit/>
          </a:bodyPr>
          <a:lstStyle/>
          <a:p>
            <a:r>
              <a:rPr lang="en-ZW" dirty="0" smtClean="0"/>
              <a:t>However the hardware can be configured to control the exact number of bits that can be transmitted per second</a:t>
            </a:r>
          </a:p>
          <a:p>
            <a:r>
              <a:rPr lang="en-ZW" dirty="0" smtClean="0"/>
              <a:t>a sender can transmit all the bits of a character one after the other without any delays between them.</a:t>
            </a:r>
            <a:endParaRPr lang="en-US" dirty="0" smtClean="0"/>
          </a:p>
          <a:p>
            <a:r>
              <a:rPr lang="en-ZW" dirty="0" smtClean="0"/>
              <a:t>For a receiver to know that data is on the way, a sender transmits an extra bit usually a 0, called a start bit before transmitting the bits of a character used.</a:t>
            </a:r>
            <a:endParaRPr lang="en-US" dirty="0" smtClean="0"/>
          </a:p>
          <a:p>
            <a:pPr>
              <a:buNone/>
            </a:pPr>
            <a:r>
              <a:rPr lang="en-ZW" dirty="0" smtClean="0"/>
              <a:t> </a:t>
            </a:r>
            <a:endParaRPr lang="en-US" dirty="0" smtClean="0"/>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p:cNvPicPr>
            <a:picLocks noGrp="1"/>
          </p:cNvPicPr>
          <p:nvPr>
            <p:ph idx="1"/>
          </p:nvPr>
        </p:nvPicPr>
        <p:blipFill>
          <a:blip r:embed="rId2" cstate="print"/>
          <a:srcRect l="25641" t="24786" r="26923" b="43590"/>
          <a:stretch>
            <a:fillRect/>
          </a:stretch>
        </p:blipFill>
        <p:spPr bwMode="auto">
          <a:xfrm>
            <a:off x="152400" y="1676400"/>
            <a:ext cx="8762999" cy="4343400"/>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3 overhead bits in each character transmitted</a:t>
            </a:r>
            <a:endParaRPr lang="en-US" dirty="0"/>
          </a:p>
        </p:txBody>
      </p:sp>
      <p:sp>
        <p:nvSpPr>
          <p:cNvPr id="3" name="Content Placeholder 2"/>
          <p:cNvSpPr>
            <a:spLocks noGrp="1"/>
          </p:cNvSpPr>
          <p:nvPr>
            <p:ph idx="1"/>
          </p:nvPr>
        </p:nvSpPr>
        <p:spPr/>
        <p:txBody>
          <a:bodyPr/>
          <a:lstStyle/>
          <a:p>
            <a:pPr>
              <a:buNone/>
            </a:pPr>
            <a:r>
              <a:rPr lang="en-ZW" dirty="0" smtClean="0"/>
              <a:t>Typical transmission in asynchronous is made up of the following overhead bits:</a:t>
            </a:r>
            <a:endParaRPr lang="en-US" dirty="0" smtClean="0"/>
          </a:p>
          <a:p>
            <a:pPr lvl="0"/>
            <a:r>
              <a:rPr lang="en-ZW" dirty="0" smtClean="0"/>
              <a:t>1 start bit</a:t>
            </a:r>
            <a:endParaRPr lang="en-US" dirty="0" smtClean="0"/>
          </a:p>
          <a:p>
            <a:pPr lvl="0"/>
            <a:r>
              <a:rPr lang="en-ZW" dirty="0" smtClean="0"/>
              <a:t>1 stop bit</a:t>
            </a:r>
            <a:endParaRPr lang="en-US" dirty="0" smtClean="0"/>
          </a:p>
          <a:p>
            <a:pPr lvl="0"/>
            <a:r>
              <a:rPr lang="en-ZW" dirty="0" smtClean="0"/>
              <a:t>1 parity bit</a:t>
            </a:r>
            <a:endParaRPr lang="en-US" dirty="0" smtClean="0"/>
          </a:p>
          <a:p>
            <a:r>
              <a:rPr lang="en-ZW" dirty="0" smtClean="0"/>
              <a:t>So efficiency of asynchronous transmission can be calculated as:</a:t>
            </a:r>
            <a:endParaRPr lang="en-US" dirty="0" smtClean="0"/>
          </a:p>
          <a:p>
            <a:pPr>
              <a:buNone/>
            </a:pP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Calculating Efficiency</a:t>
            </a:r>
            <a:endParaRPr lang="en-US" dirty="0"/>
          </a:p>
        </p:txBody>
      </p:sp>
      <p:sp>
        <p:nvSpPr>
          <p:cNvPr id="3" name="Content Placeholder 2"/>
          <p:cNvSpPr>
            <a:spLocks noGrp="1"/>
          </p:cNvSpPr>
          <p:nvPr>
            <p:ph idx="1"/>
          </p:nvPr>
        </p:nvSpPr>
        <p:spPr/>
        <p:txBody>
          <a:bodyPr/>
          <a:lstStyle/>
          <a:p>
            <a:pPr>
              <a:buNone/>
            </a:pPr>
            <a:endParaRPr lang="en-US" dirty="0" smtClean="0"/>
          </a:p>
          <a:p>
            <a:pPr>
              <a:buNone/>
            </a:pPr>
            <a:endParaRPr lang="en-US" dirty="0" smtClean="0"/>
          </a:p>
          <a:p>
            <a:pPr>
              <a:buNone/>
            </a:pPr>
            <a:endParaRPr lang="en-US" dirty="0" smtClean="0"/>
          </a:p>
          <a:p>
            <a:pPr>
              <a:buNone/>
            </a:pPr>
            <a:r>
              <a:rPr lang="en-US" dirty="0" smtClean="0"/>
              <a:t>			</a:t>
            </a:r>
            <a:endParaRPr lang="en-US" dirty="0"/>
          </a:p>
        </p:txBody>
      </p:sp>
      <p:pic>
        <p:nvPicPr>
          <p:cNvPr id="4" name="Picture 3"/>
          <p:cNvPicPr/>
          <p:nvPr/>
        </p:nvPicPr>
        <p:blipFill>
          <a:blip r:embed="rId2" cstate="print"/>
          <a:srcRect l="23558" t="24786" r="35096" b="57550"/>
          <a:stretch>
            <a:fillRect/>
          </a:stretch>
        </p:blipFill>
        <p:spPr bwMode="auto">
          <a:xfrm>
            <a:off x="609600" y="1847088"/>
            <a:ext cx="8229600" cy="4401312"/>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ZW" b="1" dirty="0" smtClean="0"/>
              <a:t>Synchronous Transmission</a:t>
            </a:r>
            <a:r>
              <a:rPr lang="en-US" b="1" dirty="0" smtClean="0"/>
              <a:t/>
            </a:r>
            <a:br>
              <a:rPr lang="en-US" b="1" dirty="0" smtClean="0"/>
            </a:br>
            <a:endParaRPr lang="en-US" dirty="0"/>
          </a:p>
        </p:txBody>
      </p:sp>
      <p:sp>
        <p:nvSpPr>
          <p:cNvPr id="3" name="Content Placeholder 2"/>
          <p:cNvSpPr>
            <a:spLocks noGrp="1"/>
          </p:cNvSpPr>
          <p:nvPr>
            <p:ph idx="1"/>
          </p:nvPr>
        </p:nvSpPr>
        <p:spPr/>
        <p:txBody>
          <a:bodyPr>
            <a:normAutofit/>
          </a:bodyPr>
          <a:lstStyle/>
          <a:p>
            <a:r>
              <a:rPr lang="en-US" dirty="0" smtClean="0"/>
              <a:t>chief alternative to asynchronous transmission. </a:t>
            </a:r>
          </a:p>
          <a:p>
            <a:pPr>
              <a:buNone/>
            </a:pPr>
            <a:r>
              <a:rPr lang="en-US" dirty="0" smtClean="0"/>
              <a:t> - the bits are transmitted continuously with no idle time between bits, that is, after transmitting the final bit of one data byte the sender transmits a bit of the next data byte.  </a:t>
            </a:r>
          </a:p>
          <a:p>
            <a:pPr>
              <a:buNone/>
            </a:pPr>
            <a:r>
              <a:rPr lang="en-US" dirty="0" smtClean="0"/>
              <a:t>- Receiver and sender remain synchronized - this explains why there is less synchronization overhead.</a:t>
            </a:r>
          </a:p>
          <a:p>
            <a:pPr>
              <a:buNone/>
            </a:pPr>
            <a:r>
              <a:rPr lang="en-US" dirty="0" smtClean="0"/>
              <a:t>- No use start stop bits but use a unique sequence of bits to notify the receiver that data is on the way. </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Synchronous frame</a:t>
            </a:r>
            <a:endParaRPr lang="en-US" dirty="0"/>
          </a:p>
        </p:txBody>
      </p:sp>
      <p:sp>
        <p:nvSpPr>
          <p:cNvPr id="3" name="Content Placeholder 2"/>
          <p:cNvSpPr>
            <a:spLocks noGrp="1"/>
          </p:cNvSpPr>
          <p:nvPr>
            <p:ph idx="1"/>
          </p:nvPr>
        </p:nvSpPr>
        <p:spPr/>
        <p:txBody>
          <a:bodyPr/>
          <a:lstStyle/>
          <a:p>
            <a:r>
              <a:rPr lang="en-US" dirty="0" smtClean="0"/>
              <a:t>The sequence of bits is known by a variety of names:</a:t>
            </a:r>
          </a:p>
          <a:p>
            <a:pPr>
              <a:buNone/>
            </a:pPr>
            <a:r>
              <a:rPr lang="en-US" dirty="0" smtClean="0"/>
              <a:t>- preamble, </a:t>
            </a:r>
          </a:p>
          <a:p>
            <a:pPr>
              <a:buNone/>
            </a:pPr>
            <a:r>
              <a:rPr lang="en-US" dirty="0" smtClean="0"/>
              <a:t>- SYN bits etc.</a:t>
            </a:r>
          </a:p>
          <a:p>
            <a:pPr>
              <a:buNone/>
            </a:pPr>
            <a:endParaRPr lang="en-US" dirty="0" smtClean="0"/>
          </a:p>
          <a:p>
            <a:pPr>
              <a:buNone/>
            </a:pPr>
            <a:r>
              <a:rPr lang="en-US" dirty="0" smtClean="0"/>
              <a:t>			</a:t>
            </a:r>
          </a:p>
          <a:p>
            <a:pPr>
              <a:buNone/>
            </a:pPr>
            <a:endParaRPr lang="en-US" dirty="0"/>
          </a:p>
        </p:txBody>
      </p:sp>
      <p:pic>
        <p:nvPicPr>
          <p:cNvPr id="4" name="Picture 3"/>
          <p:cNvPicPr/>
          <p:nvPr/>
        </p:nvPicPr>
        <p:blipFill rotWithShape="1">
          <a:blip r:embed="rId2" cstate="print"/>
          <a:srcRect l="25640" t="25181" r="52715" b="70735"/>
          <a:stretch/>
        </p:blipFill>
        <p:spPr bwMode="auto">
          <a:xfrm>
            <a:off x="914400" y="3581400"/>
            <a:ext cx="7696200" cy="1905000"/>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The SYN byte is sequence of unique bits that must not occur anywhere in the block of data or payload. </a:t>
            </a:r>
          </a:p>
          <a:p>
            <a:r>
              <a:rPr lang="en-US" dirty="0" smtClean="0"/>
              <a:t>Popular sequence of SYN bits used in the HDLC is 0111110. </a:t>
            </a:r>
          </a:p>
          <a:p>
            <a:r>
              <a:rPr lang="en-US" dirty="0" smtClean="0"/>
              <a:t>The first SYN bits (byte) mark the beginning and the second SYN bits (byte) mark the end of transmission.</a:t>
            </a:r>
          </a:p>
          <a:p>
            <a:pPr>
              <a:buNone/>
            </a:pP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b="1" dirty="0" smtClean="0"/>
              <a:t/>
            </a:r>
            <a:br>
              <a:rPr lang="en-US" b="1" dirty="0" smtClean="0"/>
            </a:br>
            <a:r>
              <a:rPr lang="en-US" b="1" dirty="0" smtClean="0"/>
              <a:t>Calculating efficiency of synchronous transmission</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a:buNone/>
            </a:pPr>
            <a:endParaRPr lang="en-US" dirty="0" smtClean="0"/>
          </a:p>
          <a:p>
            <a:pPr>
              <a:buNone/>
            </a:pPr>
            <a:endParaRPr lang="en-US" dirty="0" smtClean="0"/>
          </a:p>
          <a:p>
            <a:pPr>
              <a:buNone/>
            </a:pPr>
            <a:endParaRPr lang="en-US" dirty="0" smtClean="0"/>
          </a:p>
          <a:p>
            <a:pPr>
              <a:buNone/>
            </a:pPr>
            <a:r>
              <a:rPr lang="en-US" dirty="0" smtClean="0"/>
              <a:t>		</a:t>
            </a:r>
            <a:endParaRPr lang="en-US" dirty="0"/>
          </a:p>
        </p:txBody>
      </p:sp>
      <p:pic>
        <p:nvPicPr>
          <p:cNvPr id="4" name="Picture 3"/>
          <p:cNvPicPr/>
          <p:nvPr/>
        </p:nvPicPr>
        <p:blipFill>
          <a:blip r:embed="rId2" cstate="print"/>
          <a:srcRect l="20672" t="25018" r="28935" b="37060"/>
          <a:stretch>
            <a:fillRect/>
          </a:stretch>
        </p:blipFill>
        <p:spPr bwMode="auto">
          <a:xfrm>
            <a:off x="0" y="1524000"/>
            <a:ext cx="8915400" cy="4876800"/>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Advantages of asynchronous transmission</a:t>
            </a:r>
            <a:endParaRPr lang="en-US" dirty="0"/>
          </a:p>
        </p:txBody>
      </p:sp>
      <p:sp>
        <p:nvSpPr>
          <p:cNvPr id="3" name="Content Placeholder 2"/>
          <p:cNvSpPr>
            <a:spLocks noGrp="1"/>
          </p:cNvSpPr>
          <p:nvPr>
            <p:ph idx="1"/>
          </p:nvPr>
        </p:nvSpPr>
        <p:spPr/>
        <p:txBody>
          <a:bodyPr>
            <a:normAutofit/>
          </a:bodyPr>
          <a:lstStyle/>
          <a:p>
            <a:pPr lvl="0">
              <a:buFont typeface="Arial" pitchFamily="34" charset="0"/>
              <a:buChar char="•"/>
            </a:pPr>
            <a:r>
              <a:rPr lang="en-US" dirty="0" smtClean="0"/>
              <a:t>Simple, does not require synchronization of both communication sides</a:t>
            </a:r>
          </a:p>
          <a:p>
            <a:pPr lvl="0"/>
            <a:r>
              <a:rPr lang="en-US" dirty="0" smtClean="0"/>
              <a:t>Less expensive because asynchronous transmission require less hardware</a:t>
            </a:r>
          </a:p>
          <a:p>
            <a:pPr lvl="0"/>
            <a:r>
              <a:rPr lang="en-US" dirty="0" smtClean="0"/>
              <a:t>Set up is faster than other transmissions which means it is well suitable for applications where messages are generated at irregular intervals for example data entry using the keyboard.</a:t>
            </a:r>
          </a:p>
          <a:p>
            <a:pPr>
              <a:buNone/>
            </a:pP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219200"/>
          </a:xfrm>
        </p:spPr>
        <p:txBody>
          <a:bodyPr>
            <a:normAutofit fontScale="90000"/>
          </a:bodyPr>
          <a:lstStyle/>
          <a:p>
            <a:r>
              <a:rPr lang="en-US" dirty="0" smtClean="0"/>
              <a:t> </a:t>
            </a:r>
            <a:br>
              <a:rPr lang="en-US" dirty="0" smtClean="0"/>
            </a:br>
            <a:r>
              <a:rPr lang="en-US" dirty="0" smtClean="0"/>
              <a:t/>
            </a:r>
            <a:br>
              <a:rPr lang="en-US" dirty="0" smtClean="0"/>
            </a:br>
            <a:r>
              <a:rPr lang="en-US" b="1" dirty="0" smtClean="0"/>
              <a:t>Disadvantages</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pPr lvl="0"/>
            <a:r>
              <a:rPr lang="en-US" sz="3200" dirty="0" smtClean="0">
                <a:latin typeface="+mj-lt"/>
              </a:rPr>
              <a:t>Asynchronous transmission is slow</a:t>
            </a:r>
          </a:p>
          <a:p>
            <a:pPr lvl="0"/>
            <a:r>
              <a:rPr lang="en-US" sz="3200" dirty="0" smtClean="0">
                <a:latin typeface="+mj-lt"/>
              </a:rPr>
              <a:t>It has large relative overhead because a large portion of the transmitted bits are for control purposes.</a:t>
            </a:r>
          </a:p>
          <a:p>
            <a:pPr>
              <a:buNone/>
            </a:pPr>
            <a:endParaRPr lang="en-US" sz="3200" dirty="0">
              <a:latin typeface="+mj-l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ZW" sz="5400" b="1" dirty="0">
                <a:ea typeface="Segoe UI" pitchFamily="34" charset="0"/>
                <a:cs typeface="Segoe UI" pitchFamily="34" charset="0"/>
              </a:rPr>
              <a:t>Advantages and disadvantages of synchronous transmission</a:t>
            </a:r>
            <a:endParaRPr lang="en-US" sz="5400" b="1" dirty="0">
              <a:ea typeface="Segoe UI" pitchFamily="34" charset="0"/>
              <a:cs typeface="Segoe UI" pitchFamily="34" charset="0"/>
            </a:endParaRPr>
          </a:p>
        </p:txBody>
      </p:sp>
      <p:sp>
        <p:nvSpPr>
          <p:cNvPr id="3" name="Content Placeholder 2"/>
          <p:cNvSpPr>
            <a:spLocks noGrp="1"/>
          </p:cNvSpPr>
          <p:nvPr>
            <p:ph idx="1"/>
          </p:nvPr>
        </p:nvSpPr>
        <p:spPr/>
        <p:txBody>
          <a:bodyPr/>
          <a:lstStyle/>
          <a:p>
            <a:pPr marL="0" lvl="0" indent="0">
              <a:buNone/>
            </a:pPr>
            <a:r>
              <a:rPr lang="en-ZW" sz="3200" b="1" dirty="0" smtClean="0"/>
              <a:t>Advantages</a:t>
            </a:r>
          </a:p>
          <a:p>
            <a:pPr lvl="0"/>
            <a:r>
              <a:rPr lang="en-ZW" sz="3200" b="1" dirty="0" smtClean="0"/>
              <a:t>Low overhead</a:t>
            </a:r>
            <a:endParaRPr lang="en-US" sz="3200" b="1" dirty="0" smtClean="0"/>
          </a:p>
          <a:p>
            <a:pPr lvl="0"/>
            <a:r>
              <a:rPr lang="en-ZW" sz="3200" dirty="0" smtClean="0"/>
              <a:t>Greater through put</a:t>
            </a:r>
            <a:endParaRPr lang="en-US" sz="3200" dirty="0" smtClean="0"/>
          </a:p>
          <a:p>
            <a:pPr>
              <a:buNone/>
            </a:pPr>
            <a:r>
              <a:rPr lang="en-ZW" sz="3200" b="1" dirty="0" smtClean="0"/>
              <a:t> Disadvantages</a:t>
            </a:r>
            <a:endParaRPr lang="en-US" sz="3200" dirty="0" smtClean="0"/>
          </a:p>
          <a:p>
            <a:pPr lvl="0"/>
            <a:r>
              <a:rPr lang="en-ZW" sz="3200" dirty="0" smtClean="0"/>
              <a:t>Slightly more complex</a:t>
            </a:r>
            <a:endParaRPr lang="en-US" sz="3200" dirty="0" smtClean="0"/>
          </a:p>
          <a:p>
            <a:pPr lvl="0"/>
            <a:r>
              <a:rPr lang="en-ZW" sz="3200" dirty="0" smtClean="0"/>
              <a:t>Hardware is more expensive</a:t>
            </a:r>
            <a:endParaRPr lang="en-US" sz="3200" dirty="0" smtClean="0"/>
          </a:p>
          <a:p>
            <a:pPr>
              <a:buNone/>
            </a:pPr>
            <a:endParaRPr lang="en-US" sz="3200" dirty="0">
              <a:latin typeface="+mj-lt"/>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152</TotalTime>
  <Words>1410</Words>
  <Application>Microsoft Office PowerPoint</Application>
  <PresentationFormat>On-screen Show (4:3)</PresentationFormat>
  <Paragraphs>133</Paragraphs>
  <Slides>31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Constantia</vt:lpstr>
      <vt:lpstr>Segoe UI</vt:lpstr>
      <vt:lpstr>Wingdings 2</vt:lpstr>
      <vt:lpstr>Flow</vt:lpstr>
      <vt:lpstr>Lecture 5: Local asynchronous Transmission</vt:lpstr>
      <vt:lpstr> </vt:lpstr>
      <vt:lpstr>Parallel transmission: </vt:lpstr>
      <vt:lpstr>PowerPoint Presentation</vt:lpstr>
      <vt:lpstr>PowerPoint Presentation</vt:lpstr>
      <vt:lpstr>Advantages of parallel transmission </vt:lpstr>
      <vt:lpstr> Disadvantages of parallel transmission </vt:lpstr>
      <vt:lpstr>Serial transmission </vt:lpstr>
      <vt:lpstr>PowerPoint Presentation</vt:lpstr>
      <vt:lpstr> Hardware needed to convert from parallel to serial and vice versa </vt:lpstr>
      <vt:lpstr>Transmission Order (Bits and Bytes) </vt:lpstr>
      <vt:lpstr>PowerPoint Presentation</vt:lpstr>
      <vt:lpstr>PowerPoint Presentation</vt:lpstr>
      <vt:lpstr>PowerPoint Presentation</vt:lpstr>
      <vt:lpstr>Serial Transmission</vt:lpstr>
      <vt:lpstr> Asynchronous clocks</vt:lpstr>
      <vt:lpstr> Asynchronous overhead bits</vt:lpstr>
      <vt:lpstr>Asynchronous communications suitability</vt:lpstr>
      <vt:lpstr> RS -232 Asynchronous character transmission </vt:lpstr>
      <vt:lpstr>RS-232 standards</vt:lpstr>
      <vt:lpstr>Exception</vt:lpstr>
      <vt:lpstr>PowerPoint Presentation</vt:lpstr>
      <vt:lpstr>3 overhead bits in each character transmitted</vt:lpstr>
      <vt:lpstr>Calculating Efficiency</vt:lpstr>
      <vt:lpstr>Synchronous Transmission </vt:lpstr>
      <vt:lpstr> Synchronous frame</vt:lpstr>
      <vt:lpstr>PowerPoint Presentation</vt:lpstr>
      <vt:lpstr> Calculating efficiency of synchronous transmission </vt:lpstr>
      <vt:lpstr> Advantages of asynchronous transmission</vt:lpstr>
      <vt:lpstr>   Disadvantages </vt:lpstr>
      <vt:lpstr>Advantages and disadvantages of synchronous transmission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5: Local asynchronous Transmission</dc:title>
  <dc:creator>langstone.shumba</dc:creator>
  <cp:lastModifiedBy>Langstone Shumba</cp:lastModifiedBy>
  <cp:revision>14</cp:revision>
  <dcterms:created xsi:type="dcterms:W3CDTF">2017-09-07T14:06:49Z</dcterms:created>
  <dcterms:modified xsi:type="dcterms:W3CDTF">2019-05-06T10:14:59Z</dcterms:modified>
</cp:coreProperties>
</file>