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5" r:id="rId20"/>
    <p:sldId id="276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90" r:id="rId31"/>
    <p:sldId id="289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B4D7CE9-F6E3-4BB6-8C0D-06D54D48EDBC}" type="datetimeFigureOut">
              <a:rPr lang="en-US" smtClean="0"/>
              <a:pPr/>
              <a:t>4/15/2020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ECF7378-6B6E-4BF1-B840-A7A164D7CF49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Lecture 9:Modem Hardware for Modulation and Demodulation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 smtClean="0"/>
              <a:t>Requirements of data transmission over long distances:</a:t>
            </a:r>
          </a:p>
          <a:p>
            <a:r>
              <a:rPr lang="en-ZW" dirty="0" smtClean="0"/>
              <a:t>modulator at </a:t>
            </a:r>
            <a:r>
              <a:rPr lang="en-ZW" dirty="0"/>
              <a:t>one end and a </a:t>
            </a:r>
            <a:r>
              <a:rPr lang="en-ZW" dirty="0" smtClean="0"/>
              <a:t>demodulator </a:t>
            </a:r>
            <a:r>
              <a:rPr lang="en-ZW" dirty="0"/>
              <a:t>at the other </a:t>
            </a:r>
            <a:r>
              <a:rPr lang="en-ZW" dirty="0" smtClean="0"/>
              <a:t>end</a:t>
            </a:r>
          </a:p>
          <a:p>
            <a:r>
              <a:rPr lang="en-ZW" dirty="0" smtClean="0"/>
              <a:t>the </a:t>
            </a:r>
            <a:r>
              <a:rPr lang="en-ZW" dirty="0"/>
              <a:t>modulator and demodulator are embedded into one device</a:t>
            </a:r>
            <a:r>
              <a:rPr lang="en-ZW" dirty="0" smtClean="0"/>
              <a:t>.</a:t>
            </a:r>
          </a:p>
          <a:p>
            <a:r>
              <a:rPr lang="en-ZW" dirty="0" smtClean="0"/>
              <a:t>the </a:t>
            </a:r>
            <a:r>
              <a:rPr lang="en-ZW" dirty="0"/>
              <a:t>process of modulation and demodulation </a:t>
            </a:r>
            <a:r>
              <a:rPr lang="en-ZW" dirty="0" smtClean="0"/>
              <a:t>done at </a:t>
            </a:r>
            <a:r>
              <a:rPr lang="en-ZW" dirty="0"/>
              <a:t>both </a:t>
            </a:r>
            <a:r>
              <a:rPr lang="en-ZW" dirty="0" smtClean="0"/>
              <a:t>ends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most data communications systems are full duplex (duplex). </a:t>
            </a:r>
            <a:endParaRPr lang="en-ZW" dirty="0" smtClean="0"/>
          </a:p>
          <a:p>
            <a:r>
              <a:rPr lang="en-ZW" dirty="0" smtClean="0"/>
              <a:t>When </a:t>
            </a:r>
            <a:r>
              <a:rPr lang="en-ZW" dirty="0"/>
              <a:t>the modulator and demodulator are combined, the name modem is used</a:t>
            </a:r>
            <a:r>
              <a:rPr lang="en-ZW" dirty="0" smtClean="0"/>
              <a:t>.</a:t>
            </a:r>
          </a:p>
          <a:p>
            <a:pPr>
              <a:buNone/>
            </a:pPr>
            <a:r>
              <a:rPr lang="en-ZW" dirty="0" smtClean="0"/>
              <a:t> </a:t>
            </a:r>
            <a:r>
              <a:rPr lang="en-ZW" dirty="0"/>
              <a:t>The figure below shows the hardware used for modulation and demodulation in a 4- wire data communication system.</a:t>
            </a:r>
            <a:endParaRPr lang="en-US" dirty="0"/>
          </a:p>
          <a:p>
            <a:pPr>
              <a:buNone/>
            </a:pPr>
            <a:r>
              <a:rPr lang="en-ZW" dirty="0"/>
              <a:t>	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dirty="0"/>
              <a:t>Figure 45: Modem hardware for modulation and demodulation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32257" t="49466" r="30506" b="28826"/>
          <a:stretch>
            <a:fillRect/>
          </a:stretch>
        </p:blipFill>
        <p:spPr bwMode="auto">
          <a:xfrm>
            <a:off x="533400" y="1676400"/>
            <a:ext cx="81534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Operation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Data (series of data bits) from computer at site 1 is passed on to the modulator </a:t>
            </a:r>
            <a:r>
              <a:rPr lang="en-ZW" dirty="0" smtClean="0"/>
              <a:t>M.</a:t>
            </a:r>
          </a:p>
          <a:p>
            <a:r>
              <a:rPr lang="en-ZW" dirty="0" smtClean="0"/>
              <a:t>Modulator transforms </a:t>
            </a:r>
            <a:r>
              <a:rPr lang="en-ZW" dirty="0"/>
              <a:t>them into a suitable form for transmission over the 4-wire circuit. </a:t>
            </a:r>
            <a:endParaRPr lang="en-ZW" dirty="0" smtClean="0"/>
          </a:p>
          <a:p>
            <a:r>
              <a:rPr lang="en-ZW" dirty="0"/>
              <a:t>D</a:t>
            </a:r>
            <a:r>
              <a:rPr lang="en-ZW" dirty="0" smtClean="0"/>
              <a:t>emodulator </a:t>
            </a:r>
            <a:r>
              <a:rPr lang="en-ZW" dirty="0"/>
              <a:t>used in the computer at site 2 converts back the data signals to the original series of data bits.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>Dialup Modem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A </a:t>
            </a:r>
            <a:r>
              <a:rPr lang="en-ZW" dirty="0"/>
              <a:t>dial up modem uses an audio </a:t>
            </a:r>
            <a:r>
              <a:rPr lang="en-ZW" dirty="0" smtClean="0"/>
              <a:t>tone</a:t>
            </a:r>
          </a:p>
          <a:p>
            <a:r>
              <a:rPr lang="en-ZW" dirty="0" smtClean="0"/>
              <a:t>Dial up modems are common </a:t>
            </a:r>
            <a:r>
              <a:rPr lang="en-ZW" dirty="0"/>
              <a:t>in telecommunication systems. </a:t>
            </a:r>
            <a:endParaRPr lang="en-ZW" dirty="0" smtClean="0"/>
          </a:p>
          <a:p>
            <a:r>
              <a:rPr lang="en-ZW" dirty="0" smtClean="0"/>
              <a:t>This </a:t>
            </a:r>
            <a:r>
              <a:rPr lang="en-ZW" dirty="0"/>
              <a:t>type of modem is usually embedded in a computer and is referred to as an internal modem.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Conversion </a:t>
            </a:r>
            <a:r>
              <a:rPr lang="en-ZW" dirty="0"/>
              <a:t>of digital to </a:t>
            </a:r>
            <a:r>
              <a:rPr lang="en-ZW" dirty="0" err="1"/>
              <a:t>analog</a:t>
            </a:r>
            <a:r>
              <a:rPr lang="en-ZW" dirty="0"/>
              <a:t> signals and vice versa using a dialup modem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32335" t="31317" r="30794" b="54441"/>
          <a:stretch>
            <a:fillRect/>
          </a:stretch>
        </p:blipFill>
        <p:spPr bwMode="auto">
          <a:xfrm>
            <a:off x="609600" y="17526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 of a dial up modem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dirty="0"/>
              <a:t>The internal modulator at site 1 converts the digital signals into </a:t>
            </a:r>
            <a:r>
              <a:rPr lang="en-ZW" dirty="0" err="1" smtClean="0"/>
              <a:t>analog</a:t>
            </a:r>
            <a:r>
              <a:rPr lang="en-ZW" dirty="0" smtClean="0"/>
              <a:t> form </a:t>
            </a:r>
            <a:r>
              <a:rPr lang="en-ZW" dirty="0"/>
              <a:t>and are transmitted to the telephone  office where they are converted back(demodulated) to digital signals in the internal telephone system. </a:t>
            </a:r>
            <a:endParaRPr lang="en-ZW" dirty="0" smtClean="0"/>
          </a:p>
          <a:p>
            <a:pPr>
              <a:buNone/>
            </a:pPr>
            <a:r>
              <a:rPr lang="en-ZW" dirty="0" smtClean="0"/>
              <a:t>From </a:t>
            </a:r>
            <a:r>
              <a:rPr lang="en-ZW" dirty="0"/>
              <a:t>the telephone office the to the computer at site 2, the modulator converts the digital signals to </a:t>
            </a:r>
            <a:r>
              <a:rPr lang="en-ZW" dirty="0" err="1"/>
              <a:t>analog</a:t>
            </a:r>
            <a:r>
              <a:rPr lang="en-ZW" dirty="0"/>
              <a:t>  and the demodulator in the computer at site 2 converts them to digital data bits.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>QAM application to dialup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 smtClean="0"/>
              <a:t>QAM </a:t>
            </a:r>
            <a:r>
              <a:rPr lang="en-ZW" dirty="0"/>
              <a:t>is also used in with dialup modems in order to maximize the data transfer </a:t>
            </a:r>
            <a:r>
              <a:rPr lang="en-ZW" dirty="0" smtClean="0"/>
              <a:t>rates.</a:t>
            </a:r>
          </a:p>
          <a:p>
            <a:r>
              <a:rPr lang="en-ZW" dirty="0" smtClean="0"/>
              <a:t>Most </a:t>
            </a:r>
            <a:r>
              <a:rPr lang="en-ZW" dirty="0"/>
              <a:t>telephone systems use transfer frequencies that lie between 300 and 3000 Hz</a:t>
            </a:r>
            <a:r>
              <a:rPr lang="en-ZW" dirty="0" smtClean="0"/>
              <a:t>.</a:t>
            </a:r>
          </a:p>
          <a:p>
            <a:r>
              <a:rPr lang="en-ZW" dirty="0" smtClean="0"/>
              <a:t> </a:t>
            </a:r>
            <a:r>
              <a:rPr lang="en-ZW" dirty="0"/>
              <a:t>A given connection may not be able to handle the extremes very well. </a:t>
            </a:r>
            <a:endParaRPr lang="en-ZW" dirty="0" smtClean="0"/>
          </a:p>
          <a:p>
            <a:r>
              <a:rPr lang="en-ZW" dirty="0" smtClean="0"/>
              <a:t>In </a:t>
            </a:r>
            <a:r>
              <a:rPr lang="en-ZW" dirty="0"/>
              <a:t>order to guarantee better reproduction and lower noise, dialup modems use frequencies between 600 and 3000Hz which gives a bandwidth of 2400 Hz. (See figure </a:t>
            </a:r>
            <a:r>
              <a:rPr lang="en-ZW" dirty="0" smtClean="0"/>
              <a:t>below)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dirty="0"/>
              <a:t>Voice and data bandwidth on a dialup telephone connection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Picture 3" descr="https://www.cs.csustan.edu/%7Ejohn/classes/previous_semesters/CS3000_Communication_Networks/2015_02_Spring/Notes/CNAI_Figures/figure-10.11.jpeg"/>
          <p:cNvPicPr/>
          <p:nvPr/>
        </p:nvPicPr>
        <p:blipFill>
          <a:blip r:embed="rId2" cstate="print"/>
          <a:srcRect l="2600" r="4200" b="19667"/>
          <a:stretch>
            <a:fillRect/>
          </a:stretch>
        </p:blipFill>
        <p:spPr bwMode="auto">
          <a:xfrm>
            <a:off x="685800" y="1676400"/>
            <a:ext cx="74676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The V.32 and V.32bis are some of the common dialup modems. </a:t>
            </a:r>
            <a:endParaRPr lang="en-ZW" dirty="0" smtClean="0"/>
          </a:p>
          <a:p>
            <a:r>
              <a:rPr lang="en-ZW" dirty="0" smtClean="0"/>
              <a:t>The </a:t>
            </a:r>
            <a:r>
              <a:rPr lang="en-ZW" dirty="0"/>
              <a:t>V.32 dialup modem standard uses 32 combinations of amplitude shift and phase shift to achieve a full duplex data transfer rate of 9600 bits per second (bps). Figure </a:t>
            </a:r>
            <a:r>
              <a:rPr lang="en-ZW" dirty="0" smtClean="0"/>
              <a:t>below </a:t>
            </a:r>
            <a:r>
              <a:rPr lang="en-ZW" dirty="0"/>
              <a:t>shows V.32 constellation diagram.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dirty="0"/>
              <a:t>QAM V.32 constellation diagram.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4" name="img" descr="http://jugandi.com/ebooks/Digital/05%20Modems_files/image107.gif"/>
          <p:cNvPicPr/>
          <p:nvPr/>
        </p:nvPicPr>
        <p:blipFill>
          <a:blip r:embed="rId2" cstate="print"/>
          <a:srcRect r="-5510"/>
          <a:stretch>
            <a:fillRect/>
          </a:stretch>
        </p:blipFill>
        <p:spPr bwMode="auto">
          <a:xfrm>
            <a:off x="533400" y="1447801"/>
            <a:ext cx="7391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The V.32bis dialup modem standard uses 128 combinations amplitude shift and phase shift and achieves a full duplex transfer rate of 14,400 bps. </a:t>
            </a:r>
            <a:endParaRPr lang="en-ZW" dirty="0" smtClean="0"/>
          </a:p>
          <a:p>
            <a:r>
              <a:rPr lang="en-ZW" dirty="0" smtClean="0"/>
              <a:t>The </a:t>
            </a:r>
            <a:r>
              <a:rPr lang="en-ZW" dirty="0"/>
              <a:t>V.32bis modem can fall back to transfer rates of 12000, 9600, 7200 and 4800 bps.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Multiplexing is a technique of simultaneous transmission of multiple signals over single data </a:t>
            </a:r>
            <a:r>
              <a:rPr lang="en-US" dirty="0" smtClean="0"/>
              <a:t>link</a:t>
            </a:r>
          </a:p>
          <a:p>
            <a:r>
              <a:rPr lang="en-US" dirty="0" smtClean="0"/>
              <a:t> </a:t>
            </a:r>
            <a:r>
              <a:rPr lang="en-US" dirty="0"/>
              <a:t>A common type of multiplexing combines several low-speed signals for transmission over a single high-speed data link. </a:t>
            </a:r>
            <a:endParaRPr lang="en-US" dirty="0" smtClean="0"/>
          </a:p>
          <a:p>
            <a:r>
              <a:rPr lang="en-US" dirty="0" smtClean="0"/>
              <a:t>Without </a:t>
            </a:r>
            <a:r>
              <a:rPr lang="en-US" dirty="0"/>
              <a:t>using multiplexing technique it was going to be very expensive to use telephone communication, mobile communication, data communication and satellite communication.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most popular ways or techniques of multiplexing namely:</a:t>
            </a:r>
          </a:p>
          <a:p>
            <a:pPr lvl="0"/>
            <a:r>
              <a:rPr lang="en-ZW" dirty="0"/>
              <a:t>Frequency division multiplexing(FDM)</a:t>
            </a:r>
            <a:endParaRPr lang="en-US" dirty="0"/>
          </a:p>
          <a:p>
            <a:pPr lvl="0"/>
            <a:r>
              <a:rPr lang="en-ZW" dirty="0"/>
              <a:t>Time division multiplexing(TDM)</a:t>
            </a:r>
            <a:endParaRPr lang="en-US" dirty="0"/>
          </a:p>
          <a:p>
            <a:pPr>
              <a:buNone/>
            </a:pPr>
            <a:r>
              <a:rPr lang="en-ZW" dirty="0"/>
              <a:t>Time division multiplexing can be:</a:t>
            </a:r>
            <a:endParaRPr lang="en-US" dirty="0"/>
          </a:p>
          <a:p>
            <a:pPr lvl="0"/>
            <a:r>
              <a:rPr lang="en-ZW" dirty="0"/>
              <a:t>Synchronous TDM</a:t>
            </a:r>
            <a:endParaRPr lang="en-US" dirty="0"/>
          </a:p>
          <a:p>
            <a:pPr lvl="0"/>
            <a:r>
              <a:rPr lang="en-ZW" dirty="0"/>
              <a:t>Asynchronous TDM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Frequency Division 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FDM </a:t>
            </a:r>
            <a:r>
              <a:rPr lang="en-ZW" dirty="0" smtClean="0"/>
              <a:t>-most </a:t>
            </a:r>
            <a:r>
              <a:rPr lang="en-ZW" dirty="0"/>
              <a:t>popular with analogy transmission. </a:t>
            </a:r>
            <a:endParaRPr lang="en-ZW" dirty="0" smtClean="0"/>
          </a:p>
          <a:p>
            <a:r>
              <a:rPr lang="en-ZW" dirty="0" smtClean="0"/>
              <a:t>Technique </a:t>
            </a:r>
            <a:r>
              <a:rPr lang="en-ZW" dirty="0"/>
              <a:t>divides the total bandwidth available to the system into non-overlapping frequency sub-bands for transmission over a single high speed communication channel</a:t>
            </a:r>
            <a:r>
              <a:rPr lang="en-ZW" dirty="0" smtClean="0"/>
              <a:t>.</a:t>
            </a:r>
          </a:p>
          <a:p>
            <a:r>
              <a:rPr lang="en-ZW" dirty="0"/>
              <a:t>FDM uses guard band frequencies to separate data transmissions. It is (FDM) used for band pass and not (baseband) data transmission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/>
              <a:t>Band pass is an electronic device or circuit that allows signals between two specific frequencies to pass but does not allow other signals at other frequencies to pass</a:t>
            </a:r>
            <a:r>
              <a:rPr lang="en-ZW" dirty="0" smtClean="0"/>
              <a:t>.</a:t>
            </a:r>
          </a:p>
          <a:p>
            <a:r>
              <a:rPr lang="en-ZW" dirty="0" smtClean="0"/>
              <a:t> </a:t>
            </a:r>
            <a:r>
              <a:rPr lang="en-ZW" dirty="0"/>
              <a:t>So this device is used for filtering signals.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smtClean="0"/>
              <a:t>	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0994" t="30484" r="22276" b="8262"/>
          <a:stretch>
            <a:fillRect/>
          </a:stretch>
        </p:blipFill>
        <p:spPr bwMode="auto">
          <a:xfrm>
            <a:off x="609600" y="1219200"/>
            <a:ext cx="8229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>Explanation of the diagram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ZW" dirty="0" smtClean="0"/>
              <a:t>Consider </a:t>
            </a:r>
            <a:r>
              <a:rPr lang="en-ZW" dirty="0"/>
              <a:t>three terminals, (T1, T2, T3) sharing a voice grade communications channel (0 – 3 kHz</a:t>
            </a:r>
            <a:r>
              <a:rPr lang="en-ZW" dirty="0" smtClean="0"/>
              <a:t>)</a:t>
            </a:r>
          </a:p>
          <a:p>
            <a:r>
              <a:rPr lang="en-ZW" dirty="0" smtClean="0"/>
              <a:t> </a:t>
            </a:r>
            <a:r>
              <a:rPr lang="en-ZW" dirty="0"/>
              <a:t>The three channels are allocated each a channel (frequency) to transmit data. </a:t>
            </a:r>
            <a:endParaRPr lang="en-ZW" dirty="0" smtClean="0"/>
          </a:p>
          <a:p>
            <a:r>
              <a:rPr lang="en-ZW" dirty="0" smtClean="0"/>
              <a:t>To </a:t>
            </a:r>
            <a:r>
              <a:rPr lang="en-ZW" dirty="0"/>
              <a:t>avoid interference, 300 Hz guard bands separate each of the channels (see diagram above). </a:t>
            </a:r>
            <a:endParaRPr lang="en-ZW" dirty="0" smtClean="0"/>
          </a:p>
          <a:p>
            <a:r>
              <a:rPr lang="en-ZW" dirty="0" smtClean="0"/>
              <a:t>P1</a:t>
            </a:r>
            <a:r>
              <a:rPr lang="en-ZW" dirty="0"/>
              <a:t>, P2 and P3 are ports in a computer at a central site</a:t>
            </a:r>
            <a:r>
              <a:rPr lang="en-ZW" dirty="0" smtClean="0"/>
              <a:t>.</a:t>
            </a:r>
          </a:p>
          <a:p>
            <a:r>
              <a:rPr lang="en-ZW" dirty="0" smtClean="0"/>
              <a:t> </a:t>
            </a:r>
            <a:r>
              <a:rPr lang="en-ZW" dirty="0"/>
              <a:t>Data from terminal 1 will be received or buffered at P1, from terminal 2 at P2 and from terminal 3 at P3. </a:t>
            </a:r>
            <a:r>
              <a:rPr lang="en-ZW" dirty="0" smtClean="0"/>
              <a:t>Figure below </a:t>
            </a:r>
            <a:r>
              <a:rPr lang="en-ZW" dirty="0"/>
              <a:t>explains the basic concept of frequency division multiplexing.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dirty="0"/>
              <a:t/>
            </a:r>
            <a:br>
              <a:rPr lang="en-ZW" dirty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Basic </a:t>
            </a:r>
            <a:r>
              <a:rPr lang="en-ZW" dirty="0"/>
              <a:t>concept of frequency division multiplexing.</a:t>
            </a:r>
            <a:r>
              <a:rPr lang="en-US" dirty="0"/>
              <a:t/>
            </a:r>
            <a:br>
              <a:rPr lang="en-US" dirty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6061" t="39857" r="28874" b="28470"/>
          <a:stretch>
            <a:fillRect/>
          </a:stretch>
        </p:blipFill>
        <p:spPr bwMode="auto">
          <a:xfrm>
            <a:off x="685800" y="1524000"/>
            <a:ext cx="7924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>Advantages of FDM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Some </a:t>
            </a:r>
            <a:r>
              <a:rPr lang="en-ZW" dirty="0"/>
              <a:t>of the advantages of frequency division multiplexing are:</a:t>
            </a:r>
            <a:endParaRPr lang="en-US" dirty="0"/>
          </a:p>
          <a:p>
            <a:pPr lvl="0"/>
            <a:r>
              <a:rPr lang="en-ZW" dirty="0"/>
              <a:t>Users can send data simultaneously, so there is low latency</a:t>
            </a:r>
            <a:endParaRPr lang="en-US" dirty="0"/>
          </a:p>
          <a:p>
            <a:pPr lvl="0"/>
            <a:r>
              <a:rPr lang="en-ZW" dirty="0"/>
              <a:t>No dynamic coordination is needed</a:t>
            </a:r>
            <a:endParaRPr lang="en-US" dirty="0"/>
          </a:p>
          <a:p>
            <a:pPr lvl="0"/>
            <a:r>
              <a:rPr lang="en-ZW" dirty="0"/>
              <a:t>There is less noise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>Disadvantages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ZW" dirty="0" smtClean="0"/>
              <a:t>Some </a:t>
            </a:r>
            <a:r>
              <a:rPr lang="en-ZW" dirty="0"/>
              <a:t>of the disadvantages are:</a:t>
            </a:r>
            <a:endParaRPr lang="en-US" dirty="0"/>
          </a:p>
          <a:p>
            <a:pPr lvl="0"/>
            <a:r>
              <a:rPr lang="en-ZW" dirty="0"/>
              <a:t>FDM increases frequency bandwidth and frequency is a scarce resource</a:t>
            </a:r>
            <a:endParaRPr lang="en-US" dirty="0"/>
          </a:p>
          <a:p>
            <a:pPr lvl="0"/>
            <a:r>
              <a:rPr lang="en-ZW" dirty="0"/>
              <a:t>Separate frequency for each possible communication scenario is a waste of frequency resources</a:t>
            </a:r>
            <a:endParaRPr lang="en-US" dirty="0"/>
          </a:p>
          <a:p>
            <a:pPr lvl="0"/>
            <a:r>
              <a:rPr lang="en-ZW" dirty="0"/>
              <a:t>FDM is not flexible, at times one channel can be idle for long periods whilst the other is busy</a:t>
            </a:r>
            <a:endParaRPr lang="en-US" dirty="0"/>
          </a:p>
          <a:p>
            <a:pPr lvl="0"/>
            <a:r>
              <a:rPr lang="en-ZW" dirty="0"/>
              <a:t>When FDM is used there channel under utilisation, for example if applied to mobile communication, a call only takes a few minutes but for radio broadcasts that lasts 24 hours it is idle.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Time Division Multiplexing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TDM divides and allocates time slots to each channel in an alternating manner. </a:t>
            </a:r>
            <a:endParaRPr lang="en-ZW" dirty="0" smtClean="0"/>
          </a:p>
          <a:p>
            <a:r>
              <a:rPr lang="en-ZW" dirty="0" smtClean="0"/>
              <a:t>It </a:t>
            </a:r>
            <a:r>
              <a:rPr lang="en-ZW" dirty="0"/>
              <a:t>combines several low fixed and predefined bit rate sources into a single high speed bit stream for transmission over a single digital communication channel. There are two types of TDM:</a:t>
            </a:r>
            <a:endParaRPr lang="en-US" dirty="0"/>
          </a:p>
          <a:p>
            <a:pPr lvl="0"/>
            <a:r>
              <a:rPr lang="en-ZW" dirty="0"/>
              <a:t>Synchronous TDM</a:t>
            </a:r>
            <a:endParaRPr lang="en-US" dirty="0"/>
          </a:p>
          <a:p>
            <a:pPr lvl="0"/>
            <a:r>
              <a:rPr lang="en-ZW" dirty="0"/>
              <a:t>Asynchronous TDM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W" dirty="0"/>
              <a:t>Synchronous TDM allocates dedicated time slices to terminals. </a:t>
            </a:r>
            <a:endParaRPr lang="en-ZW" dirty="0" smtClean="0"/>
          </a:p>
          <a:p>
            <a:r>
              <a:rPr lang="en-ZW" dirty="0" smtClean="0"/>
              <a:t>So </a:t>
            </a:r>
            <a:r>
              <a:rPr lang="en-ZW" dirty="0"/>
              <a:t>it periodically generates a frame that consists of a constant number of time slots with each slot having a constant length. </a:t>
            </a:r>
            <a:endParaRPr lang="en-ZW" dirty="0" smtClean="0"/>
          </a:p>
          <a:p>
            <a:r>
              <a:rPr lang="en-ZW" dirty="0" smtClean="0"/>
              <a:t>A </a:t>
            </a:r>
            <a:r>
              <a:rPr lang="en-ZW" dirty="0"/>
              <a:t>flag is used for frame synchronization which is needed to differentiate one frame from the next. 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ZW" dirty="0"/>
              <a:t>Basic principle of TDM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1955" t="31363" r="20032" b="36134"/>
          <a:stretch>
            <a:fillRect/>
          </a:stretch>
        </p:blipFill>
        <p:spPr bwMode="auto">
          <a:xfrm>
            <a:off x="381000" y="11430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ZW" dirty="0" smtClean="0"/>
              <a:t>In synchronous TDM the time slots are dedicated, </a:t>
            </a:r>
            <a:r>
              <a:rPr lang="en-ZW" dirty="0" err="1" smtClean="0"/>
              <a:t>i.e.a</a:t>
            </a:r>
            <a:r>
              <a:rPr lang="en-ZW" dirty="0" smtClean="0"/>
              <a:t> terminal is allocated its time slot even though it has no data transmit. </a:t>
            </a:r>
          </a:p>
          <a:p>
            <a:pPr>
              <a:buFont typeface="Arial" pitchFamily="34" charset="0"/>
              <a:buChar char="•"/>
            </a:pPr>
            <a:r>
              <a:rPr lang="en-ZW" dirty="0" smtClean="0"/>
              <a:t> This means that in such a case where a terminal has no data to transmit its time slot is cannot be used by any other terminal that has data transmit.</a:t>
            </a:r>
          </a:p>
          <a:p>
            <a:pPr>
              <a:buFont typeface="Arial" pitchFamily="34" charset="0"/>
              <a:buChar char="•"/>
            </a:pPr>
            <a:r>
              <a:rPr lang="en-ZW" dirty="0" smtClean="0"/>
              <a:t> In the diagram there are three terminals (T1, T2, and T3).  So in this case each frame will have three time slots.</a:t>
            </a:r>
          </a:p>
          <a:p>
            <a:pPr>
              <a:buFont typeface="Arial" pitchFamily="34" charset="0"/>
              <a:buChar char="•"/>
            </a:pPr>
            <a:r>
              <a:rPr lang="en-ZW" dirty="0" smtClean="0"/>
              <a:t> In  frame-2, terminal T has no data to transmit and the time is goes unused.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 same applies to frame-3 where terminal T2 has no data to transmit.</a:t>
            </a:r>
          </a:p>
          <a:p>
            <a:pPr>
              <a:buNone/>
            </a:pPr>
            <a:r>
              <a:rPr lang="en-ZW" dirty="0" smtClean="0"/>
              <a:t>Consider the Synchronous TDM diagram showing terminals, ports and data flow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2115" t="32479" r="23878" b="25926"/>
          <a:stretch>
            <a:fillRect/>
          </a:stretch>
        </p:blipFill>
        <p:spPr bwMode="auto">
          <a:xfrm>
            <a:off x="838200" y="1905000"/>
            <a:ext cx="7086599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ZW" dirty="0" smtClean="0"/>
              <a:t>In the diagram above there are four channels and each is assigned a dedicated time slot, for example data of port 1 will be carried in time slot1 for A1 to A2 communication and data for of port 2 will be carried in time slot 2 for the B1 TO B2 communication and so on ( see diagram) 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>
                <a:latin typeface="Arial" pitchFamily="34" charset="0"/>
                <a:cs typeface="Arial" pitchFamily="34" charset="0"/>
              </a:rPr>
              <a:t>  </a:t>
            </a:r>
            <a:r>
              <a:rPr lang="en-ZW" sz="3200" dirty="0" smtClean="0">
                <a:latin typeface="Arial" pitchFamily="34" charset="0"/>
                <a:cs typeface="Arial" pitchFamily="34" charset="0"/>
              </a:rPr>
              <a:t>Diagram showing two frames consisting on constant number of time slots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/>
          <a:srcRect l="23077" t="34188" r="20833" b="46724"/>
          <a:stretch>
            <a:fillRect/>
          </a:stretch>
        </p:blipFill>
        <p:spPr bwMode="auto">
          <a:xfrm>
            <a:off x="457200" y="2590800"/>
            <a:ext cx="8229600" cy="266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ZW" dirty="0" smtClean="0"/>
              <a:t>:</a:t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 </a:t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 Logic circuit illustrating synchronous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img" descr="http://reviseomatic.org/help/2-multiplexing/Multiplex-TDM-Logic-4.gif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514600"/>
            <a:ext cx="77724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/>
            </a:r>
            <a:br>
              <a:rPr lang="en-ZW" b="1" dirty="0" smtClean="0"/>
            </a:br>
            <a:r>
              <a:rPr lang="en-ZW" b="1" dirty="0" smtClean="0"/>
              <a:t> Disadvantages of synchronous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ZW" dirty="0" smtClean="0"/>
              <a:t>The major disadvantages of synchronous TDM are:</a:t>
            </a:r>
            <a:endParaRPr lang="en-US" dirty="0" smtClean="0"/>
          </a:p>
          <a:p>
            <a:pPr lvl="0"/>
            <a:r>
              <a:rPr lang="en-ZW" dirty="0" smtClean="0"/>
              <a:t>There is no full channel capacity utilisation.</a:t>
            </a:r>
            <a:r>
              <a:rPr lang="en-US" dirty="0" smtClean="0"/>
              <a:t> </a:t>
            </a:r>
          </a:p>
          <a:p>
            <a:pPr lvl="0"/>
            <a:r>
              <a:rPr lang="en-US" dirty="0" smtClean="0"/>
              <a:t>Some of the slots go empty in certain frames as explained earlier (see figure below)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Synchronous TDM channel </a:t>
            </a:r>
            <a:r>
              <a:rPr lang="en-US" dirty="0" err="1" smtClean="0"/>
              <a:t>underutilisation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t="18234" r="46635" b="50997"/>
          <a:stretch>
            <a:fillRect/>
          </a:stretch>
        </p:blipFill>
        <p:spPr bwMode="auto">
          <a:xfrm>
            <a:off x="0" y="1981200"/>
            <a:ext cx="7696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ASYNCHRONOUS TIME DIVISION</a:t>
            </a:r>
            <a:r>
              <a:rPr lang="en-US" sz="3200" dirty="0" smtClean="0"/>
              <a:t> </a:t>
            </a:r>
            <a:r>
              <a:rPr lang="en-US" sz="3600" dirty="0" smtClean="0"/>
              <a:t>MULTIPLEXING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itchFamily="34" charset="0"/>
              <a:buChar char="•"/>
            </a:pPr>
            <a:r>
              <a:rPr lang="en-ZW" sz="3200" dirty="0" smtClean="0"/>
              <a:t>Asynchronous TDM is also called Statistical time division multiplexing (STDM). </a:t>
            </a:r>
          </a:p>
          <a:p>
            <a:pPr>
              <a:buFont typeface="Arial" pitchFamily="34" charset="0"/>
              <a:buChar char="•"/>
            </a:pPr>
            <a:r>
              <a:rPr lang="en-ZW" sz="3200" dirty="0" smtClean="0"/>
              <a:t>In this technique, the time slot is allocated dynamically. </a:t>
            </a:r>
          </a:p>
          <a:p>
            <a:pPr>
              <a:buFont typeface="Arial" pitchFamily="34" charset="0"/>
              <a:buChar char="•"/>
            </a:pPr>
            <a:r>
              <a:rPr lang="en-ZW" sz="3200" dirty="0" smtClean="0"/>
              <a:t>This means there are no dedicated time slots. </a:t>
            </a:r>
          </a:p>
          <a:p>
            <a:pPr>
              <a:buFont typeface="Arial" pitchFamily="34" charset="0"/>
              <a:buChar char="•"/>
            </a:pPr>
            <a:r>
              <a:rPr lang="en-ZW" sz="3200" dirty="0" smtClean="0"/>
              <a:t>A transmitting terminal’s time slot can be reallocated to another terminal (device), if the terminal in question has no data to transmit.</a:t>
            </a:r>
            <a:endParaRPr lang="en-US" sz="3200" dirty="0" smtClean="0"/>
          </a:p>
          <a:p>
            <a:pPr>
              <a:buFont typeface="Arial" pitchFamily="34" charset="0"/>
              <a:buChar char="•"/>
            </a:pP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In Asynchronous TDM, the numbers of time slots in a frame are not necessarily equal to the number of terminals/devices (see figure below)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Asynchronous TDM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5320" t="25641" r="20032" b="47578"/>
          <a:stretch>
            <a:fillRect/>
          </a:stretch>
        </p:blipFill>
        <p:spPr bwMode="auto">
          <a:xfrm>
            <a:off x="228600" y="1981200"/>
            <a:ext cx="7467599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ZW" sz="3200" dirty="0" smtClean="0">
                <a:latin typeface="+mj-lt"/>
              </a:rPr>
              <a:t>In  the above diagram there are four terminals or channels A1, B1, C1 and D1. </a:t>
            </a:r>
          </a:p>
          <a:p>
            <a:pPr>
              <a:buFont typeface="Arial" pitchFamily="34" charset="0"/>
              <a:buChar char="•"/>
            </a:pPr>
            <a:r>
              <a:rPr lang="en-ZW" sz="3200" dirty="0" smtClean="0">
                <a:latin typeface="+mj-lt"/>
              </a:rPr>
              <a:t>The number of time slots in the frame is three (3).</a:t>
            </a:r>
          </a:p>
          <a:p>
            <a:pPr>
              <a:buNone/>
            </a:pPr>
            <a:r>
              <a:rPr lang="en-ZW" sz="3200" dirty="0" smtClean="0"/>
              <a:t>In both </a:t>
            </a:r>
            <a:r>
              <a:rPr lang="en-ZW" sz="3200" dirty="0" err="1" smtClean="0"/>
              <a:t>TDMs</a:t>
            </a:r>
            <a:r>
              <a:rPr lang="en-ZW" sz="3200" dirty="0" smtClean="0"/>
              <a:t> the time slots have to be chosen properly. </a:t>
            </a:r>
          </a:p>
          <a:p>
            <a:pPr>
              <a:buFont typeface="Arial" pitchFamily="34" charset="0"/>
              <a:buChar char="•"/>
            </a:pPr>
            <a:r>
              <a:rPr lang="en-ZW" sz="3200" dirty="0" smtClean="0"/>
              <a:t>If the time slots are too small (for a example, a bit) then the multiplexer and </a:t>
            </a:r>
            <a:r>
              <a:rPr lang="en-ZW" sz="3200" dirty="0" err="1" smtClean="0"/>
              <a:t>demultiplexer</a:t>
            </a:r>
            <a:r>
              <a:rPr lang="en-ZW" sz="3200" dirty="0" smtClean="0"/>
              <a:t> must switch rapidly..</a:t>
            </a:r>
            <a:endParaRPr lang="en-US" sz="3200" dirty="0" smtClean="0"/>
          </a:p>
          <a:p>
            <a:pPr>
              <a:buNone/>
            </a:pPr>
            <a:endParaRPr lang="en-US" sz="3200" dirty="0" smtClean="0">
              <a:latin typeface="+mj-lt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ZW" sz="3200" dirty="0" smtClean="0">
                <a:latin typeface="+mj-lt"/>
              </a:rPr>
              <a:t>If the time slots are too large( for example 64 Kb) then the data must be stored in the buffer and delays would occur</a:t>
            </a:r>
          </a:p>
          <a:p>
            <a:pPr>
              <a:buNone/>
            </a:pPr>
            <a:r>
              <a:rPr lang="en-ZW" sz="3200" dirty="0" smtClean="0"/>
              <a:t>The T1 TDM system for the telephone networks use 193 bit frame where each frame is 24 8- bit slots and a 1-bit slot in each frame for signalling. The T1 bit rate </a:t>
            </a:r>
            <a:r>
              <a:rPr lang="en-ZW" sz="3200" dirty="0" err="1" smtClean="0"/>
              <a:t>r</a:t>
            </a:r>
            <a:r>
              <a:rPr lang="en-ZW" sz="3200" baseline="-25000" dirty="0" err="1" smtClean="0"/>
              <a:t>b</a:t>
            </a:r>
            <a:r>
              <a:rPr lang="en-ZW" sz="3200" baseline="-25000" dirty="0" smtClean="0"/>
              <a:t> </a:t>
            </a:r>
            <a:r>
              <a:rPr lang="en-ZW" sz="3200" dirty="0" smtClean="0"/>
              <a:t>= 1.544 Mb/sec</a:t>
            </a:r>
            <a:endParaRPr lang="en-US" sz="3200" dirty="0" smtClean="0"/>
          </a:p>
          <a:p>
            <a:pPr>
              <a:buNone/>
            </a:pPr>
            <a:endParaRPr lang="en-US" sz="3200" dirty="0">
              <a:latin typeface="+mj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0994" t="42735" r="23077" b="9117"/>
          <a:stretch>
            <a:fillRect/>
          </a:stretch>
        </p:blipFill>
        <p:spPr bwMode="auto">
          <a:xfrm>
            <a:off x="0" y="457200"/>
            <a:ext cx="91440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W" dirty="0" smtClean="0"/>
              <a:t>The duration for each frame </a:t>
            </a:r>
            <a:r>
              <a:rPr lang="en-ZW" dirty="0" err="1" smtClean="0"/>
              <a:t>Tƒ</a:t>
            </a:r>
            <a:r>
              <a:rPr lang="en-ZW" dirty="0" smtClean="0"/>
              <a:t> = 193b/1.544Mbs ≈125ϻsec or 8 samples/sec. In the above case all the data sources have the same data transfer rate.</a:t>
            </a:r>
            <a:endParaRPr lang="en-US" dirty="0" smtClean="0"/>
          </a:p>
          <a:p>
            <a:r>
              <a:rPr lang="en-ZW" dirty="0" smtClean="0"/>
              <a:t>If the data sources have different rates, then a multiplexer scheme must reconcile the disparate rates. Consider figure 59 below: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TDM data sources with different </a:t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/>
            </a:r>
            <a:br>
              <a:rPr lang="en-ZW" dirty="0" smtClean="0"/>
            </a:br>
            <a:r>
              <a:rPr lang="en-ZW" dirty="0" smtClean="0"/>
              <a:t> TDM data sources with different transfer rates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l="21474" t="39886" r="26442" b="38462"/>
          <a:stretch>
            <a:fillRect/>
          </a:stretch>
        </p:blipFill>
        <p:spPr bwMode="auto">
          <a:xfrm>
            <a:off x="304801" y="1676400"/>
            <a:ext cx="8839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256</TotalTime>
  <Words>1477</Words>
  <Application>Microsoft Office PowerPoint</Application>
  <PresentationFormat>On-screen Show (4:3)</PresentationFormat>
  <Paragraphs>144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Flow</vt:lpstr>
      <vt:lpstr>Lecture 9:Modem Hardware for Modulation and Demodulation</vt:lpstr>
      <vt:lpstr>PowerPoint Presentation</vt:lpstr>
      <vt:lpstr>Figure 45: Modem hardware for modulation and demodulation </vt:lpstr>
      <vt:lpstr>Operation</vt:lpstr>
      <vt:lpstr>Dialup Modem </vt:lpstr>
      <vt:lpstr> Conversion of digital to analog signals and vice versa using a dialup modem </vt:lpstr>
      <vt:lpstr>Operation of a dial up modem</vt:lpstr>
      <vt:lpstr> QAM application to dialup </vt:lpstr>
      <vt:lpstr>Voice and data bandwidth on a dialup telephone connection</vt:lpstr>
      <vt:lpstr>PowerPoint Presentation</vt:lpstr>
      <vt:lpstr>QAM V.32 constellation diagram.</vt:lpstr>
      <vt:lpstr>PowerPoint Presentation</vt:lpstr>
      <vt:lpstr>MULTIPLEXING</vt:lpstr>
      <vt:lpstr>PowerPoint Presentation</vt:lpstr>
      <vt:lpstr>Frequency Division Multiplexing</vt:lpstr>
      <vt:lpstr>PowerPoint Presentation</vt:lpstr>
      <vt:lpstr>PowerPoint Presentation</vt:lpstr>
      <vt:lpstr> Explanation of the diagram </vt:lpstr>
      <vt:lpstr>   Basic concept of frequency division multiplexing.   </vt:lpstr>
      <vt:lpstr>Advantages of FDM </vt:lpstr>
      <vt:lpstr> Disadvantages </vt:lpstr>
      <vt:lpstr>Time Division Multiplexing</vt:lpstr>
      <vt:lpstr>PowerPoint Presentation</vt:lpstr>
      <vt:lpstr>Basic principle of TDM diagram</vt:lpstr>
      <vt:lpstr>PowerPoint Presentation</vt:lpstr>
      <vt:lpstr>PowerPoint Presentation</vt:lpstr>
      <vt:lpstr>PowerPoint Presentation</vt:lpstr>
      <vt:lpstr>PowerPoint Presentation</vt:lpstr>
      <vt:lpstr>            Diagram showing two frames consisting on constant number of time slots</vt:lpstr>
      <vt:lpstr> :             Logic circuit illustrating synchronous TDM</vt:lpstr>
      <vt:lpstr>                   Disadvantages of synchronous TDM</vt:lpstr>
      <vt:lpstr>Synchronous TDM channel underutilisation</vt:lpstr>
      <vt:lpstr> ASYNCHRONOUS TIME DIVISION MULTIPLEXING</vt:lpstr>
      <vt:lpstr>PowerPoint Presentation</vt:lpstr>
      <vt:lpstr>  Asynchronous TDM</vt:lpstr>
      <vt:lpstr>PowerPoint Presentation</vt:lpstr>
      <vt:lpstr>PowerPoint Presentation</vt:lpstr>
      <vt:lpstr>PowerPoint Presentation</vt:lpstr>
      <vt:lpstr>PowerPoint Presentation</vt:lpstr>
      <vt:lpstr> TDM data sources with different          TDM data sources with different transfer rates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9:Modem Hardware for Modulation and Demodulation</dc:title>
  <dc:creator>langstone.shumba</dc:creator>
  <cp:lastModifiedBy>Langtone Shumba</cp:lastModifiedBy>
  <cp:revision>6</cp:revision>
  <dcterms:created xsi:type="dcterms:W3CDTF">2017-10-10T07:23:23Z</dcterms:created>
  <dcterms:modified xsi:type="dcterms:W3CDTF">2020-04-15T13:08:46Z</dcterms:modified>
</cp:coreProperties>
</file>