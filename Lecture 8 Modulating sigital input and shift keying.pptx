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E1528D5-958A-4126-9682-32E6FDC911D4}" type="datetimeFigureOut">
              <a:rPr lang="en-US" smtClean="0"/>
              <a:t>4/15/2020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C6BA49-D55F-450D-A88A-96A4A7DCA8C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8: Modulating Digital Input and Shift Keying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b="1" dirty="0" smtClean="0"/>
              <a:t>Introduction</a:t>
            </a:r>
            <a:endParaRPr lang="en-US" b="1" dirty="0" smtClean="0"/>
          </a:p>
          <a:p>
            <a:r>
              <a:rPr lang="en-ZW" dirty="0" smtClean="0"/>
              <a:t>Modulation of a digital signal is the process of converting data signals or low-pass </a:t>
            </a:r>
            <a:r>
              <a:rPr lang="en-ZW" dirty="0" err="1" smtClean="0"/>
              <a:t>analog</a:t>
            </a:r>
            <a:r>
              <a:rPr lang="en-ZW" dirty="0" smtClean="0"/>
              <a:t> signals to higher frequency signals. (See figure 37 below):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img" descr="https://www.technologyuk.net/telecommunications/telecom-principles/images/am_on_off_keying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733800"/>
            <a:ext cx="45720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Digital to </a:t>
            </a:r>
            <a:r>
              <a:rPr lang="en-ZW" dirty="0" err="1" smtClean="0"/>
              <a:t>analog</a:t>
            </a:r>
            <a:r>
              <a:rPr lang="en-ZW" dirty="0" smtClean="0"/>
              <a:t> modulation is used in the transmission of data over the telephone line. There are three basic techniques used for the transmission of data over the telephone systems:</a:t>
            </a:r>
            <a:endParaRPr lang="en-US" dirty="0" smtClean="0"/>
          </a:p>
          <a:p>
            <a:pPr lvl="0"/>
            <a:r>
              <a:rPr lang="en-ZW" dirty="0" smtClean="0"/>
              <a:t>Amplitude shift keying (ASK)</a:t>
            </a:r>
            <a:endParaRPr lang="en-US" dirty="0" smtClean="0"/>
          </a:p>
          <a:p>
            <a:pPr lvl="0"/>
            <a:r>
              <a:rPr lang="en-ZW" dirty="0" smtClean="0"/>
              <a:t>Frequency shift keying (FSK)</a:t>
            </a:r>
            <a:endParaRPr lang="en-US" dirty="0" smtClean="0"/>
          </a:p>
          <a:p>
            <a:pPr lvl="0"/>
            <a:r>
              <a:rPr lang="en-ZW" dirty="0" smtClean="0"/>
              <a:t>Phase shift keying(PSK)</a:t>
            </a:r>
            <a:endParaRPr lang="en-US" dirty="0" smtClean="0"/>
          </a:p>
          <a:p>
            <a:pPr lvl="0"/>
            <a:r>
              <a:rPr lang="en-ZW" dirty="0" err="1" smtClean="0"/>
              <a:t>Quadrature</a:t>
            </a:r>
            <a:r>
              <a:rPr lang="en-ZW" dirty="0" smtClean="0"/>
              <a:t> amplitude modulation (QAM)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4" name="img" descr="http://slideplayer.com/4712204/15/images/10/Types+of+digital-to-analog+conversion.jpg"/>
          <p:cNvPicPr/>
          <p:nvPr/>
        </p:nvPicPr>
        <p:blipFill>
          <a:blip r:embed="rId2" cstate="print"/>
          <a:srcRect t="17308" r="2083" b="19444"/>
          <a:stretch>
            <a:fillRect/>
          </a:stretch>
        </p:blipFill>
        <p:spPr bwMode="auto">
          <a:xfrm>
            <a:off x="838200" y="1828800"/>
            <a:ext cx="746759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</a:t>
            </a:r>
            <a:r>
              <a:rPr lang="en-ZW" b="1" dirty="0" smtClean="0"/>
              <a:t>Amplitude Shift Keying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The carrier signal is varied to represent binary 1 or 0 depending on the modulating signal (the information being transmitted).</a:t>
            </a:r>
          </a:p>
          <a:p>
            <a:r>
              <a:rPr lang="en-ZW" dirty="0" smtClean="0"/>
              <a:t> Both the frequency and the phase of the carrier signal remain constant while the amplitude changes. In most cases one of the amplitudes is a zero (0). </a:t>
            </a:r>
            <a:endParaRPr lang="en-US" dirty="0" smtClean="0"/>
          </a:p>
          <a:p>
            <a:pPr>
              <a:buNone/>
            </a:pPr>
            <a:endParaRPr lang="en-ZW" dirty="0" smtClean="0"/>
          </a:p>
          <a:p>
            <a:pPr>
              <a:buNone/>
            </a:pPr>
            <a:r>
              <a:rPr lang="en-ZW" dirty="0" smtClean="0"/>
              <a:t>  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2092" t="33452" r="42308" b="54085"/>
          <a:stretch>
            <a:fillRect/>
          </a:stretch>
        </p:blipFill>
        <p:spPr bwMode="auto">
          <a:xfrm>
            <a:off x="838200" y="4648200"/>
            <a:ext cx="6096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Amplitude Shift Keying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</a:t>
            </a:r>
          </a:p>
        </p:txBody>
      </p:sp>
      <p:pic>
        <p:nvPicPr>
          <p:cNvPr id="4" name="img" descr="https://image.slidesharecdn.com/digitalmodulationbasicsnnm-150827084757-lva1-app6892/95/digital-modulation-basicsnnm-15-638.jpg?cb=1479819103"/>
          <p:cNvPicPr/>
          <p:nvPr/>
        </p:nvPicPr>
        <p:blipFill>
          <a:blip r:embed="rId2" cstate="print"/>
          <a:srcRect t="30199" b="-9402"/>
          <a:stretch>
            <a:fillRect/>
          </a:stretch>
        </p:blipFill>
        <p:spPr bwMode="auto">
          <a:xfrm>
            <a:off x="228600" y="1905000"/>
            <a:ext cx="7924799" cy="441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During the demodulation process only the presence or absence of a sinusoid in a given time interval needs to be determined.</a:t>
            </a:r>
            <a:endParaRPr lang="en-US" dirty="0" smtClean="0"/>
          </a:p>
          <a:p>
            <a:pPr>
              <a:buNone/>
            </a:pPr>
            <a:r>
              <a:rPr lang="en-ZW" b="1" dirty="0" smtClean="0"/>
              <a:t> Advantages and disadvantages</a:t>
            </a:r>
            <a:endParaRPr lang="en-US" b="1" dirty="0" smtClean="0"/>
          </a:p>
          <a:p>
            <a:r>
              <a:rPr lang="en-ZW" dirty="0" smtClean="0"/>
              <a:t>The major advantage of amplitude frequency shift keying is its simplicity. </a:t>
            </a:r>
            <a:endParaRPr lang="en-US" dirty="0" smtClean="0"/>
          </a:p>
          <a:p>
            <a:r>
              <a:rPr lang="en-ZW" smtClean="0"/>
              <a:t>The disadvantages </a:t>
            </a:r>
            <a:r>
              <a:rPr lang="en-ZW" dirty="0" smtClean="0"/>
              <a:t>include: susceptibility to noise interferences. Noise usually affects the amplitude, so ASK is the modulation techniques most affected by the noise.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Frequency Shift Keying (FSK)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In FSK technique, the frequency of the carrier signal is varied to represent a binary 1 or 0. The peak amplitude and the phase remain constant during each bit interval.</a:t>
            </a:r>
            <a:endParaRPr lang="en-US" dirty="0" smtClean="0"/>
          </a:p>
          <a:p>
            <a:pPr>
              <a:buNone/>
            </a:pPr>
            <a:r>
              <a:rPr lang="en-ZW" dirty="0" smtClean="0"/>
              <a:t>			</a:t>
            </a:r>
          </a:p>
          <a:p>
            <a:pPr>
              <a:buNone/>
            </a:pPr>
            <a:endParaRPr lang="en-ZW" dirty="0" smtClean="0"/>
          </a:p>
          <a:p>
            <a:pPr>
              <a:buNone/>
            </a:pPr>
            <a:r>
              <a:rPr lang="en-ZW" dirty="0" smtClean="0"/>
              <a:t>			 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Frequency Shift Keying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4" name="img" descr="http://www.technologyuk.net/telecommunications/telecom_principles/images/bfsk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514600"/>
            <a:ext cx="5791200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ZW" dirty="0" smtClean="0"/>
              <a:t>In the FSK technique, the modulator should be able to determine which of he two possible frequencies is present at a given period</a:t>
            </a:r>
            <a:endParaRPr lang="en-US" dirty="0" smtClean="0"/>
          </a:p>
          <a:p>
            <a:pPr>
              <a:buNone/>
            </a:pPr>
            <a:r>
              <a:rPr lang="en-ZW" b="1" dirty="0" smtClean="0"/>
              <a:t>Advantage</a:t>
            </a:r>
            <a:endParaRPr lang="en-US" dirty="0" smtClean="0"/>
          </a:p>
          <a:p>
            <a:r>
              <a:rPr lang="en-ZW" dirty="0" smtClean="0"/>
              <a:t>The FSK technique is less susceptible to errors than the ASK. The receiver looks for specific frequency changes over a number of intervals, so voltage (noise) spikes can be ignored.</a:t>
            </a:r>
            <a:endParaRPr lang="en-US" dirty="0" smtClean="0"/>
          </a:p>
          <a:p>
            <a:pPr>
              <a:buNone/>
            </a:pPr>
            <a:r>
              <a:rPr lang="en-ZW" b="1" dirty="0" smtClean="0"/>
              <a:t>Disadvantage</a:t>
            </a:r>
            <a:endParaRPr lang="en-US" dirty="0" smtClean="0"/>
          </a:p>
          <a:p>
            <a:r>
              <a:rPr lang="en-ZW" dirty="0" smtClean="0"/>
              <a:t>The FSK spectrum is twice the ASK spectrum i.e. 2 x ASK spectrum.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 </a:t>
            </a:r>
            <a:r>
              <a:rPr lang="en-ZW" b="1" dirty="0" smtClean="0"/>
              <a:t>Phase Shift Keying (PSK)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ZW" dirty="0" smtClean="0"/>
              <a:t>Here the phase of the carrier signal is varied to represent a binary 1 or a binary 0. 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The peak amplitude and frequency remain constant during each bit interval, for example binary 0 = Oº, binary 1 = 180º.  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The phase shift technique is equivalent to multiplying a carrier signal by +1 when information is a binary 1 and by a -1 when information is 0.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Phase Shift Keying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img" descr="https://tse3.mm.bing.net/th?id=OIP.8yiBv5f6h5V6JKoXQkszUgEsCb&amp;pid=15.1&amp;P=0&amp;w=304&amp;h=158"/>
          <p:cNvPicPr/>
          <p:nvPr/>
        </p:nvPicPr>
        <p:blipFill>
          <a:blip r:embed="rId2" cstate="print"/>
          <a:srcRect b="19745"/>
          <a:stretch>
            <a:fillRect/>
          </a:stretch>
        </p:blipFill>
        <p:spPr bwMode="auto">
          <a:xfrm>
            <a:off x="685800" y="2133600"/>
            <a:ext cx="7239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The modulator must determine the phase of the received sinusoid with respect to some reference phase.</a:t>
            </a:r>
            <a:endParaRPr lang="en-US" dirty="0" smtClean="0"/>
          </a:p>
          <a:p>
            <a:r>
              <a:rPr lang="en-ZW" dirty="0" smtClean="0"/>
              <a:t>PSK is less susceptible to errors than ASK and it occupies the same bandwidth as ASK. It has more efficient use of the bandwidth (higher data rates) compared to FSK</a:t>
            </a:r>
            <a:endParaRPr lang="en-US" dirty="0" smtClean="0"/>
          </a:p>
          <a:p>
            <a:r>
              <a:rPr lang="en-ZW" dirty="0" smtClean="0"/>
              <a:t>The disadvantage is that is has more complex signal detection/recovery process than both ASK and FSK.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 </a:t>
            </a:r>
            <a:r>
              <a:rPr lang="en-ZW" b="1" dirty="0" err="1" smtClean="0"/>
              <a:t>Quadrature</a:t>
            </a:r>
            <a:r>
              <a:rPr lang="en-ZW" b="1" dirty="0" smtClean="0"/>
              <a:t> Phase Shift Keying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 smtClean="0"/>
              <a:t>This technique is a combination </a:t>
            </a:r>
            <a:r>
              <a:rPr lang="en-ZW" smtClean="0"/>
              <a:t>of ASK </a:t>
            </a:r>
            <a:r>
              <a:rPr lang="en-ZW" dirty="0" smtClean="0"/>
              <a:t>and PSK and PSK uses phase shifts of 90º (π/2) radian, to produce four different signals that are generated each representing 2 bits. For example:</a:t>
            </a:r>
            <a:endParaRPr lang="en-US" dirty="0" smtClean="0"/>
          </a:p>
          <a:p>
            <a:r>
              <a:rPr lang="en-ZW" dirty="0" err="1" smtClean="0"/>
              <a:t>Acos</a:t>
            </a:r>
            <a:r>
              <a:rPr lang="en-ZW" dirty="0" smtClean="0"/>
              <a:t> (2πfct) binary 00</a:t>
            </a:r>
            <a:endParaRPr lang="en-US" dirty="0" smtClean="0"/>
          </a:p>
          <a:p>
            <a:r>
              <a:rPr lang="en-ZW" dirty="0" smtClean="0"/>
              <a:t>A </a:t>
            </a:r>
            <a:r>
              <a:rPr lang="en-ZW" dirty="0" err="1" smtClean="0"/>
              <a:t>cos</a:t>
            </a:r>
            <a:r>
              <a:rPr lang="en-ZW" dirty="0" smtClean="0"/>
              <a:t> (2π (2πfct+π/2) binary 01</a:t>
            </a:r>
            <a:endParaRPr lang="en-US" dirty="0" smtClean="0"/>
          </a:p>
          <a:p>
            <a:r>
              <a:rPr lang="en-ZW" dirty="0" smtClean="0"/>
              <a:t>A </a:t>
            </a:r>
            <a:r>
              <a:rPr lang="en-ZW" dirty="0" err="1" smtClean="0"/>
              <a:t>cos</a:t>
            </a:r>
            <a:r>
              <a:rPr lang="en-ZW" dirty="0" smtClean="0"/>
              <a:t> (2πfct + </a:t>
            </a:r>
            <a:r>
              <a:rPr lang="el-GR" dirty="0" smtClean="0"/>
              <a:t>π</a:t>
            </a:r>
            <a:r>
              <a:rPr lang="en-ZW" dirty="0" smtClean="0"/>
              <a:t>) binary 10</a:t>
            </a:r>
            <a:endParaRPr lang="en-US" dirty="0" smtClean="0"/>
          </a:p>
          <a:p>
            <a:r>
              <a:rPr lang="en-ZW" dirty="0" err="1" smtClean="0"/>
              <a:t>Acos</a:t>
            </a:r>
            <a:r>
              <a:rPr lang="en-ZW" dirty="0" smtClean="0"/>
              <a:t> (2πfct + 3π/2), 11</a:t>
            </a:r>
            <a:endParaRPr lang="en-US" dirty="0" smtClean="0"/>
          </a:p>
          <a:p>
            <a:endParaRPr lang="en-ZW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		</a:t>
            </a:r>
            <a:r>
              <a:rPr lang="en-US" dirty="0" err="1" smtClean="0"/>
              <a:t>Dibit</a:t>
            </a:r>
            <a:r>
              <a:rPr lang="en-US" dirty="0" smtClean="0"/>
              <a:t>		Phase</a:t>
            </a:r>
          </a:p>
          <a:p>
            <a:pPr>
              <a:buNone/>
            </a:pPr>
            <a:r>
              <a:rPr lang="en-US" dirty="0" smtClean="0"/>
              <a:t>		  00		0°</a:t>
            </a:r>
          </a:p>
          <a:p>
            <a:pPr>
              <a:buNone/>
            </a:pPr>
            <a:r>
              <a:rPr lang="en-US" dirty="0" smtClean="0"/>
              <a:t>		  01		90°</a:t>
            </a:r>
          </a:p>
          <a:p>
            <a:pPr>
              <a:buNone/>
            </a:pPr>
            <a:r>
              <a:rPr lang="en-US" dirty="0" smtClean="0"/>
              <a:t>		  10		180°</a:t>
            </a:r>
          </a:p>
          <a:p>
            <a:pPr>
              <a:buNone/>
            </a:pPr>
            <a:r>
              <a:rPr lang="en-US" dirty="0" smtClean="0"/>
              <a:t>		  1 1		270°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ZW" dirty="0" smtClean="0"/>
              <a:t>These phase shifts can also be represented by a constellation diagram.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A constellation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40545" t="21367" r="38622" b="41596"/>
          <a:stretch>
            <a:fillRect/>
          </a:stretch>
        </p:blipFill>
        <p:spPr bwMode="auto">
          <a:xfrm>
            <a:off x="1143000" y="1981200"/>
            <a:ext cx="4953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ZW" dirty="0" smtClean="0"/>
              <a:t> Bit sequences, amplitudes and phases for 8 QAM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1267" t="28826" r="27258" b="33800"/>
          <a:stretch>
            <a:fillRect/>
          </a:stretch>
        </p:blipFill>
        <p:spPr bwMode="auto">
          <a:xfrm>
            <a:off x="0" y="1981200"/>
            <a:ext cx="7772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img" descr="http://deptinfo.cnam.fr/Enseignement/Memoires/LUSTEAU.Franck/images/Image13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362200"/>
            <a:ext cx="5181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85</TotalTime>
  <Words>568</Words>
  <Application>Microsoft Office PowerPoint</Application>
  <PresentationFormat>On-screen Show (4:3)</PresentationFormat>
  <Paragraphs>87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Lecture 8: Modulating Digital Input and Shift Keying</vt:lpstr>
      <vt:lpstr>PowerPoint Presentation</vt:lpstr>
      <vt:lpstr>PowerPoint Presentation</vt:lpstr>
      <vt:lpstr>   Amplitude Shift Keying </vt:lpstr>
      <vt:lpstr>  Amplitude Shift Keying</vt:lpstr>
      <vt:lpstr>PowerPoint Presentation</vt:lpstr>
      <vt:lpstr>  Frequency Shift Keying (FSK)</vt:lpstr>
      <vt:lpstr>  Frequency Shift Keying</vt:lpstr>
      <vt:lpstr>PowerPoint Presentation</vt:lpstr>
      <vt:lpstr>   Phase Shift Keying (PSK) </vt:lpstr>
      <vt:lpstr>  Phase Shift Keying</vt:lpstr>
      <vt:lpstr>PowerPoint Presentation</vt:lpstr>
      <vt:lpstr>  Quadrature Phase Shift Keying </vt:lpstr>
      <vt:lpstr>PowerPoint Presentation</vt:lpstr>
      <vt:lpstr> A constellation diagram</vt:lpstr>
      <vt:lpstr>             Bit sequences, amplitudes and phases for 8 QAM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8: Modulating Digital Input and Shift Keying</dc:title>
  <dc:creator>langstone.shumba</dc:creator>
  <cp:lastModifiedBy>Langtone Shumba</cp:lastModifiedBy>
  <cp:revision>6</cp:revision>
  <dcterms:created xsi:type="dcterms:W3CDTF">2017-09-24T09:54:23Z</dcterms:created>
  <dcterms:modified xsi:type="dcterms:W3CDTF">2020-04-15T13:06:59Z</dcterms:modified>
</cp:coreProperties>
</file>